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idhaarth · opening" id="{68d83e43-dc2a-73a5-93a4-eb02312f8ce9}">
          <p14:sldIdLst>
            <p14:sldId id="256"/>
          </p14:sldIdLst>
        </p14:section>
        <p14:section name="Jashan · core tables and splits" id="{63827203-1890-2f31-8dfe-ffe758b1546e}">
          <p14:sldIdLst>
            <p14:sldId id="257"/>
            <p14:sldId id="258"/>
          </p14:sldIdLst>
        </p14:section>
        <p14:section name="Sahilpreet · external and synthetic data" id="{ce6aa507-9a45-03a1-18ca-09abff5029ba}">
          <p14:sldIdLst>
            <p14:sldId id="259"/>
            <p14:sldId id="260"/>
          </p14:sldIdLst>
        </p14:section>
        <p14:section name="Aaradhya · detectors and baselines" id="{7a74d2c5-137d-bf91-e62f-89391ee2c8ad}">
          <p14:sldIdLst>
            <p14:sldId id="261"/>
            <p14:sldId id="262"/>
          </p14:sldIdLst>
        </p14:section>
        <p14:section name="Sidhaarth · dataset and plan" id="{f4c3e154-eb65-fbf8-66fd-03b16d76fed8}">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Errors used</c:v>
                </c:pt>
              </c:strCache>
            </c:strRef>
          </c:tx>
          <c:spPr>
            <a:solidFill>
              <a:schemeClr val="accent3"/>
            </a:solidFill>
            <a:effectLst/>
          </c:spPr>
          <c:invertIfNegative val="0"/>
          <c:dLbls>
            <c:numFmt formatCode="#,##0" sourceLinked="0"/>
            <c:txPr>
              <a:bodyPr/>
              <a:lstStyle/>
              <a:p>
                <a:pPr>
                  <a:defRPr b="0" i="0" strike="noStrike" sz="1050" u="none">
                    <a:solidFill>
                      <a:schemeClr val="tx1"/>
                    </a:solidFill>
                    <a:latin typeface="+mn-lt"/>
                  </a:defRPr>
                </a:pPr>
              </a:p>
            </c:txPr>
            <c:showLegendKey val="0"/>
            <c:showVal val="1"/>
            <c:showCatName val="0"/>
            <c:showSerName val="0"/>
            <c:showPercent val="0"/>
            <c:showBubbleSize val="0"/>
            <c:showLeaderLines val="0"/>
          </c:dLbls>
          <c:cat>
            <c:multiLvlStrRef>
              <c:f>Sheet1!$A$2:$A$5</c:f>
              <c:multiLvlStrCache>
                <c:ptCount val="4"/>
                <c:lvl>
                  <c:pt idx="0">
                    <c:v>Missing</c:v>
                  </c:pt>
                  <c:pt idx="1">
                    <c:v>Pattern</c:v>
                  </c:pt>
                  <c:pt idx="2">
                    <c:v>Rule</c:v>
                  </c:pt>
                  <c:pt idx="3">
                    <c:v>Outlier</c:v>
                  </c:pt>
                </c:lvl>
              </c:multiLvlStrCache>
            </c:multiLvlStrRef>
          </c:cat>
          <c:val>
            <c:numRef>
              <c:f>Sheet1!$B$2:$B$5</c:f>
              <c:numCache>
                <c:formatCode>General</c:formatCode>
                <c:ptCount val="4"/>
                <c:pt idx="0">
                  <c:v>1101</c:v>
                </c:pt>
                <c:pt idx="1">
                  <c:v>1377</c:v>
                </c:pt>
                <c:pt idx="2">
                  <c:v>1377</c:v>
                </c:pt>
                <c:pt idx="3">
                  <c:v>1652</c:v>
                </c:pt>
              </c:numCache>
            </c:numRef>
          </c:val>
        </c:ser>
        <c:dLbls>
          <c:numFmt formatCode="#,##0" sourceLinked="0"/>
          <c:txPr>
            <a:bodyPr/>
            <a:lstStyle/>
            <a:p>
              <a:pPr>
                <a:defRPr b="0" i="0" strike="noStrike" sz="1050" u="none">
                  <a:solidFill>
                    <a:schemeClr val="tx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max val="2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Sidhaarth. In Milestone 1 we defined the problem and checked the data. In this milestone we turned the data into something a model can be trained on. Five core benchmark tables, three external training tables and five synthetic tables become 73,979 question-and-answer examples. They are split without leakage, a check of 29 conditions passes, and one command rebuilds everything from the public sources, so another team could start training immediately. Each of us presents our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Jashan. Good morning everyone. In Milestone 2, my primary task was transforming the five core Raha benchmark tables into fully reproducible, leakage-free data splits for our LLM pipeline.
First, the numbers on this slide: across Hospital, Flights, Beers, Rayyan, and Movies, we audit 14,176 rows and 193,986 cells. Using our load_core.py script, we verified the exact SHA-256 checksums of every clean and dirty file against the pinned Raha repository commit 7be1334b8c. Applying the strict Raha comparison rule, we conserve exactly 18,414 error cells, matching our M1 audit down to the single cell.
Three critical data quality findings shaped our ingestion design:
1. In TableEG's packaged release, preprocessing bugs caused severe data loss: 1,005 real missing-value errors in Beers were deleted when 'N/A' was blanked out, and 668 errors in Movies were lost due to float truncation on RatingValue. We bypassed TableEG's corrupted copies and restored the canonical Raha originals, recovering 100% of these errors.
2. On the clean side, our audit confirmed significant missing ground truth: Beers has 1,072 missing clean cells, Movies has 2,680, and Rayyan has 1,609. We report these gaps transparently and do not impute fake ground truth. Cells are labelled by the Raha rule, and the gaps limit what repair accuracy means on those three tables.
3. Header casing mismatches, such as Hospital's 19 PascalCase versus snake_case headers, are resolved by positional column alignment, discarding metadata columns like tuple_id and index.
All cell-level ground-truth records are generated dynamically by src/data/load_core.py with zero hard-coding.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Jashan. Now: how did we split the data, and how do we prove zero data leakage?
Under Decision D1, we target a 70% Train, 15% Validation, and 15% Test split with fixed seed 42. But applying uniform random row sampling to relational data is a critical flaw. In Hospital, 99.9% of rows share a provider ID with other rows, meaning multiple clinical quality measures belong to the same hospital. In Flights, 100% of rows share a flight key across different days. In Beers, 94.7% of rows share a brewery ID. If you split by row, the model memorizes provider-specific phone numbers or brewery locations during training and trivially guesses them at test time.
That is why in Decision D2, we implemented group-aware splitting: we partition the dataset strictly by entity key, read from the clean table (a dirty key has typos: Hospital's dirty provider number showed 72 values for 45 real hospitals, and an earlier split on it leaked 12 hospitals; our leakage check caught this). All rows belonging to a given hospital provider, flight route, or brewery are assigned to the exact same partition.
As shown in the centre table, our best-fit group splitter achieves almost exact 70/15/15 row balances: Hospital is 68.8/15.3/15.9, Flights is 69.5/15.2/15.4, Beers is 70.0/15.1/15.0, Rayyan is 70/15/15, and Movies is 70/15/15.
Most importantly, look at the verification checks on the right:
1. Error conservation is exact: adding train, validation, and test errors yields 509 for Hospital, 4,920 for Flights, 4,362 for Beers, 948 for Rayyan, and 7,675 for Movies, totalling exactly 18,414 errors.
2. Row overlap is exactly zero, and entity overlap is exactly zero across all splits for all five tables.
3. The error rate per split remains stable and representative of the underlying domain.
When Sidhaarth builds the fine-tuning training examples and Aaradhya exports the baseline inputs, they are completely shielded from test leakage.
Thank you, and I welcome any questions on our data loader or splitting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Sahilpreet. We added five external tables to the five core ones. Three are for training and two are for testing on tables the model never sees. Every file is downloaded from its owner at a fixed version and its checksum is verified, so anyone can rebuild our data. Tax looks big, but almost all of its changes are the same number written differently, so only about three hundred of its error cells in our sample are true errors and it stays a small part of training. Licences differ. The Raha tables are Apache, the address data from OpenStreetMap is share-alike and needs attribution, and two research repositories carry no licence file of their own, so we rely on the terms of the benchmarks they bundle; the team reviewed this and approved research use and sharing with attribution. Some tables contain names, so no raw data goes into the repository and none of those rows is in the public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Sahilpreet. The five core tables contain no outlier errors at all, and few rule violations, so a model trained only on them would never learn those types. We create them on clean tables from the UCI repository, with four recipes, one per error type. The rule recipe is not hand-coded: we search the clean table for dependencies, such as education determining the education number, and break them. We cap the synthetic examples at twenty percent of the training set and tag every one, so we can remove them to measure their effect. The recipes are simple and easier than real errors, which is why the real test of the idea is on the unseen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Aaradhya. We tested two standard outlier detectors on every numeric measure column of the training tables. They find almost nothing, and the reason is in the data, not the detectors: the errors in these columns are formatting problems and placeholders, not extreme numbers. The only column with numeric errors finds a few percent at best. So outlier detection is only a cheap hint for choosing candidate cells. Column dependencies are more useful. We scanned for dependencies such as a brewery id determining the brewery name and found 365 that carry information. Our first scan reported 307, but half of those had a key as determinant, which is always true and tells nothing, so we replaced it with a filtered scan. Rayyan and Movies have almost no dependencies, which is where rule-based systems have nothing to work with and context from the language model has to carry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Aaradhya. To compare fairly we reviewed how the other systems prepare their data. Raha and Baran train and score on the same table with twenty labelled rows. TableEG's released training files include the tables we want to keep unseen, so we do not use them, and Jellyfish was trained on Hospital, which makes its Hospital result not an unseen-table result. For our comparison every method is scored on the same test rows, and the twenty rows that Raha and Baran use as labels are removed from everyone's scoring, so nobody is rewarded for them. The baseline input files are built automatically from the test split and the rule check passes for all five tables. The actual runs of the baselines are the next step in Milestone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Sidhaarth. The goal of this milestone is a dataset that another team can use for training right away. For every cell we write one question and one answer. The question contains the row, a profile of the column and evidence from the rest of the table, such as other rows with the same zip code. Everything in the question is computed from the dirty table; the clean table is used only to write the correct answer. We take every wrong cell and one correct cell for each wrong one, and half of the correct cells are rare values that look suspicious but are right, so the model learns not to flag unusual but valid values. The prompt length is well inside our budget: measured with the Gemma tokenizer, the longest example is 1,009 tokens against a limit of 1,500. For the example in the middle, the model sees that the other rows with the same zip code say Birmingham and has to answer that this cell is wrong and what the correct value is. Each step is one command and is seeded, so the result can be rebuilt.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Sidhaarth. We wrote an automatic leakage check and it paid off. The first split grouped Hospital rows by the provider number in the dirty file. That column has typos, so one hospital looked like several, and twelve of the forty-five real hospitals ended up in more than one split. A model could then memorise a hospital's name and phone number in training and be rewarded for it in test. We now group by the clean key, which only decides which rows stay together and is never shown to the model, and the check shows zero overlaps. Two things are open. The core tables contain no outlier errors, so the outlier type has to come from the synthetic data, and we will say so when we report results on tables that do contain outliers. And the data files are shared as a release asset with attribution to each source, together with a script that rebuilds everything from the public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Sidhaarth. The data is ready, so the next milestones are about the model. In Milestone 3 we build the cheap detectors that choose which cells the model looks at, and we measure how many real errors they keep. The main risks are that the cheap stage misses errors, which caps the whole system, that outliers in training are all synthetic, and that the baselines are not yet run. The clean rebuild has been repeated on a second machine by Aaradhya, and the token counts with the real Gemma tokenizer fit the budget, so the data is ready for hand-over.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2"/>
          </a:solidFill>
          <a:ln/>
        </p:spPr>
      </p:sp>
      <p:sp>
        <p:nvSpPr>
          <p:cNvPr id="3" name="Text 1"/>
          <p:cNvSpPr/>
          <p:nvPr/>
        </p:nvSpPr>
        <p:spPr>
          <a:xfrm>
            <a:off x="548640" y="6382512"/>
            <a:ext cx="4572000" cy="274320"/>
          </a:xfrm>
          <a:prstGeom prst="rect">
            <a:avLst/>
          </a:prstGeom>
          <a:noFill/>
          <a:ln/>
        </p:spPr>
        <p:txBody>
          <a:bodyPr wrap="square" lIns="0" tIns="0" rIns="0" bIns="0" rtlCol="0" anchor="ctr"/>
          <a:lstStyle/>
          <a:p>
            <a:pPr indent="0" marL="0">
              <a:buNone/>
            </a:pPr>
            <a:r>
              <a:rPr lang="en-US" sz="1100" dirty="0">
                <a:solidFill>
                  <a:schemeClr val="accent6"/>
                </a:solidFill>
              </a:rPr>
              <a:t>ContextGuard · Milestone 2</a:t>
            </a:r>
            <a:endParaRPr lang="en-US" sz="1100" dirty="0"/>
          </a:p>
        </p:txBody>
      </p:sp>
      <p:sp>
        <p:nvSpPr>
          <p:cNvPr id="4" name="Text 2"/>
          <p:cNvSpPr/>
          <p:nvPr>
            <p:ph idx="102" type="title" hasCustomPrompt="1"/>
          </p:nvPr>
        </p:nvSpPr>
        <p:spPr>
          <a:xfrm>
            <a:off x="548640" y="658368"/>
            <a:ext cx="11094415" cy="59436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5" name="Text 2"/>
          <p:cNvSpPr/>
          <p:nvPr>
            <p:ph idx="103" type="body" hasCustomPrompt="1"/>
          </p:nvPr>
        </p:nvSpPr>
        <p:spPr>
          <a:xfrm>
            <a:off x="548640" y="365760"/>
            <a:ext cx="7315200" cy="274320"/>
          </a:xfrm>
          <a:prstGeom prst="rect">
            <a:avLst/>
          </a:prstGeom>
          <a:noFill/>
          <a:ln/>
        </p:spPr>
        <p:txBody>
          <a:bodyPr wrap="square" rtlCol="0"/>
          <a:lstStyle>
            <a:lvl1pPr algn="l" indent="0" marL="0">
              <a:buNone/>
              <a:defRPr lang="en-US" sz="1100" b="1" spc="200" kern="0" dirty="0">
                <a:solidFill>
                  <a:schemeClr val="accent3"/>
                </a:solidFill>
              </a:defRPr>
            </a:lvl1pPr>
          </a:lstStyle>
          <a:p>
            <a:pPr algn="l" indent="0" marL="0">
              <a:buNone/>
            </a:pPr>
            <a:endParaRPr lang="en-US" sz="1100" dirty="0"/>
          </a:p>
        </p:txBody>
      </p:sp>
      <p:sp>
        <p:nvSpPr>
          <p:cNvPr id="6" name="Text 2"/>
          <p:cNvSpPr/>
          <p:nvPr>
            <p:ph idx="104" type="body" hasCustomPrompt="1"/>
          </p:nvPr>
        </p:nvSpPr>
        <p:spPr>
          <a:xfrm>
            <a:off x="7802575" y="365760"/>
            <a:ext cx="3840480" cy="274320"/>
          </a:xfrm>
          <a:prstGeom prst="rect">
            <a:avLst/>
          </a:prstGeom>
          <a:noFill/>
          <a:ln/>
        </p:spPr>
        <p:txBody>
          <a:bodyPr wrap="square" rtlCol="0"/>
          <a:lstStyle>
            <a:lvl1pPr algn="r" indent="0" marL="0">
              <a:buNone/>
              <a:defRPr lang="en-US" sz="1100" dirty="0">
                <a:solidFill>
                  <a:schemeClr val="accent6"/>
                </a:solidFill>
              </a:defRPr>
            </a:lvl1pPr>
          </a:lstStyle>
          <a:p>
            <a:pPr algn="r" indent="0" marL="0">
              <a:buNone/>
            </a:pPr>
            <a:endParaRPr lang="en-US" sz="11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nvSpPr>
        <p:spPr>
          <a:xfrm>
            <a:off x="548640" y="6382512"/>
            <a:ext cx="4572000" cy="274320"/>
          </a:xfrm>
          <a:prstGeom prst="rect">
            <a:avLst/>
          </a:prstGeom>
          <a:noFill/>
          <a:ln/>
        </p:spPr>
        <p:txBody>
          <a:bodyPr wrap="square" lIns="0" tIns="0" rIns="0" bIns="0" rtlCol="0" anchor="ctr"/>
          <a:lstStyle/>
          <a:p>
            <a:pPr indent="0" marL="0">
              <a:buNone/>
            </a:pPr>
            <a:r>
              <a:rPr lang="en-US" sz="1100" dirty="0">
                <a:solidFill>
                  <a:schemeClr val="bg2"/>
                </a:solidFill>
              </a:rPr>
              <a:t>ContextGuard · Milestone 2</a:t>
            </a:r>
            <a:endParaRPr lang="en-US" sz="1100" dirty="0"/>
          </a:p>
        </p:txBody>
      </p:sp>
      <p:sp>
        <p:nvSpPr>
          <p:cNvPr id="4" name="Text 2"/>
          <p:cNvSpPr/>
          <p:nvPr>
            <p:ph idx="102" type="title" hasCustomPrompt="1"/>
          </p:nvPr>
        </p:nvSpPr>
        <p:spPr>
          <a:xfrm>
            <a:off x="548640" y="658368"/>
            <a:ext cx="11094415" cy="594360"/>
          </a:xfrm>
          <a:prstGeom prst="rect">
            <a:avLst/>
          </a:prstGeom>
          <a:noFill/>
          <a:ln/>
        </p:spPr>
        <p:txBody>
          <a:bodyPr wrap="square" rtlCol="0"/>
          <a:lstStyle>
            <a:lvl1pPr algn="l" indent="0" marL="0">
              <a:buNone/>
              <a:defRPr lang="en-US" sz="2600" b="1" dirty="0">
                <a:solidFill>
                  <a:schemeClr val="bg2"/>
                </a:solidFill>
              </a:defRPr>
            </a:lvl1pPr>
          </a:lstStyle>
          <a:p>
            <a:pPr algn="l" indent="0" marL="0">
              <a:buNone/>
            </a:pPr>
            <a:endParaRPr lang="en-US" sz="2600" dirty="0"/>
          </a:p>
        </p:txBody>
      </p:sp>
      <p:sp>
        <p:nvSpPr>
          <p:cNvPr id="5" name="Text 2"/>
          <p:cNvSpPr/>
          <p:nvPr>
            <p:ph idx="103" type="body" hasCustomPrompt="1"/>
          </p:nvPr>
        </p:nvSpPr>
        <p:spPr>
          <a:xfrm>
            <a:off x="548640" y="365760"/>
            <a:ext cx="7315200" cy="274320"/>
          </a:xfrm>
          <a:prstGeom prst="rect">
            <a:avLst/>
          </a:prstGeom>
          <a:noFill/>
          <a:ln/>
        </p:spPr>
        <p:txBody>
          <a:bodyPr wrap="square" rtlCol="0"/>
          <a:lstStyle>
            <a:lvl1pPr algn="l" indent="0" marL="0">
              <a:buNone/>
              <a:defRPr lang="en-US" sz="1100" b="1" spc="200" kern="0" dirty="0">
                <a:solidFill>
                  <a:schemeClr val="accent1"/>
                </a:solidFill>
              </a:defRPr>
            </a:lvl1pPr>
          </a:lstStyle>
          <a:p>
            <a:pPr algn="l" indent="0" marL="0">
              <a:buNone/>
            </a:pPr>
            <a:endParaRPr lang="en-US" sz="1100" dirty="0"/>
          </a:p>
        </p:txBody>
      </p:sp>
      <p:sp>
        <p:nvSpPr>
          <p:cNvPr id="6" name="Text 2"/>
          <p:cNvSpPr/>
          <p:nvPr>
            <p:ph idx="104" type="body" hasCustomPrompt="1"/>
          </p:nvPr>
        </p:nvSpPr>
        <p:spPr>
          <a:xfrm>
            <a:off x="7802575" y="365760"/>
            <a:ext cx="3840480" cy="274320"/>
          </a:xfrm>
          <a:prstGeom prst="rect">
            <a:avLst/>
          </a:prstGeom>
          <a:noFill/>
          <a:ln/>
        </p:spPr>
        <p:txBody>
          <a:bodyPr wrap="square" rtlCol="0"/>
          <a:lstStyle>
            <a:lvl1pPr algn="r" indent="0" marL="0">
              <a:buNone/>
              <a:defRPr lang="en-US" sz="1100" dirty="0">
                <a:solidFill>
                  <a:schemeClr val="bg2"/>
                </a:solidFill>
              </a:defRPr>
            </a:lvl1pPr>
          </a:lstStyle>
          <a:p>
            <a:pPr algn="r" indent="0" marL="0">
              <a:buNone/>
            </a:pPr>
            <a:endParaRPr lang="en-US" sz="11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548640" y="2011680"/>
            <a:ext cx="5669280" cy="914400"/>
          </a:xfrm>
          <a:prstGeom prst="rect">
            <a:avLst/>
          </a:prstGeom>
          <a:noFill/>
          <a:ln/>
        </p:spPr>
        <p:txBody>
          <a:bodyPr wrap="square" rtlCol="0"/>
          <a:lstStyle>
            <a:lvl1pPr algn="l" indent="0" marL="0">
              <a:buNone/>
              <a:defRPr lang="en-US" sz="5400" b="1" dirty="0">
                <a:solidFill>
                  <a:schemeClr val="bg2"/>
                </a:solidFill>
              </a:defRPr>
            </a:lvl1pPr>
          </a:lstStyle>
          <a:p>
            <a:pPr algn="l" indent="0" marL="0">
              <a:buNone/>
            </a:pPr>
            <a:endParaRPr lang="en-US" sz="5400" dirty="0"/>
          </a:p>
        </p:txBody>
      </p:sp>
      <p:sp>
        <p:nvSpPr>
          <p:cNvPr id="4" name="Text 1"/>
          <p:cNvSpPr/>
          <p:nvPr>
            <p:ph idx="102" type="body" hasCustomPrompt="1"/>
          </p:nvPr>
        </p:nvSpPr>
        <p:spPr>
          <a:xfrm>
            <a:off x="548640" y="685800"/>
            <a:ext cx="73152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5" name="Text 1"/>
          <p:cNvSpPr/>
          <p:nvPr>
            <p:ph idx="103" type="body" hasCustomPrompt="1"/>
          </p:nvPr>
        </p:nvSpPr>
        <p:spPr>
          <a:xfrm>
            <a:off x="548640" y="3063240"/>
            <a:ext cx="5394960" cy="91440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 Id="rId7"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548640" y="685800"/>
            <a:ext cx="73152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MILESTONE 2 · DATASET PREPARATION</a:t>
            </a:r>
            <a:endParaRPr lang="en-US" sz="1200" dirty="0"/>
          </a:p>
        </p:txBody>
      </p:sp>
      <p:sp>
        <p:nvSpPr>
          <p:cNvPr id="3" name="Text 1"/>
          <p:cNvSpPr/>
          <p:nvPr>
            <p:ph idx="101" type="title" hasCustomPrompt="1"/>
          </p:nvPr>
        </p:nvSpPr>
        <p:spPr>
          <a:xfrm>
            <a:off x="548640" y="2011680"/>
            <a:ext cx="5669280" cy="914400"/>
          </a:xfrm>
          <a:prstGeom prst="rect">
            <a:avLst/>
          </a:prstGeom>
          <a:noFill/>
          <a:ln/>
        </p:spPr>
        <p:txBody>
          <a:bodyPr wrap="square" lIns="0" tIns="0" rIns="0" bIns="0" rtlCol="0" anchor="t"/>
          <a:lstStyle/>
          <a:p>
            <a:pPr algn="l" indent="0" marL="0">
              <a:buNone/>
            </a:pPr>
            <a:r>
              <a:rPr lang="en-US" sz="5400" b="1" dirty="0">
                <a:solidFill>
                  <a:schemeClr val="bg2"/>
                </a:solidFill>
              </a:rPr>
              <a:t>ContextGuard</a:t>
            </a:r>
            <a:endParaRPr lang="en-US" sz="5400" dirty="0"/>
          </a:p>
        </p:txBody>
      </p:sp>
      <p:sp>
        <p:nvSpPr>
          <p:cNvPr id="4" name="Text 1"/>
          <p:cNvSpPr/>
          <p:nvPr>
            <p:ph idx="103" type="body" hasCustomPrompt="1"/>
          </p:nvPr>
        </p:nvSpPr>
        <p:spPr>
          <a:xfrm>
            <a:off x="548640" y="3063240"/>
            <a:ext cx="5394960" cy="914400"/>
          </a:xfrm>
          <a:prstGeom prst="rect">
            <a:avLst/>
          </a:prstGeom>
          <a:noFill/>
          <a:ln/>
        </p:spPr>
        <p:txBody>
          <a:bodyPr wrap="square" lIns="0" tIns="0" rIns="0" bIns="0" rtlCol="0" anchor="t"/>
          <a:lstStyle/>
          <a:p>
            <a:pPr algn="l" indent="0" marL="0">
              <a:buNone/>
            </a:pPr>
            <a:r>
              <a:rPr lang="en-US" sz="2400" dirty="0">
                <a:solidFill>
                  <a:schemeClr val="bg2"/>
                </a:solidFill>
              </a:rPr>
              <a:t>From benchmark tables to training-ready examples</a:t>
            </a:r>
            <a:endParaRPr lang="en-US" sz="2400" dirty="0"/>
          </a:p>
        </p:txBody>
      </p:sp>
      <p:sp>
        <p:nvSpPr>
          <p:cNvPr id="5" name="Team block"/>
          <p:cNvSpPr txBox="1"/>
          <p:nvPr/>
        </p:nvSpPr>
        <p:spPr>
          <a:xfrm>
            <a:off x="548640" y="5074920"/>
            <a:ext cx="5760720" cy="868680"/>
          </a:xfrm>
          <a:prstGeom prst="rect">
            <a:avLst/>
          </a:prstGeom>
          <a:noFill/>
          <a:ln/>
        </p:spPr>
        <p:txBody>
          <a:bodyPr wrap="square" lIns="0" tIns="0" rIns="0" bIns="0" rtlCol="0" anchor="b"/>
          <a:lstStyle/>
          <a:p>
            <a:pPr indent="0" marL="0">
              <a:buNone/>
            </a:pPr>
            <a:r>
              <a:rPr lang="en-US" sz="1500" b="1" dirty="0">
                <a:solidFill>
                  <a:schemeClr val="bg2"/>
                </a:solidFill>
              </a:rPr>
              <a:t>Sidhaarth Shree · Jashan · Sahilpreet · Aaradhya</a:t>
            </a:r>
            <a:endParaRPr lang="en-US" sz="1400" dirty="0"/>
          </a:p>
          <a:p>
            <a:pPr indent="0" marL="0">
              <a:buNone/>
            </a:pPr>
            <a:r>
              <a:rPr lang="en-US" sz="1200" dirty="0">
                <a:solidFill>
                  <a:schemeClr val="bg2"/>
                </a:solidFill>
              </a:rPr>
              <a:t>DSAI Lab Project, IIT Madras BS · Group 1</a:t>
            </a:r>
            <a:endParaRPr lang="en-US" sz="1400" dirty="0"/>
          </a:p>
          <a:p>
            <a:pPr indent="0" marL="0">
              <a:buNone/>
            </a:pPr>
            <a:r>
              <a:rPr lang="en-US" sz="1100" dirty="0">
                <a:solidFill>
                  <a:schemeClr val="accent4"/>
                </a:solidFill>
              </a:rPr>
              <a:t>github.com/SidhaarthShree07/Group-1-DS-and-AI-Lab-Project</a:t>
            </a:r>
            <a:endParaRPr lang="en-US" sz="1400" dirty="0"/>
          </a:p>
        </p:txBody>
      </p:sp>
      <p:sp>
        <p:nvSpPr>
          <p:cNvPr id="6" name="Text 4"/>
          <p:cNvSpPr txBox="1"/>
          <p:nvPr/>
        </p:nvSpPr>
        <p:spPr>
          <a:xfrm>
            <a:off x="6400800" y="914400"/>
            <a:ext cx="5242255"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HOSPITAL · THREE ROWS</a:t>
            </a:r>
            <a:endParaRPr lang="en-US" sz="1100" dirty="0"/>
          </a:p>
        </p:txBody>
      </p:sp>
      <p:sp>
        <p:nvSpPr>
          <p:cNvPr id="7" name="Text 5"/>
          <p:cNvSpPr txBox="1"/>
          <p:nvPr/>
        </p:nvSpPr>
        <p:spPr>
          <a:xfrm>
            <a:off x="6400800" y="1234440"/>
            <a:ext cx="1674266" cy="228600"/>
          </a:xfrm>
          <a:prstGeom prst="rect">
            <a:avLst/>
          </a:prstGeom>
          <a:noFill/>
          <a:ln/>
        </p:spPr>
        <p:txBody>
          <a:bodyPr wrap="square" lIns="0" tIns="0" rIns="0" bIns="0" rtlCol="0" anchor="ctr"/>
          <a:lstStyle/>
          <a:p>
            <a:pPr indent="0" marL="0">
              <a:buNone/>
            </a:pPr>
            <a:r>
              <a:rPr lang="en-US" sz="1100" dirty="0">
                <a:solidFill>
                  <a:schemeClr val="bg2"/>
                </a:solidFill>
              </a:rPr>
              <a:t>City</a:t>
            </a:r>
            <a:endParaRPr lang="en-US" sz="1100" dirty="0"/>
          </a:p>
        </p:txBody>
      </p:sp>
      <p:sp>
        <p:nvSpPr>
          <p:cNvPr id="8" name="Text 6"/>
          <p:cNvSpPr txBox="1"/>
          <p:nvPr/>
        </p:nvSpPr>
        <p:spPr>
          <a:xfrm>
            <a:off x="8184794" y="1234440"/>
            <a:ext cx="1674266" cy="228600"/>
          </a:xfrm>
          <a:prstGeom prst="rect">
            <a:avLst/>
          </a:prstGeom>
          <a:noFill/>
          <a:ln/>
        </p:spPr>
        <p:txBody>
          <a:bodyPr wrap="square" lIns="0" tIns="0" rIns="0" bIns="0" rtlCol="0" anchor="ctr"/>
          <a:lstStyle/>
          <a:p>
            <a:pPr indent="0" marL="0">
              <a:buNone/>
            </a:pPr>
            <a:r>
              <a:rPr lang="en-US" sz="1100" dirty="0">
                <a:solidFill>
                  <a:schemeClr val="bg2"/>
                </a:solidFill>
              </a:rPr>
              <a:t>State</a:t>
            </a:r>
            <a:endParaRPr lang="en-US" sz="1100" dirty="0"/>
          </a:p>
        </p:txBody>
      </p:sp>
      <p:sp>
        <p:nvSpPr>
          <p:cNvPr id="9" name="Text 7"/>
          <p:cNvSpPr txBox="1"/>
          <p:nvPr/>
        </p:nvSpPr>
        <p:spPr>
          <a:xfrm>
            <a:off x="9968789" y="1234440"/>
            <a:ext cx="1674266" cy="228600"/>
          </a:xfrm>
          <a:prstGeom prst="rect">
            <a:avLst/>
          </a:prstGeom>
          <a:noFill/>
          <a:ln/>
        </p:spPr>
        <p:txBody>
          <a:bodyPr wrap="square" lIns="0" tIns="0" rIns="0" bIns="0" rtlCol="0" anchor="ctr"/>
          <a:lstStyle/>
          <a:p>
            <a:pPr indent="0" marL="0">
              <a:buNone/>
            </a:pPr>
            <a:r>
              <a:rPr lang="en-US" sz="1100" dirty="0">
                <a:solidFill>
                  <a:schemeClr val="bg2"/>
                </a:solidFill>
              </a:rPr>
              <a:t>ZipCode</a:t>
            </a:r>
            <a:endParaRPr lang="en-US" sz="1100" dirty="0"/>
          </a:p>
        </p:txBody>
      </p:sp>
      <p:sp>
        <p:nvSpPr>
          <p:cNvPr id="10" name="Cell 0-0"/>
          <p:cNvSpPr/>
          <p:nvPr/>
        </p:nvSpPr>
        <p:spPr>
          <a:xfrm>
            <a:off x="6400800" y="1508760"/>
            <a:ext cx="1674266" cy="457200"/>
          </a:xfrm>
          <a:prstGeom prst="roundRect">
            <a:avLst>
              <a:gd name="adj" fmla="val 16000"/>
            </a:avLst>
          </a:prstGeom>
          <a:solidFill>
            <a:schemeClr val="tx2"/>
          </a:solidFill>
          <a:ln/>
        </p:spPr>
        <p:txBody>
          <a:bodyPr/>
          <a:p/>
        </p:txBody>
      </p:sp>
      <p:sp>
        <p:nvSpPr>
          <p:cNvPr id="11" name="Text 9"/>
          <p:cNvSpPr txBox="1"/>
          <p:nvPr/>
        </p:nvSpPr>
        <p:spPr>
          <a:xfrm>
            <a:off x="6537960" y="1508760"/>
            <a:ext cx="1399946" cy="45720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birmingham</a:t>
            </a:r>
            <a:endParaRPr lang="en-US" sz="1300" dirty="0"/>
          </a:p>
        </p:txBody>
      </p:sp>
      <p:sp>
        <p:nvSpPr>
          <p:cNvPr id="12" name="Cell 0-1"/>
          <p:cNvSpPr/>
          <p:nvPr/>
        </p:nvSpPr>
        <p:spPr>
          <a:xfrm>
            <a:off x="8184794" y="1508760"/>
            <a:ext cx="1674266" cy="457200"/>
          </a:xfrm>
          <a:prstGeom prst="roundRect">
            <a:avLst>
              <a:gd name="adj" fmla="val 16000"/>
            </a:avLst>
          </a:prstGeom>
          <a:solidFill>
            <a:schemeClr val="tx2"/>
          </a:solidFill>
          <a:ln/>
        </p:spPr>
        <p:txBody>
          <a:bodyPr/>
          <a:p/>
        </p:txBody>
      </p:sp>
      <p:sp>
        <p:nvSpPr>
          <p:cNvPr id="13" name="Text 11"/>
          <p:cNvSpPr txBox="1"/>
          <p:nvPr/>
        </p:nvSpPr>
        <p:spPr>
          <a:xfrm>
            <a:off x="8321954" y="1508760"/>
            <a:ext cx="1399946" cy="45720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al</a:t>
            </a:r>
            <a:endParaRPr lang="en-US" sz="1300" dirty="0"/>
          </a:p>
        </p:txBody>
      </p:sp>
      <p:sp>
        <p:nvSpPr>
          <p:cNvPr id="14" name="Cell 0-2"/>
          <p:cNvSpPr/>
          <p:nvPr/>
        </p:nvSpPr>
        <p:spPr>
          <a:xfrm>
            <a:off x="9968789" y="1508760"/>
            <a:ext cx="1674266" cy="457200"/>
          </a:xfrm>
          <a:prstGeom prst="roundRect">
            <a:avLst>
              <a:gd name="adj" fmla="val 16000"/>
            </a:avLst>
          </a:prstGeom>
          <a:solidFill>
            <a:schemeClr val="tx2"/>
          </a:solidFill>
          <a:ln/>
        </p:spPr>
        <p:txBody>
          <a:bodyPr/>
          <a:p/>
        </p:txBody>
      </p:sp>
      <p:sp>
        <p:nvSpPr>
          <p:cNvPr id="15" name="Text 13"/>
          <p:cNvSpPr txBox="1"/>
          <p:nvPr/>
        </p:nvSpPr>
        <p:spPr>
          <a:xfrm>
            <a:off x="10105949" y="1508760"/>
            <a:ext cx="1399946" cy="45720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35233</a:t>
            </a:r>
            <a:endParaRPr lang="en-US" sz="1300" dirty="0"/>
          </a:p>
        </p:txBody>
      </p:sp>
      <p:sp>
        <p:nvSpPr>
          <p:cNvPr id="16" name="Cell 1-0"/>
          <p:cNvSpPr/>
          <p:nvPr/>
        </p:nvSpPr>
        <p:spPr>
          <a:xfrm>
            <a:off x="6400800" y="2057400"/>
            <a:ext cx="1674266" cy="457200"/>
          </a:xfrm>
          <a:prstGeom prst="roundRect">
            <a:avLst>
              <a:gd name="adj" fmla="val 16000"/>
            </a:avLst>
          </a:prstGeom>
          <a:solidFill>
            <a:schemeClr val="tx2"/>
          </a:solidFill>
          <a:ln/>
        </p:spPr>
        <p:txBody>
          <a:bodyPr/>
          <a:p/>
        </p:txBody>
      </p:sp>
      <p:sp>
        <p:nvSpPr>
          <p:cNvPr id="17" name="Text 15"/>
          <p:cNvSpPr txBox="1"/>
          <p:nvPr/>
        </p:nvSpPr>
        <p:spPr>
          <a:xfrm>
            <a:off x="6537960" y="2057400"/>
            <a:ext cx="1399946" cy="45720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birmingham</a:t>
            </a:r>
            <a:endParaRPr lang="en-US" sz="1300" dirty="0"/>
          </a:p>
        </p:txBody>
      </p:sp>
      <p:sp>
        <p:nvSpPr>
          <p:cNvPr id="18" name="Cell 1-1"/>
          <p:cNvSpPr/>
          <p:nvPr/>
        </p:nvSpPr>
        <p:spPr>
          <a:xfrm>
            <a:off x="8184794" y="2057400"/>
            <a:ext cx="1674266" cy="457200"/>
          </a:xfrm>
          <a:prstGeom prst="roundRect">
            <a:avLst>
              <a:gd name="adj" fmla="val 16000"/>
            </a:avLst>
          </a:prstGeom>
          <a:solidFill>
            <a:schemeClr val="tx2"/>
          </a:solidFill>
          <a:ln/>
        </p:spPr>
        <p:txBody>
          <a:bodyPr/>
          <a:p/>
        </p:txBody>
      </p:sp>
      <p:sp>
        <p:nvSpPr>
          <p:cNvPr id="19" name="Text 17"/>
          <p:cNvSpPr txBox="1"/>
          <p:nvPr/>
        </p:nvSpPr>
        <p:spPr>
          <a:xfrm>
            <a:off x="8321954" y="2057400"/>
            <a:ext cx="1399946" cy="45720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al</a:t>
            </a:r>
            <a:endParaRPr lang="en-US" sz="1300" dirty="0"/>
          </a:p>
        </p:txBody>
      </p:sp>
      <p:sp>
        <p:nvSpPr>
          <p:cNvPr id="20" name="Cell 1-2"/>
          <p:cNvSpPr/>
          <p:nvPr/>
        </p:nvSpPr>
        <p:spPr>
          <a:xfrm>
            <a:off x="9968789" y="2057400"/>
            <a:ext cx="1674266" cy="457200"/>
          </a:xfrm>
          <a:prstGeom prst="roundRect">
            <a:avLst>
              <a:gd name="adj" fmla="val 16000"/>
            </a:avLst>
          </a:prstGeom>
          <a:solidFill>
            <a:schemeClr val="tx2"/>
          </a:solidFill>
          <a:ln/>
        </p:spPr>
        <p:txBody>
          <a:bodyPr/>
          <a:p/>
        </p:txBody>
      </p:sp>
      <p:sp>
        <p:nvSpPr>
          <p:cNvPr id="21" name="Text 19"/>
          <p:cNvSpPr txBox="1"/>
          <p:nvPr/>
        </p:nvSpPr>
        <p:spPr>
          <a:xfrm>
            <a:off x="10105949" y="2057400"/>
            <a:ext cx="1399946" cy="45720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35233</a:t>
            </a:r>
            <a:endParaRPr lang="en-US" sz="1300" dirty="0"/>
          </a:p>
        </p:txBody>
      </p:sp>
      <p:sp>
        <p:nvSpPr>
          <p:cNvPr id="22" name="Cell 2-0"/>
          <p:cNvSpPr/>
          <p:nvPr/>
        </p:nvSpPr>
        <p:spPr>
          <a:xfrm>
            <a:off x="6400800" y="2606040"/>
            <a:ext cx="1674266" cy="457200"/>
          </a:xfrm>
          <a:prstGeom prst="roundRect">
            <a:avLst>
              <a:gd name="adj" fmla="val 16000"/>
            </a:avLst>
          </a:prstGeom>
          <a:solidFill>
            <a:schemeClr val="accent2"/>
          </a:solidFill>
          <a:ln/>
        </p:spPr>
        <p:txBody>
          <a:bodyPr/>
          <a:p/>
        </p:txBody>
      </p:sp>
      <p:sp>
        <p:nvSpPr>
          <p:cNvPr id="23" name="Text 21"/>
          <p:cNvSpPr txBox="1"/>
          <p:nvPr/>
        </p:nvSpPr>
        <p:spPr>
          <a:xfrm>
            <a:off x="6537960" y="2606040"/>
            <a:ext cx="1399946"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birmingxam</a:t>
            </a:r>
            <a:endParaRPr lang="en-US" sz="1300" dirty="0"/>
          </a:p>
        </p:txBody>
      </p:sp>
      <p:sp>
        <p:nvSpPr>
          <p:cNvPr id="24" name="Cell 2-1"/>
          <p:cNvSpPr/>
          <p:nvPr/>
        </p:nvSpPr>
        <p:spPr>
          <a:xfrm>
            <a:off x="8184794" y="2606040"/>
            <a:ext cx="1674266" cy="457200"/>
          </a:xfrm>
          <a:prstGeom prst="roundRect">
            <a:avLst>
              <a:gd name="adj" fmla="val 16000"/>
            </a:avLst>
          </a:prstGeom>
          <a:solidFill>
            <a:schemeClr val="tx2"/>
          </a:solidFill>
          <a:ln/>
        </p:spPr>
        <p:txBody>
          <a:bodyPr/>
          <a:p/>
        </p:txBody>
      </p:sp>
      <p:sp>
        <p:nvSpPr>
          <p:cNvPr id="25" name="Text 23"/>
          <p:cNvSpPr txBox="1"/>
          <p:nvPr/>
        </p:nvSpPr>
        <p:spPr>
          <a:xfrm>
            <a:off x="8321954" y="2606040"/>
            <a:ext cx="1399946" cy="45720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al</a:t>
            </a:r>
            <a:endParaRPr lang="en-US" sz="1300" dirty="0"/>
          </a:p>
        </p:txBody>
      </p:sp>
      <p:sp>
        <p:nvSpPr>
          <p:cNvPr id="26" name="Cell 2-2"/>
          <p:cNvSpPr/>
          <p:nvPr/>
        </p:nvSpPr>
        <p:spPr>
          <a:xfrm>
            <a:off x="9968789" y="2606040"/>
            <a:ext cx="1674266" cy="457200"/>
          </a:xfrm>
          <a:prstGeom prst="roundRect">
            <a:avLst>
              <a:gd name="adj" fmla="val 16000"/>
            </a:avLst>
          </a:prstGeom>
          <a:solidFill>
            <a:schemeClr val="tx2"/>
          </a:solidFill>
          <a:ln/>
        </p:spPr>
        <p:txBody>
          <a:bodyPr/>
          <a:p/>
        </p:txBody>
      </p:sp>
      <p:sp>
        <p:nvSpPr>
          <p:cNvPr id="27" name="Text 25"/>
          <p:cNvSpPr txBox="1"/>
          <p:nvPr/>
        </p:nvSpPr>
        <p:spPr>
          <a:xfrm>
            <a:off x="10105949" y="2606040"/>
            <a:ext cx="1399946" cy="45720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35233</a:t>
            </a:r>
            <a:endParaRPr lang="en-US" sz="1300" dirty="0"/>
          </a:p>
        </p:txBody>
      </p:sp>
      <p:sp>
        <p:nvSpPr>
          <p:cNvPr id="28" name="Repair bar"/>
          <p:cNvSpPr/>
          <p:nvPr/>
        </p:nvSpPr>
        <p:spPr>
          <a:xfrm>
            <a:off x="6400800" y="3246120"/>
            <a:ext cx="5242255" cy="457200"/>
          </a:xfrm>
          <a:prstGeom prst="roundRect">
            <a:avLst>
              <a:gd name="adj" fmla="val 16000"/>
            </a:avLst>
          </a:prstGeom>
          <a:solidFill>
            <a:schemeClr val="accent1"/>
          </a:solidFill>
          <a:ln/>
        </p:spPr>
        <p:txBody>
          <a:bodyPr/>
          <a:p/>
        </p:txBody>
      </p:sp>
      <p:sp>
        <p:nvSpPr>
          <p:cNvPr id="29" name="Text 27"/>
          <p:cNvSpPr txBox="1"/>
          <p:nvPr/>
        </p:nvSpPr>
        <p:spPr>
          <a:xfrm>
            <a:off x="6537960" y="3246120"/>
            <a:ext cx="4967935" cy="457200"/>
          </a:xfrm>
          <a:prstGeom prst="rect">
            <a:avLst/>
          </a:prstGeom>
          <a:noFill/>
          <a:ln/>
        </p:spPr>
        <p:txBody>
          <a:bodyPr wrap="square" lIns="0" tIns="0" rIns="0" bIns="0" rtlCol="0" anchor="ctr"/>
          <a:lstStyle/>
          <a:p>
            <a:pPr indent="0" marL="0">
              <a:buNone/>
            </a:pPr>
            <a:r>
              <a:rPr lang="en-US" sz="1300" b="1" dirty="0">
                <a:solidFill>
                  <a:schemeClr val="tx1"/>
                </a:solidFill>
              </a:rPr>
              <a:t>Proposed repair: birmingham</a:t>
            </a:r>
            <a:endParaRPr lang="en-US" sz="1300" dirty="0"/>
          </a:p>
        </p:txBody>
      </p:sp>
      <p:sp>
        <p:nvSpPr>
          <p:cNvPr id="30" name="Stat card 1"/>
          <p:cNvSpPr/>
          <p:nvPr/>
        </p:nvSpPr>
        <p:spPr>
          <a:xfrm>
            <a:off x="6400800" y="4023360"/>
            <a:ext cx="2529688" cy="914400"/>
          </a:xfrm>
          <a:prstGeom prst="roundRect">
            <a:avLst>
              <a:gd name="adj" fmla="val 8000"/>
            </a:avLst>
          </a:prstGeom>
          <a:solidFill>
            <a:schemeClr val="tx2"/>
          </a:solidFill>
          <a:ln/>
        </p:spPr>
        <p:txBody>
          <a:bodyPr/>
          <a:p/>
        </p:txBody>
      </p:sp>
      <p:sp>
        <p:nvSpPr>
          <p:cNvPr id="31" name="Text 29"/>
          <p:cNvSpPr txBox="1"/>
          <p:nvPr/>
        </p:nvSpPr>
        <p:spPr>
          <a:xfrm>
            <a:off x="6629400" y="4087368"/>
            <a:ext cx="2072488" cy="438912"/>
          </a:xfrm>
          <a:prstGeom prst="rect">
            <a:avLst/>
          </a:prstGeom>
          <a:noFill/>
          <a:ln/>
        </p:spPr>
        <p:txBody>
          <a:bodyPr wrap="square" lIns="0" tIns="0" rIns="0" bIns="0" rtlCol="0" anchor="ctr"/>
          <a:lstStyle/>
          <a:p>
            <a:pPr indent="0" marL="0">
              <a:buNone/>
            </a:pPr>
            <a:r>
              <a:rPr lang="en-US" sz="2800" b="1" dirty="0">
                <a:solidFill>
                  <a:schemeClr val="accent1"/>
                </a:solidFill>
              </a:rPr>
              <a:t>73,979</a:t>
            </a:r>
            <a:endParaRPr lang="en-US" sz="2800" dirty="0"/>
          </a:p>
        </p:txBody>
      </p:sp>
      <p:sp>
        <p:nvSpPr>
          <p:cNvPr id="32" name="Text 30"/>
          <p:cNvSpPr txBox="1"/>
          <p:nvPr/>
        </p:nvSpPr>
        <p:spPr>
          <a:xfrm>
            <a:off x="6629400" y="4535424"/>
            <a:ext cx="2072488" cy="347472"/>
          </a:xfrm>
          <a:prstGeom prst="rect">
            <a:avLst/>
          </a:prstGeom>
          <a:noFill/>
          <a:ln/>
        </p:spPr>
        <p:txBody>
          <a:bodyPr wrap="square" lIns="0" tIns="0" rIns="0" bIns="0" rtlCol="0" anchor="t"/>
          <a:lstStyle/>
          <a:p>
            <a:pPr indent="0" marL="0">
              <a:buNone/>
            </a:pPr>
            <a:r>
              <a:rPr lang="en-US" sz="1050" dirty="0">
                <a:solidFill>
                  <a:schemeClr val="bg2"/>
                </a:solidFill>
              </a:rPr>
              <a:t>question-and-answer examples</a:t>
            </a:r>
            <a:endParaRPr lang="en-US" sz="1050" dirty="0"/>
          </a:p>
        </p:txBody>
      </p:sp>
      <p:sp>
        <p:nvSpPr>
          <p:cNvPr id="33" name="Stat card 2"/>
          <p:cNvSpPr/>
          <p:nvPr/>
        </p:nvSpPr>
        <p:spPr>
          <a:xfrm>
            <a:off x="9113368" y="4023360"/>
            <a:ext cx="2529688" cy="914400"/>
          </a:xfrm>
          <a:prstGeom prst="roundRect">
            <a:avLst>
              <a:gd name="adj" fmla="val 8000"/>
            </a:avLst>
          </a:prstGeom>
          <a:solidFill>
            <a:schemeClr val="tx2"/>
          </a:solidFill>
          <a:ln/>
        </p:spPr>
        <p:txBody>
          <a:bodyPr/>
          <a:p/>
        </p:txBody>
      </p:sp>
      <p:sp>
        <p:nvSpPr>
          <p:cNvPr id="34" name="Text 32"/>
          <p:cNvSpPr txBox="1"/>
          <p:nvPr/>
        </p:nvSpPr>
        <p:spPr>
          <a:xfrm>
            <a:off x="9341968" y="4087368"/>
            <a:ext cx="2072488" cy="438912"/>
          </a:xfrm>
          <a:prstGeom prst="rect">
            <a:avLst/>
          </a:prstGeom>
          <a:noFill/>
          <a:ln/>
        </p:spPr>
        <p:txBody>
          <a:bodyPr wrap="square" lIns="0" tIns="0" rIns="0" bIns="0" rtlCol="0" anchor="ctr"/>
          <a:lstStyle/>
          <a:p>
            <a:pPr indent="0" marL="0">
              <a:buNone/>
            </a:pPr>
            <a:r>
              <a:rPr lang="en-US" sz="2800" b="1" dirty="0">
                <a:solidFill>
                  <a:schemeClr val="accent1"/>
                </a:solidFill>
              </a:rPr>
              <a:t>13</a:t>
            </a:r>
            <a:endParaRPr lang="en-US" sz="2800" dirty="0"/>
          </a:p>
        </p:txBody>
      </p:sp>
      <p:sp>
        <p:nvSpPr>
          <p:cNvPr id="35" name="Text 33"/>
          <p:cNvSpPr txBox="1"/>
          <p:nvPr/>
        </p:nvSpPr>
        <p:spPr>
          <a:xfrm>
            <a:off x="9341968" y="4535424"/>
            <a:ext cx="2072488" cy="347472"/>
          </a:xfrm>
          <a:prstGeom prst="rect">
            <a:avLst/>
          </a:prstGeom>
          <a:noFill/>
          <a:ln/>
        </p:spPr>
        <p:txBody>
          <a:bodyPr wrap="square" lIns="0" tIns="0" rIns="0" bIns="0" rtlCol="0" anchor="t"/>
          <a:lstStyle/>
          <a:p>
            <a:pPr indent="0" marL="0">
              <a:buNone/>
            </a:pPr>
            <a:r>
              <a:rPr lang="en-US" sz="1050" dirty="0">
                <a:solidFill>
                  <a:schemeClr val="bg2"/>
                </a:solidFill>
              </a:rPr>
              <a:t>source tables: 5 core, 3 external, 5 synthetic</a:t>
            </a:r>
            <a:endParaRPr lang="en-US" sz="1050" dirty="0"/>
          </a:p>
        </p:txBody>
      </p:sp>
      <p:sp>
        <p:nvSpPr>
          <p:cNvPr id="36" name="Stat card 3"/>
          <p:cNvSpPr/>
          <p:nvPr/>
        </p:nvSpPr>
        <p:spPr>
          <a:xfrm>
            <a:off x="6400800" y="5074920"/>
            <a:ext cx="2529688" cy="914400"/>
          </a:xfrm>
          <a:prstGeom prst="roundRect">
            <a:avLst>
              <a:gd name="adj" fmla="val 8000"/>
            </a:avLst>
          </a:prstGeom>
          <a:solidFill>
            <a:schemeClr val="tx2"/>
          </a:solidFill>
          <a:ln/>
        </p:spPr>
        <p:txBody>
          <a:bodyPr/>
          <a:p/>
        </p:txBody>
      </p:sp>
      <p:sp>
        <p:nvSpPr>
          <p:cNvPr id="37" name="Text 35"/>
          <p:cNvSpPr txBox="1"/>
          <p:nvPr/>
        </p:nvSpPr>
        <p:spPr>
          <a:xfrm>
            <a:off x="6629400" y="5138928"/>
            <a:ext cx="2072488" cy="438912"/>
          </a:xfrm>
          <a:prstGeom prst="rect">
            <a:avLst/>
          </a:prstGeom>
          <a:noFill/>
          <a:ln/>
        </p:spPr>
        <p:txBody>
          <a:bodyPr wrap="square" lIns="0" tIns="0" rIns="0" bIns="0" rtlCol="0" anchor="ctr"/>
          <a:lstStyle/>
          <a:p>
            <a:pPr indent="0" marL="0">
              <a:buNone/>
            </a:pPr>
            <a:r>
              <a:rPr lang="en-US" sz="2800" b="1" dirty="0">
                <a:solidFill>
                  <a:schemeClr val="accent1"/>
                </a:solidFill>
              </a:rPr>
              <a:t>0</a:t>
            </a:r>
            <a:endParaRPr lang="en-US" sz="2800" dirty="0"/>
          </a:p>
        </p:txBody>
      </p:sp>
      <p:sp>
        <p:nvSpPr>
          <p:cNvPr id="38" name="Text 36"/>
          <p:cNvSpPr txBox="1"/>
          <p:nvPr/>
        </p:nvSpPr>
        <p:spPr>
          <a:xfrm>
            <a:off x="6629400" y="5586984"/>
            <a:ext cx="2072488" cy="347472"/>
          </a:xfrm>
          <a:prstGeom prst="rect">
            <a:avLst/>
          </a:prstGeom>
          <a:noFill/>
          <a:ln/>
        </p:spPr>
        <p:txBody>
          <a:bodyPr wrap="square" lIns="0" tIns="0" rIns="0" bIns="0" rtlCol="0" anchor="t"/>
          <a:lstStyle/>
          <a:p>
            <a:pPr indent="0" marL="0">
              <a:buNone/>
            </a:pPr>
            <a:r>
              <a:rPr lang="en-US" sz="1050" dirty="0">
                <a:solidFill>
                  <a:schemeClr val="bg2"/>
                </a:solidFill>
              </a:rPr>
              <a:t>row or entity overlap between splits</a:t>
            </a:r>
            <a:endParaRPr lang="en-US" sz="1050" dirty="0"/>
          </a:p>
        </p:txBody>
      </p:sp>
      <p:sp>
        <p:nvSpPr>
          <p:cNvPr id="39" name="Stat card 4"/>
          <p:cNvSpPr/>
          <p:nvPr/>
        </p:nvSpPr>
        <p:spPr>
          <a:xfrm>
            <a:off x="9113368" y="5074920"/>
            <a:ext cx="2529688" cy="914400"/>
          </a:xfrm>
          <a:prstGeom prst="roundRect">
            <a:avLst>
              <a:gd name="adj" fmla="val 8000"/>
            </a:avLst>
          </a:prstGeom>
          <a:solidFill>
            <a:schemeClr val="tx2"/>
          </a:solidFill>
          <a:ln/>
        </p:spPr>
        <p:txBody>
          <a:bodyPr/>
          <a:p/>
        </p:txBody>
      </p:sp>
      <p:sp>
        <p:nvSpPr>
          <p:cNvPr id="40" name="Text 38"/>
          <p:cNvSpPr txBox="1"/>
          <p:nvPr/>
        </p:nvSpPr>
        <p:spPr>
          <a:xfrm>
            <a:off x="9341968" y="5138928"/>
            <a:ext cx="2072488" cy="438912"/>
          </a:xfrm>
          <a:prstGeom prst="rect">
            <a:avLst/>
          </a:prstGeom>
          <a:noFill/>
          <a:ln/>
        </p:spPr>
        <p:txBody>
          <a:bodyPr wrap="square" lIns="0" tIns="0" rIns="0" bIns="0" rtlCol="0" anchor="ctr"/>
          <a:lstStyle/>
          <a:p>
            <a:pPr indent="0" marL="0">
              <a:buNone/>
            </a:pPr>
            <a:r>
              <a:rPr lang="en-US" sz="2800" b="1" dirty="0">
                <a:solidFill>
                  <a:schemeClr val="accent1"/>
                </a:solidFill>
              </a:rPr>
              <a:t>1</a:t>
            </a:r>
            <a:endParaRPr lang="en-US" sz="2800" dirty="0"/>
          </a:p>
        </p:txBody>
      </p:sp>
      <p:sp>
        <p:nvSpPr>
          <p:cNvPr id="41" name="Text 39"/>
          <p:cNvSpPr txBox="1"/>
          <p:nvPr/>
        </p:nvSpPr>
        <p:spPr>
          <a:xfrm>
            <a:off x="9341968" y="5586984"/>
            <a:ext cx="2072488" cy="347472"/>
          </a:xfrm>
          <a:prstGeom prst="rect">
            <a:avLst/>
          </a:prstGeom>
          <a:noFill/>
          <a:ln/>
        </p:spPr>
        <p:txBody>
          <a:bodyPr wrap="square" lIns="0" tIns="0" rIns="0" bIns="0" rtlCol="0" anchor="t"/>
          <a:lstStyle/>
          <a:p>
            <a:pPr indent="0" marL="0">
              <a:buNone/>
            </a:pPr>
            <a:r>
              <a:rPr lang="en-US" sz="1050" dirty="0">
                <a:solidFill>
                  <a:schemeClr val="bg2"/>
                </a:solidFill>
              </a:rPr>
              <a:t>command rebuilds everything from public sources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3"/>
                </a:solidFill>
              </a:rPr>
              <a:t>CORE BENCHMARK TABLES</a:t>
            </a:r>
            <a:endParaRPr lang="en-US" sz="1100" dirty="0"/>
          </a:p>
        </p:txBody>
      </p:sp>
      <p:sp>
        <p:nvSpPr>
          <p:cNvPr id="3" name="Text 2"/>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2600" b="1" dirty="0">
                <a:solidFill>
                  <a:schemeClr val="tx1"/>
                </a:solidFill>
              </a:rPr>
              <a:t>Core tables: ingestion, quality audit and ground-truth policy</a:t>
            </a:r>
            <a:endParaRPr lang="en-US" sz="2600" dirty="0"/>
          </a:p>
        </p:txBody>
      </p:sp>
      <p:sp>
        <p:nvSpPr>
          <p:cNvPr id="5" name="Metric card 1"/>
          <p:cNvSpPr/>
          <p:nvPr/>
        </p:nvSpPr>
        <p:spPr>
          <a:xfrm>
            <a:off x="548640" y="1417320"/>
            <a:ext cx="2636444" cy="1234440"/>
          </a:xfrm>
          <a:prstGeom prst="roundRect">
            <a:avLst>
              <a:gd name="adj" fmla="val 5926"/>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6" name="Text 4"/>
          <p:cNvSpPr txBox="1"/>
          <p:nvPr/>
        </p:nvSpPr>
        <p:spPr>
          <a:xfrm>
            <a:off x="749808" y="1508760"/>
            <a:ext cx="2234108" cy="457200"/>
          </a:xfrm>
          <a:prstGeom prst="rect">
            <a:avLst/>
          </a:prstGeom>
          <a:noFill/>
          <a:ln/>
        </p:spPr>
        <p:txBody>
          <a:bodyPr wrap="square" lIns="0" tIns="0" rIns="0" bIns="0" rtlCol="0" anchor="ctr"/>
          <a:lstStyle/>
          <a:p>
            <a:pPr indent="0" marL="0">
              <a:buNone/>
            </a:pPr>
            <a:r>
              <a:rPr lang="en-US" sz="3000" b="1" dirty="0">
                <a:solidFill>
                  <a:schemeClr val="accent3"/>
                </a:solidFill>
              </a:rPr>
              <a:t>5</a:t>
            </a:r>
            <a:endParaRPr lang="en-US" sz="3000" dirty="0"/>
          </a:p>
        </p:txBody>
      </p:sp>
      <p:sp>
        <p:nvSpPr>
          <p:cNvPr id="7" name="Text 5"/>
          <p:cNvSpPr txBox="1"/>
          <p:nvPr/>
        </p:nvSpPr>
        <p:spPr>
          <a:xfrm>
            <a:off x="749808" y="1984248"/>
            <a:ext cx="2234108" cy="228600"/>
          </a:xfrm>
          <a:prstGeom prst="rect">
            <a:avLst/>
          </a:prstGeom>
          <a:noFill/>
          <a:ln/>
        </p:spPr>
        <p:txBody>
          <a:bodyPr wrap="square" lIns="0" tIns="0" rIns="0" bIns="0" rtlCol="0" anchor="ctr"/>
          <a:lstStyle/>
          <a:p>
            <a:pPr indent="0" marL="0">
              <a:buNone/>
            </a:pPr>
            <a:r>
              <a:rPr lang="en-US" sz="1200" b="1" dirty="0">
                <a:solidFill>
                  <a:schemeClr val="tx1"/>
                </a:solidFill>
              </a:rPr>
              <a:t>core tables</a:t>
            </a:r>
            <a:endParaRPr lang="en-US" sz="1200" dirty="0"/>
          </a:p>
        </p:txBody>
      </p:sp>
      <p:sp>
        <p:nvSpPr>
          <p:cNvPr id="8" name="Text 6"/>
          <p:cNvSpPr txBox="1"/>
          <p:nvPr/>
        </p:nvSpPr>
        <p:spPr>
          <a:xfrm>
            <a:off x="749808" y="2221992"/>
            <a:ext cx="2234108" cy="329184"/>
          </a:xfrm>
          <a:prstGeom prst="rect">
            <a:avLst/>
          </a:prstGeom>
          <a:noFill/>
          <a:ln/>
        </p:spPr>
        <p:txBody>
          <a:bodyPr wrap="square" lIns="0" tIns="0" rIns="0" bIns="0" rtlCol="0" anchor="t"/>
          <a:lstStyle/>
          <a:p>
            <a:pPr indent="0" marL="0">
              <a:buNone/>
            </a:pPr>
            <a:r>
              <a:rPr lang="en-US" sz="1050" dirty="0">
                <a:solidFill>
                  <a:schemeClr val="accent6"/>
                </a:solidFill>
              </a:rPr>
              <a:t>Hospital · Flights · Beers · Rayyan · Movies</a:t>
            </a:r>
            <a:endParaRPr lang="en-US" sz="1050" dirty="0"/>
          </a:p>
        </p:txBody>
      </p:sp>
      <p:sp>
        <p:nvSpPr>
          <p:cNvPr id="9" name="Metric card 2"/>
          <p:cNvSpPr/>
          <p:nvPr/>
        </p:nvSpPr>
        <p:spPr>
          <a:xfrm>
            <a:off x="3367964" y="1417320"/>
            <a:ext cx="2636444" cy="1234440"/>
          </a:xfrm>
          <a:prstGeom prst="roundRect">
            <a:avLst>
              <a:gd name="adj" fmla="val 5926"/>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10" name="Text 8"/>
          <p:cNvSpPr txBox="1"/>
          <p:nvPr/>
        </p:nvSpPr>
        <p:spPr>
          <a:xfrm>
            <a:off x="3569132" y="1508760"/>
            <a:ext cx="2234108" cy="457200"/>
          </a:xfrm>
          <a:prstGeom prst="rect">
            <a:avLst/>
          </a:prstGeom>
          <a:noFill/>
          <a:ln/>
        </p:spPr>
        <p:txBody>
          <a:bodyPr wrap="square" lIns="0" tIns="0" rIns="0" bIns="0" rtlCol="0" anchor="ctr"/>
          <a:lstStyle/>
          <a:p>
            <a:pPr indent="0" marL="0">
              <a:buNone/>
            </a:pPr>
            <a:r>
              <a:rPr lang="en-US" sz="3000" b="1" dirty="0">
                <a:solidFill>
                  <a:schemeClr val="accent3"/>
                </a:solidFill>
              </a:rPr>
              <a:t>193,986</a:t>
            </a:r>
            <a:endParaRPr lang="en-US" sz="3000" dirty="0"/>
          </a:p>
        </p:txBody>
      </p:sp>
      <p:sp>
        <p:nvSpPr>
          <p:cNvPr id="11" name="Text 9"/>
          <p:cNvSpPr txBox="1"/>
          <p:nvPr/>
        </p:nvSpPr>
        <p:spPr>
          <a:xfrm>
            <a:off x="3569132" y="1984248"/>
            <a:ext cx="2234108" cy="228600"/>
          </a:xfrm>
          <a:prstGeom prst="rect">
            <a:avLst/>
          </a:prstGeom>
          <a:noFill/>
          <a:ln/>
        </p:spPr>
        <p:txBody>
          <a:bodyPr wrap="square" lIns="0" tIns="0" rIns="0" bIns="0" rtlCol="0" anchor="ctr"/>
          <a:lstStyle/>
          <a:p>
            <a:pPr indent="0" marL="0">
              <a:buNone/>
            </a:pPr>
            <a:r>
              <a:rPr lang="en-US" sz="1200" b="1" dirty="0">
                <a:solidFill>
                  <a:schemeClr val="tx1"/>
                </a:solidFill>
              </a:rPr>
              <a:t>total cells</a:t>
            </a:r>
            <a:endParaRPr lang="en-US" sz="1200" dirty="0"/>
          </a:p>
        </p:txBody>
      </p:sp>
      <p:sp>
        <p:nvSpPr>
          <p:cNvPr id="12" name="Text 10"/>
          <p:cNvSpPr txBox="1"/>
          <p:nvPr/>
        </p:nvSpPr>
        <p:spPr>
          <a:xfrm>
            <a:off x="3569132" y="2221992"/>
            <a:ext cx="2234108" cy="329184"/>
          </a:xfrm>
          <a:prstGeom prst="rect">
            <a:avLst/>
          </a:prstGeom>
          <a:noFill/>
          <a:ln/>
        </p:spPr>
        <p:txBody>
          <a:bodyPr wrap="square" lIns="0" tIns="0" rIns="0" bIns="0" rtlCol="0" anchor="t"/>
          <a:lstStyle/>
          <a:p>
            <a:pPr indent="0" marL="0">
              <a:buNone/>
            </a:pPr>
            <a:r>
              <a:rPr lang="en-US" sz="1050" dirty="0">
                <a:solidFill>
                  <a:schemeClr val="accent6"/>
                </a:solidFill>
              </a:rPr>
              <a:t>14,176 rows across 63 data columns</a:t>
            </a:r>
            <a:endParaRPr lang="en-US" sz="1050" dirty="0"/>
          </a:p>
        </p:txBody>
      </p:sp>
      <p:sp>
        <p:nvSpPr>
          <p:cNvPr id="13" name="Metric card 3"/>
          <p:cNvSpPr/>
          <p:nvPr/>
        </p:nvSpPr>
        <p:spPr>
          <a:xfrm>
            <a:off x="6187288" y="1417320"/>
            <a:ext cx="2636444" cy="1234440"/>
          </a:xfrm>
          <a:prstGeom prst="roundRect">
            <a:avLst>
              <a:gd name="adj" fmla="val 5926"/>
            </a:avLst>
          </a:prstGeom>
          <a:solidFill>
            <a:schemeClr val="tx1"/>
          </a:solidFill>
          <a:ln/>
        </p:spPr>
        <p:txBody>
          <a:bodyPr/>
          <a:p/>
        </p:txBody>
      </p:sp>
      <p:sp>
        <p:nvSpPr>
          <p:cNvPr id="14" name="Text 12"/>
          <p:cNvSpPr txBox="1"/>
          <p:nvPr/>
        </p:nvSpPr>
        <p:spPr>
          <a:xfrm>
            <a:off x="6388456" y="1508760"/>
            <a:ext cx="2234108" cy="457200"/>
          </a:xfrm>
          <a:prstGeom prst="rect">
            <a:avLst/>
          </a:prstGeom>
          <a:noFill/>
          <a:ln/>
        </p:spPr>
        <p:txBody>
          <a:bodyPr wrap="square" lIns="0" tIns="0" rIns="0" bIns="0" rtlCol="0" anchor="ctr"/>
          <a:lstStyle/>
          <a:p>
            <a:pPr indent="0" marL="0">
              <a:buNone/>
            </a:pPr>
            <a:r>
              <a:rPr lang="en-US" sz="3000" b="1" dirty="0">
                <a:solidFill>
                  <a:schemeClr val="accent1"/>
                </a:solidFill>
              </a:rPr>
              <a:t>18,414</a:t>
            </a:r>
            <a:endParaRPr lang="en-US" sz="3000" dirty="0"/>
          </a:p>
        </p:txBody>
      </p:sp>
      <p:sp>
        <p:nvSpPr>
          <p:cNvPr id="15" name="Text 13"/>
          <p:cNvSpPr txBox="1"/>
          <p:nvPr/>
        </p:nvSpPr>
        <p:spPr>
          <a:xfrm>
            <a:off x="6388456" y="1984248"/>
            <a:ext cx="2234108" cy="228600"/>
          </a:xfrm>
          <a:prstGeom prst="rect">
            <a:avLst/>
          </a:prstGeom>
          <a:noFill/>
          <a:ln/>
        </p:spPr>
        <p:txBody>
          <a:bodyPr wrap="square" lIns="0" tIns="0" rIns="0" bIns="0" rtlCol="0" anchor="ctr"/>
          <a:lstStyle/>
          <a:p>
            <a:pPr indent="0" marL="0">
              <a:buNone/>
            </a:pPr>
            <a:r>
              <a:rPr lang="en-US" sz="1200" b="1" dirty="0">
                <a:solidFill>
                  <a:schemeClr val="bg2"/>
                </a:solidFill>
              </a:rPr>
              <a:t>true errors (9.49%)</a:t>
            </a:r>
            <a:endParaRPr lang="en-US" sz="1200" dirty="0"/>
          </a:p>
        </p:txBody>
      </p:sp>
      <p:sp>
        <p:nvSpPr>
          <p:cNvPr id="16" name="Text 14"/>
          <p:cNvSpPr txBox="1"/>
          <p:nvPr/>
        </p:nvSpPr>
        <p:spPr>
          <a:xfrm>
            <a:off x="6388456" y="2221992"/>
            <a:ext cx="2234108" cy="329184"/>
          </a:xfrm>
          <a:prstGeom prst="rect">
            <a:avLst/>
          </a:prstGeom>
          <a:noFill/>
          <a:ln/>
        </p:spPr>
        <p:txBody>
          <a:bodyPr wrap="square" lIns="0" tIns="0" rIns="0" bIns="0" rtlCol="0" anchor="t"/>
          <a:lstStyle/>
          <a:p>
            <a:pPr indent="0" marL="0">
              <a:buNone/>
            </a:pPr>
            <a:r>
              <a:rPr lang="en-US" sz="1050" dirty="0">
                <a:solidFill>
                  <a:schemeClr val="bg2"/>
                </a:solidFill>
              </a:rPr>
              <a:t>Exact match to the M1 audit</a:t>
            </a:r>
            <a:endParaRPr lang="en-US" sz="1050" dirty="0"/>
          </a:p>
        </p:txBody>
      </p:sp>
      <p:sp>
        <p:nvSpPr>
          <p:cNvPr id="17" name="Metric card 4"/>
          <p:cNvSpPr/>
          <p:nvPr/>
        </p:nvSpPr>
        <p:spPr>
          <a:xfrm>
            <a:off x="9006611" y="1417320"/>
            <a:ext cx="2636444" cy="1234440"/>
          </a:xfrm>
          <a:prstGeom prst="roundRect">
            <a:avLst>
              <a:gd name="adj" fmla="val 5926"/>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18" name="Text 16"/>
          <p:cNvSpPr txBox="1"/>
          <p:nvPr/>
        </p:nvSpPr>
        <p:spPr>
          <a:xfrm>
            <a:off x="9207779" y="1508760"/>
            <a:ext cx="2234108" cy="457200"/>
          </a:xfrm>
          <a:prstGeom prst="rect">
            <a:avLst/>
          </a:prstGeom>
          <a:noFill/>
          <a:ln/>
        </p:spPr>
        <p:txBody>
          <a:bodyPr wrap="square" lIns="0" tIns="0" rIns="0" bIns="0" rtlCol="0" anchor="ctr"/>
          <a:lstStyle/>
          <a:p>
            <a:pPr indent="0" marL="0">
              <a:buNone/>
            </a:pPr>
            <a:r>
              <a:rPr lang="en-US" sz="3000" b="1" dirty="0">
                <a:solidFill>
                  <a:schemeClr val="accent3"/>
                </a:solidFill>
              </a:rPr>
              <a:t>100%</a:t>
            </a:r>
            <a:endParaRPr lang="en-US" sz="3000" dirty="0"/>
          </a:p>
        </p:txBody>
      </p:sp>
      <p:sp>
        <p:nvSpPr>
          <p:cNvPr id="19" name="Text 17"/>
          <p:cNvSpPr txBox="1"/>
          <p:nvPr/>
        </p:nvSpPr>
        <p:spPr>
          <a:xfrm>
            <a:off x="9207779" y="1984248"/>
            <a:ext cx="2234108" cy="228600"/>
          </a:xfrm>
          <a:prstGeom prst="rect">
            <a:avLst/>
          </a:prstGeom>
          <a:noFill/>
          <a:ln/>
        </p:spPr>
        <p:txBody>
          <a:bodyPr wrap="square" lIns="0" tIns="0" rIns="0" bIns="0" rtlCol="0" anchor="ctr"/>
          <a:lstStyle/>
          <a:p>
            <a:pPr indent="0" marL="0">
              <a:buNone/>
            </a:pPr>
            <a:r>
              <a:rPr lang="en-US" sz="1200" b="1" dirty="0">
                <a:solidFill>
                  <a:schemeClr val="tx1"/>
                </a:solidFill>
              </a:rPr>
              <a:t>deterministic</a:t>
            </a:r>
            <a:endParaRPr lang="en-US" sz="1200" dirty="0"/>
          </a:p>
        </p:txBody>
      </p:sp>
      <p:sp>
        <p:nvSpPr>
          <p:cNvPr id="20" name="Text 18"/>
          <p:cNvSpPr txBox="1"/>
          <p:nvPr/>
        </p:nvSpPr>
        <p:spPr>
          <a:xfrm>
            <a:off x="9207779" y="2221992"/>
            <a:ext cx="2234108" cy="329184"/>
          </a:xfrm>
          <a:prstGeom prst="rect">
            <a:avLst/>
          </a:prstGeom>
          <a:noFill/>
          <a:ln/>
        </p:spPr>
        <p:txBody>
          <a:bodyPr wrap="square" lIns="0" tIns="0" rIns="0" bIns="0" rtlCol="0" anchor="t"/>
          <a:lstStyle/>
          <a:p>
            <a:pPr indent="0" marL="0">
              <a:buNone/>
            </a:pPr>
            <a:r>
              <a:rPr lang="en-US" sz="1050" dirty="0">
                <a:solidFill>
                  <a:schemeClr val="accent6"/>
                </a:solidFill>
              </a:rPr>
              <a:t>Pinned Raha commit 7be1334b8c, SHA-256 verified</a:t>
            </a:r>
            <a:endParaRPr lang="en-US" sz="1050" dirty="0"/>
          </a:p>
        </p:txBody>
      </p:sp>
      <p:sp>
        <p:nvSpPr>
          <p:cNvPr id="21" name="Core table card"/>
          <p:cNvSpPr/>
          <p:nvPr/>
        </p:nvSpPr>
        <p:spPr>
          <a:xfrm>
            <a:off x="548640" y="2834640"/>
            <a:ext cx="6949440" cy="3246120"/>
          </a:xfrm>
          <a:prstGeom prst="roundRect">
            <a:avLst>
              <a:gd name="adj" fmla="val 2254"/>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22" name="Text 20"/>
          <p:cNvSpPr txBox="1"/>
          <p:nvPr/>
        </p:nvSpPr>
        <p:spPr>
          <a:xfrm>
            <a:off x="731520" y="2834640"/>
            <a:ext cx="868680" cy="365760"/>
          </a:xfrm>
          <a:prstGeom prst="rect">
            <a:avLst/>
          </a:prstGeom>
          <a:noFill/>
          <a:ln/>
        </p:spPr>
        <p:txBody>
          <a:bodyPr wrap="square" lIns="0" tIns="0" rIns="0" bIns="0" rtlCol="0" anchor="ctr"/>
          <a:lstStyle/>
          <a:p>
            <a:pPr algn="l" indent="0" marL="0">
              <a:buNone/>
            </a:pPr>
            <a:r>
              <a:rPr lang="en-US" sz="1000" b="1" spc="100" kern="0" dirty="0">
                <a:solidFill>
                  <a:schemeClr val="accent6"/>
                </a:solidFill>
              </a:rPr>
              <a:t>TABLE</a:t>
            </a:r>
            <a:endParaRPr lang="en-US" sz="1000" dirty="0"/>
          </a:p>
        </p:txBody>
      </p:sp>
      <p:sp>
        <p:nvSpPr>
          <p:cNvPr id="23" name="Text 21"/>
          <p:cNvSpPr txBox="1"/>
          <p:nvPr/>
        </p:nvSpPr>
        <p:spPr>
          <a:xfrm>
            <a:off x="1600200" y="2834640"/>
            <a:ext cx="777240" cy="365760"/>
          </a:xfrm>
          <a:prstGeom prst="rect">
            <a:avLst/>
          </a:prstGeom>
          <a:noFill/>
          <a:ln/>
        </p:spPr>
        <p:txBody>
          <a:bodyPr wrap="square" lIns="0" tIns="0" rIns="0" bIns="0" rtlCol="0" anchor="ctr"/>
          <a:lstStyle/>
          <a:p>
            <a:pPr algn="r" indent="0" marL="0">
              <a:buNone/>
            </a:pPr>
            <a:r>
              <a:rPr lang="en-US" sz="1000" b="1" spc="100" kern="0" dirty="0">
                <a:solidFill>
                  <a:schemeClr val="accent6"/>
                </a:solidFill>
              </a:rPr>
              <a:t>SIZE</a:t>
            </a:r>
            <a:endParaRPr lang="en-US" sz="1000" dirty="0"/>
          </a:p>
        </p:txBody>
      </p:sp>
      <p:sp>
        <p:nvSpPr>
          <p:cNvPr id="24" name="Text 22"/>
          <p:cNvSpPr txBox="1"/>
          <p:nvPr/>
        </p:nvSpPr>
        <p:spPr>
          <a:xfrm>
            <a:off x="2514600" y="2834640"/>
            <a:ext cx="548640" cy="365760"/>
          </a:xfrm>
          <a:prstGeom prst="rect">
            <a:avLst/>
          </a:prstGeom>
          <a:noFill/>
          <a:ln/>
        </p:spPr>
        <p:txBody>
          <a:bodyPr wrap="square" lIns="0" tIns="0" rIns="0" bIns="0" rtlCol="0" anchor="ctr"/>
          <a:lstStyle/>
          <a:p>
            <a:pPr algn="r" indent="0" marL="0">
              <a:buNone/>
            </a:pPr>
            <a:r>
              <a:rPr lang="en-US" sz="1000" b="1" spc="100" kern="0" dirty="0">
                <a:solidFill>
                  <a:schemeClr val="accent6"/>
                </a:solidFill>
              </a:rPr>
              <a:t>ERRORS</a:t>
            </a:r>
            <a:endParaRPr lang="en-US" sz="1000" dirty="0"/>
          </a:p>
        </p:txBody>
      </p:sp>
      <p:sp>
        <p:nvSpPr>
          <p:cNvPr id="25" name="Text 23"/>
          <p:cNvSpPr txBox="1"/>
          <p:nvPr/>
        </p:nvSpPr>
        <p:spPr>
          <a:xfrm>
            <a:off x="3337560" y="2834640"/>
            <a:ext cx="1463040" cy="365760"/>
          </a:xfrm>
          <a:prstGeom prst="rect">
            <a:avLst/>
          </a:prstGeom>
          <a:noFill/>
          <a:ln/>
        </p:spPr>
        <p:txBody>
          <a:bodyPr wrap="square" lIns="0" tIns="0" rIns="0" bIns="0" rtlCol="0" anchor="ctr"/>
          <a:lstStyle/>
          <a:p>
            <a:pPr algn="l" indent="0" marL="0">
              <a:buNone/>
            </a:pPr>
            <a:r>
              <a:rPr lang="en-US" sz="1000" b="1" spc="100" kern="0" dirty="0">
                <a:solidFill>
                  <a:schemeClr val="accent6"/>
                </a:solidFill>
              </a:rPr>
              <a:t>ERROR RATE</a:t>
            </a:r>
            <a:endParaRPr lang="en-US" sz="1000" dirty="0"/>
          </a:p>
        </p:txBody>
      </p:sp>
      <p:sp>
        <p:nvSpPr>
          <p:cNvPr id="26" name="Text 24"/>
          <p:cNvSpPr txBox="1"/>
          <p:nvPr/>
        </p:nvSpPr>
        <p:spPr>
          <a:xfrm>
            <a:off x="4846320" y="2834640"/>
            <a:ext cx="2468880" cy="365760"/>
          </a:xfrm>
          <a:prstGeom prst="rect">
            <a:avLst/>
          </a:prstGeom>
          <a:noFill/>
          <a:ln/>
        </p:spPr>
        <p:txBody>
          <a:bodyPr wrap="square" lIns="0" tIns="0" rIns="0" bIns="0" rtlCol="0" anchor="ctr"/>
          <a:lstStyle/>
          <a:p>
            <a:pPr algn="l" indent="0" marL="0">
              <a:buNone/>
            </a:pPr>
            <a:r>
              <a:rPr lang="en-US" sz="1000" b="1" spc="100" kern="0" dirty="0">
                <a:solidFill>
                  <a:schemeClr val="accent6"/>
                </a:solidFill>
              </a:rPr>
              <a:t>WHAT THE ERRORS ARE</a:t>
            </a:r>
            <a:endParaRPr lang="en-US" sz="1000" dirty="0"/>
          </a:p>
        </p:txBody>
      </p:sp>
      <p:sp>
        <p:nvSpPr>
          <p:cNvPr id="27" name="Divider"/>
          <p:cNvSpPr/>
          <p:nvPr/>
        </p:nvSpPr>
        <p:spPr>
          <a:xfrm>
            <a:off x="731520" y="3200400"/>
            <a:ext cx="6583680" cy="0"/>
          </a:xfrm>
          <a:prstGeom prst="line">
            <a:avLst/>
          </a:prstGeom>
          <a:noFill/>
          <a:ln w="9525">
            <a:solidFill>
              <a:schemeClr val="accent4"/>
            </a:solidFill>
            <a:prstDash val="solid"/>
          </a:ln>
        </p:spPr>
        <p:txBody>
          <a:bodyPr/>
          <a:p/>
        </p:txBody>
      </p:sp>
      <p:sp>
        <p:nvSpPr>
          <p:cNvPr id="28" name="Text 26"/>
          <p:cNvSpPr txBox="1"/>
          <p:nvPr/>
        </p:nvSpPr>
        <p:spPr>
          <a:xfrm>
            <a:off x="731520" y="3200400"/>
            <a:ext cx="868680" cy="576072"/>
          </a:xfrm>
          <a:prstGeom prst="rect">
            <a:avLst/>
          </a:prstGeom>
          <a:noFill/>
          <a:ln/>
        </p:spPr>
        <p:txBody>
          <a:bodyPr wrap="square" lIns="0" tIns="0" rIns="0" bIns="0" rtlCol="0" anchor="ctr"/>
          <a:lstStyle/>
          <a:p>
            <a:pPr indent="0" marL="0">
              <a:buNone/>
            </a:pPr>
            <a:r>
              <a:rPr lang="en-US" sz="1250" b="1" dirty="0">
                <a:solidFill>
                  <a:schemeClr val="tx1"/>
                </a:solidFill>
              </a:rPr>
              <a:t>Hospital</a:t>
            </a:r>
            <a:endParaRPr lang="en-US" sz="1250" dirty="0"/>
          </a:p>
        </p:txBody>
      </p:sp>
      <p:sp>
        <p:nvSpPr>
          <p:cNvPr id="29" name="Text 27"/>
          <p:cNvSpPr txBox="1"/>
          <p:nvPr/>
        </p:nvSpPr>
        <p:spPr>
          <a:xfrm>
            <a:off x="1600200" y="3200400"/>
            <a:ext cx="777240" cy="576072"/>
          </a:xfrm>
          <a:prstGeom prst="rect">
            <a:avLst/>
          </a:prstGeom>
          <a:noFill/>
          <a:ln/>
        </p:spPr>
        <p:txBody>
          <a:bodyPr wrap="square" lIns="0" tIns="0" rIns="0" bIns="0" rtlCol="0" anchor="ctr"/>
          <a:lstStyle/>
          <a:p>
            <a:pPr algn="r" indent="0" marL="0">
              <a:buNone/>
            </a:pPr>
            <a:r>
              <a:rPr lang="en-US" sz="1150" dirty="0">
                <a:solidFill>
                  <a:schemeClr val="tx1"/>
                </a:solidFill>
              </a:rPr>
              <a:t>1,000 × 19</a:t>
            </a:r>
            <a:endParaRPr lang="en-US" sz="1150" dirty="0"/>
          </a:p>
        </p:txBody>
      </p:sp>
      <p:sp>
        <p:nvSpPr>
          <p:cNvPr id="30" name="Text 28"/>
          <p:cNvSpPr txBox="1"/>
          <p:nvPr/>
        </p:nvSpPr>
        <p:spPr>
          <a:xfrm>
            <a:off x="2514600" y="3200400"/>
            <a:ext cx="548640" cy="576072"/>
          </a:xfrm>
          <a:prstGeom prst="rect">
            <a:avLst/>
          </a:prstGeom>
          <a:noFill/>
          <a:ln/>
        </p:spPr>
        <p:txBody>
          <a:bodyPr wrap="square" lIns="0" tIns="0" rIns="0" bIns="0" rtlCol="0" anchor="ctr"/>
          <a:lstStyle/>
          <a:p>
            <a:pPr algn="r" indent="0" marL="0">
              <a:buNone/>
            </a:pPr>
            <a:r>
              <a:rPr lang="en-US" sz="1200" b="1" dirty="0">
                <a:solidFill>
                  <a:schemeClr val="tx1"/>
                </a:solidFill>
              </a:rPr>
              <a:t>509</a:t>
            </a:r>
            <a:endParaRPr lang="en-US" sz="1200" dirty="0"/>
          </a:p>
        </p:txBody>
      </p:sp>
      <p:sp>
        <p:nvSpPr>
          <p:cNvPr id="31" name="Rate bar Hospital track"/>
          <p:cNvSpPr/>
          <p:nvPr/>
        </p:nvSpPr>
        <p:spPr>
          <a:xfrm>
            <a:off x="3337560" y="3424428"/>
            <a:ext cx="868680" cy="128016"/>
          </a:xfrm>
          <a:prstGeom prst="rect">
            <a:avLst/>
          </a:prstGeom>
          <a:solidFill>
            <a:schemeClr val="bg2"/>
          </a:solidFill>
          <a:ln/>
        </p:spPr>
        <p:txBody>
          <a:bodyPr/>
          <a:p/>
        </p:txBody>
      </p:sp>
      <p:sp>
        <p:nvSpPr>
          <p:cNvPr id="32" name="Rate bar Hospital fill"/>
          <p:cNvSpPr/>
          <p:nvPr/>
        </p:nvSpPr>
        <p:spPr>
          <a:xfrm>
            <a:off x="3337560" y="3424428"/>
            <a:ext cx="58202" cy="128016"/>
          </a:xfrm>
          <a:prstGeom prst="rect">
            <a:avLst/>
          </a:prstGeom>
          <a:solidFill>
            <a:schemeClr val="accent3"/>
          </a:solidFill>
          <a:ln/>
        </p:spPr>
        <p:txBody>
          <a:bodyPr/>
          <a:p/>
        </p:txBody>
      </p:sp>
      <p:sp>
        <p:nvSpPr>
          <p:cNvPr id="33" name="Text 31"/>
          <p:cNvSpPr txBox="1"/>
          <p:nvPr/>
        </p:nvSpPr>
        <p:spPr>
          <a:xfrm>
            <a:off x="4270248" y="3200400"/>
            <a:ext cx="548640" cy="576072"/>
          </a:xfrm>
          <a:prstGeom prst="rect">
            <a:avLst/>
          </a:prstGeom>
          <a:noFill/>
          <a:ln/>
        </p:spPr>
        <p:txBody>
          <a:bodyPr wrap="square" lIns="0" tIns="0" rIns="0" bIns="0" rtlCol="0" anchor="ctr"/>
          <a:lstStyle/>
          <a:p>
            <a:pPr indent="0" marL="0">
              <a:buNone/>
            </a:pPr>
            <a:r>
              <a:rPr lang="en-US" sz="1150" b="1" dirty="0">
                <a:solidFill>
                  <a:schemeClr val="accent3"/>
                </a:solidFill>
              </a:rPr>
              <a:t>2.68%</a:t>
            </a:r>
            <a:endParaRPr lang="en-US" sz="1150" dirty="0"/>
          </a:p>
        </p:txBody>
      </p:sp>
      <p:sp>
        <p:nvSpPr>
          <p:cNvPr id="34" name="Text 32"/>
          <p:cNvSpPr txBox="1"/>
          <p:nvPr/>
        </p:nvSpPr>
        <p:spPr>
          <a:xfrm>
            <a:off x="4846320" y="3200400"/>
            <a:ext cx="2468880" cy="576072"/>
          </a:xfrm>
          <a:prstGeom prst="rect">
            <a:avLst/>
          </a:prstGeom>
          <a:noFill/>
          <a:ln/>
        </p:spPr>
        <p:txBody>
          <a:bodyPr wrap="square" lIns="0" tIns="0" rIns="0" bIns="0" rtlCol="0" anchor="ctr"/>
          <a:lstStyle/>
          <a:p>
            <a:pPr indent="0" marL="0">
              <a:buNone/>
            </a:pPr>
            <a:r>
              <a:rPr lang="en-US" sz="1100" dirty="0">
                <a:solidFill>
                  <a:schemeClr val="tx1"/>
                </a:solidFill>
              </a:rPr>
              <a:t>408 rule, 101 pattern; clinical measure columns</a:t>
            </a:r>
            <a:endParaRPr lang="en-US" sz="1100" dirty="0"/>
          </a:p>
        </p:txBody>
      </p:sp>
      <p:sp>
        <p:nvSpPr>
          <p:cNvPr id="35" name="Divider"/>
          <p:cNvSpPr/>
          <p:nvPr/>
        </p:nvSpPr>
        <p:spPr>
          <a:xfrm>
            <a:off x="731520" y="3776472"/>
            <a:ext cx="6583680" cy="0"/>
          </a:xfrm>
          <a:prstGeom prst="line">
            <a:avLst/>
          </a:prstGeom>
          <a:noFill/>
          <a:ln w="9525">
            <a:solidFill>
              <a:schemeClr val="accent4"/>
            </a:solidFill>
            <a:prstDash val="solid"/>
          </a:ln>
        </p:spPr>
        <p:txBody>
          <a:bodyPr/>
          <a:p/>
        </p:txBody>
      </p:sp>
      <p:sp>
        <p:nvSpPr>
          <p:cNvPr id="36" name="Text 34"/>
          <p:cNvSpPr txBox="1"/>
          <p:nvPr/>
        </p:nvSpPr>
        <p:spPr>
          <a:xfrm>
            <a:off x="731520" y="3776472"/>
            <a:ext cx="868680" cy="576072"/>
          </a:xfrm>
          <a:prstGeom prst="rect">
            <a:avLst/>
          </a:prstGeom>
          <a:noFill/>
          <a:ln/>
        </p:spPr>
        <p:txBody>
          <a:bodyPr wrap="square" lIns="0" tIns="0" rIns="0" bIns="0" rtlCol="0" anchor="ctr"/>
          <a:lstStyle/>
          <a:p>
            <a:pPr indent="0" marL="0">
              <a:buNone/>
            </a:pPr>
            <a:r>
              <a:rPr lang="en-US" sz="1250" b="1" dirty="0">
                <a:solidFill>
                  <a:schemeClr val="tx1"/>
                </a:solidFill>
              </a:rPr>
              <a:t>Flights</a:t>
            </a:r>
            <a:endParaRPr lang="en-US" sz="1250" dirty="0"/>
          </a:p>
        </p:txBody>
      </p:sp>
      <p:sp>
        <p:nvSpPr>
          <p:cNvPr id="37" name="Text 35"/>
          <p:cNvSpPr txBox="1"/>
          <p:nvPr/>
        </p:nvSpPr>
        <p:spPr>
          <a:xfrm>
            <a:off x="1600200" y="3776472"/>
            <a:ext cx="777240" cy="576072"/>
          </a:xfrm>
          <a:prstGeom prst="rect">
            <a:avLst/>
          </a:prstGeom>
          <a:noFill/>
          <a:ln/>
        </p:spPr>
        <p:txBody>
          <a:bodyPr wrap="square" lIns="0" tIns="0" rIns="0" bIns="0" rtlCol="0" anchor="ctr"/>
          <a:lstStyle/>
          <a:p>
            <a:pPr algn="r" indent="0" marL="0">
              <a:buNone/>
            </a:pPr>
            <a:r>
              <a:rPr lang="en-US" sz="1150" dirty="0">
                <a:solidFill>
                  <a:schemeClr val="tx1"/>
                </a:solidFill>
              </a:rPr>
              <a:t>2,376 × 6</a:t>
            </a:r>
            <a:endParaRPr lang="en-US" sz="1150" dirty="0"/>
          </a:p>
        </p:txBody>
      </p:sp>
      <p:sp>
        <p:nvSpPr>
          <p:cNvPr id="38" name="Text 36"/>
          <p:cNvSpPr txBox="1"/>
          <p:nvPr/>
        </p:nvSpPr>
        <p:spPr>
          <a:xfrm>
            <a:off x="2514600" y="3776472"/>
            <a:ext cx="548640" cy="576072"/>
          </a:xfrm>
          <a:prstGeom prst="rect">
            <a:avLst/>
          </a:prstGeom>
          <a:noFill/>
          <a:ln/>
        </p:spPr>
        <p:txBody>
          <a:bodyPr wrap="square" lIns="0" tIns="0" rIns="0" bIns="0" rtlCol="0" anchor="ctr"/>
          <a:lstStyle/>
          <a:p>
            <a:pPr algn="r" indent="0" marL="0">
              <a:buNone/>
            </a:pPr>
            <a:r>
              <a:rPr lang="en-US" sz="1200" b="1" dirty="0">
                <a:solidFill>
                  <a:schemeClr val="tx1"/>
                </a:solidFill>
              </a:rPr>
              <a:t>4,920</a:t>
            </a:r>
            <a:endParaRPr lang="en-US" sz="1200" dirty="0"/>
          </a:p>
        </p:txBody>
      </p:sp>
      <p:sp>
        <p:nvSpPr>
          <p:cNvPr id="39" name="Rate bar Flights track"/>
          <p:cNvSpPr/>
          <p:nvPr/>
        </p:nvSpPr>
        <p:spPr>
          <a:xfrm>
            <a:off x="3337560" y="4000500"/>
            <a:ext cx="868680" cy="128016"/>
          </a:xfrm>
          <a:prstGeom prst="rect">
            <a:avLst/>
          </a:prstGeom>
          <a:solidFill>
            <a:schemeClr val="bg2"/>
          </a:solidFill>
          <a:ln/>
        </p:spPr>
        <p:txBody>
          <a:bodyPr/>
          <a:p/>
        </p:txBody>
      </p:sp>
      <p:sp>
        <p:nvSpPr>
          <p:cNvPr id="40" name="Rate bar Flights fill"/>
          <p:cNvSpPr/>
          <p:nvPr/>
        </p:nvSpPr>
        <p:spPr>
          <a:xfrm>
            <a:off x="3337560" y="4000500"/>
            <a:ext cx="749454" cy="128016"/>
          </a:xfrm>
          <a:prstGeom prst="rect">
            <a:avLst/>
          </a:prstGeom>
          <a:solidFill>
            <a:schemeClr val="accent3"/>
          </a:solidFill>
          <a:ln/>
        </p:spPr>
        <p:txBody>
          <a:bodyPr/>
          <a:p/>
        </p:txBody>
      </p:sp>
      <p:sp>
        <p:nvSpPr>
          <p:cNvPr id="41" name="Text 39"/>
          <p:cNvSpPr txBox="1"/>
          <p:nvPr/>
        </p:nvSpPr>
        <p:spPr>
          <a:xfrm>
            <a:off x="4270248" y="3776472"/>
            <a:ext cx="548640" cy="576072"/>
          </a:xfrm>
          <a:prstGeom prst="rect">
            <a:avLst/>
          </a:prstGeom>
          <a:noFill/>
          <a:ln/>
        </p:spPr>
        <p:txBody>
          <a:bodyPr wrap="square" lIns="0" tIns="0" rIns="0" bIns="0" rtlCol="0" anchor="ctr"/>
          <a:lstStyle/>
          <a:p>
            <a:pPr indent="0" marL="0">
              <a:buNone/>
            </a:pPr>
            <a:r>
              <a:rPr lang="en-US" sz="1150" b="1" dirty="0">
                <a:solidFill>
                  <a:schemeClr val="accent3"/>
                </a:solidFill>
              </a:rPr>
              <a:t>34.51%</a:t>
            </a:r>
            <a:endParaRPr lang="en-US" sz="1150" dirty="0"/>
          </a:p>
        </p:txBody>
      </p:sp>
      <p:sp>
        <p:nvSpPr>
          <p:cNvPr id="42" name="Text 40"/>
          <p:cNvSpPr txBox="1"/>
          <p:nvPr/>
        </p:nvSpPr>
        <p:spPr>
          <a:xfrm>
            <a:off x="4846320" y="3776472"/>
            <a:ext cx="2468880" cy="576072"/>
          </a:xfrm>
          <a:prstGeom prst="rect">
            <a:avLst/>
          </a:prstGeom>
          <a:noFill/>
          <a:ln/>
        </p:spPr>
        <p:txBody>
          <a:bodyPr wrap="square" lIns="0" tIns="0" rIns="0" bIns="0" rtlCol="0" anchor="ctr"/>
          <a:lstStyle/>
          <a:p>
            <a:pPr indent="0" marL="0">
              <a:buNone/>
            </a:pPr>
            <a:r>
              <a:rPr lang="en-US" sz="1100" dirty="0">
                <a:solidFill>
                  <a:schemeClr val="tx1"/>
                </a:solidFill>
              </a:rPr>
              <a:t>Time columns only (scheduled and actual departure and arrival)</a:t>
            </a:r>
            <a:endParaRPr lang="en-US" sz="1100" dirty="0"/>
          </a:p>
        </p:txBody>
      </p:sp>
      <p:sp>
        <p:nvSpPr>
          <p:cNvPr id="43" name="Divider"/>
          <p:cNvSpPr/>
          <p:nvPr/>
        </p:nvSpPr>
        <p:spPr>
          <a:xfrm>
            <a:off x="731520" y="4352544"/>
            <a:ext cx="6583680" cy="0"/>
          </a:xfrm>
          <a:prstGeom prst="line">
            <a:avLst/>
          </a:prstGeom>
          <a:noFill/>
          <a:ln w="9525">
            <a:solidFill>
              <a:schemeClr val="accent4"/>
            </a:solidFill>
            <a:prstDash val="solid"/>
          </a:ln>
        </p:spPr>
        <p:txBody>
          <a:bodyPr/>
          <a:p/>
        </p:txBody>
      </p:sp>
      <p:sp>
        <p:nvSpPr>
          <p:cNvPr id="44" name="Text 42"/>
          <p:cNvSpPr txBox="1"/>
          <p:nvPr/>
        </p:nvSpPr>
        <p:spPr>
          <a:xfrm>
            <a:off x="731520" y="4352544"/>
            <a:ext cx="868680" cy="576072"/>
          </a:xfrm>
          <a:prstGeom prst="rect">
            <a:avLst/>
          </a:prstGeom>
          <a:noFill/>
          <a:ln/>
        </p:spPr>
        <p:txBody>
          <a:bodyPr wrap="square" lIns="0" tIns="0" rIns="0" bIns="0" rtlCol="0" anchor="ctr"/>
          <a:lstStyle/>
          <a:p>
            <a:pPr indent="0" marL="0">
              <a:buNone/>
            </a:pPr>
            <a:r>
              <a:rPr lang="en-US" sz="1250" b="1" dirty="0">
                <a:solidFill>
                  <a:schemeClr val="tx1"/>
                </a:solidFill>
              </a:rPr>
              <a:t>Beers</a:t>
            </a:r>
            <a:endParaRPr lang="en-US" sz="1250" dirty="0"/>
          </a:p>
        </p:txBody>
      </p:sp>
      <p:sp>
        <p:nvSpPr>
          <p:cNvPr id="45" name="Text 43"/>
          <p:cNvSpPr txBox="1"/>
          <p:nvPr/>
        </p:nvSpPr>
        <p:spPr>
          <a:xfrm>
            <a:off x="1600200" y="4352544"/>
            <a:ext cx="777240" cy="576072"/>
          </a:xfrm>
          <a:prstGeom prst="rect">
            <a:avLst/>
          </a:prstGeom>
          <a:noFill/>
          <a:ln/>
        </p:spPr>
        <p:txBody>
          <a:bodyPr wrap="square" lIns="0" tIns="0" rIns="0" bIns="0" rtlCol="0" anchor="ctr"/>
          <a:lstStyle/>
          <a:p>
            <a:pPr algn="r" indent="0" marL="0">
              <a:buNone/>
            </a:pPr>
            <a:r>
              <a:rPr lang="en-US" sz="1150" dirty="0">
                <a:solidFill>
                  <a:schemeClr val="tx1"/>
                </a:solidFill>
              </a:rPr>
              <a:t>2,410 × 10</a:t>
            </a:r>
            <a:endParaRPr lang="en-US" sz="1150" dirty="0"/>
          </a:p>
        </p:txBody>
      </p:sp>
      <p:sp>
        <p:nvSpPr>
          <p:cNvPr id="46" name="Text 44"/>
          <p:cNvSpPr txBox="1"/>
          <p:nvPr/>
        </p:nvSpPr>
        <p:spPr>
          <a:xfrm>
            <a:off x="2514600" y="4352544"/>
            <a:ext cx="548640" cy="576072"/>
          </a:xfrm>
          <a:prstGeom prst="rect">
            <a:avLst/>
          </a:prstGeom>
          <a:noFill/>
          <a:ln/>
        </p:spPr>
        <p:txBody>
          <a:bodyPr wrap="square" lIns="0" tIns="0" rIns="0" bIns="0" rtlCol="0" anchor="ctr"/>
          <a:lstStyle/>
          <a:p>
            <a:pPr algn="r" indent="0" marL="0">
              <a:buNone/>
            </a:pPr>
            <a:r>
              <a:rPr lang="en-US" sz="1200" b="1" dirty="0">
                <a:solidFill>
                  <a:schemeClr val="tx1"/>
                </a:solidFill>
              </a:rPr>
              <a:t>4,362</a:t>
            </a:r>
            <a:endParaRPr lang="en-US" sz="1200" dirty="0"/>
          </a:p>
        </p:txBody>
      </p:sp>
      <p:sp>
        <p:nvSpPr>
          <p:cNvPr id="47" name="Rate bar Beers track"/>
          <p:cNvSpPr/>
          <p:nvPr/>
        </p:nvSpPr>
        <p:spPr>
          <a:xfrm>
            <a:off x="3337560" y="4576572"/>
            <a:ext cx="868680" cy="128016"/>
          </a:xfrm>
          <a:prstGeom prst="rect">
            <a:avLst/>
          </a:prstGeom>
          <a:solidFill>
            <a:schemeClr val="bg2"/>
          </a:solidFill>
          <a:ln/>
        </p:spPr>
        <p:txBody>
          <a:bodyPr/>
          <a:p/>
        </p:txBody>
      </p:sp>
      <p:sp>
        <p:nvSpPr>
          <p:cNvPr id="48" name="Rate bar Beers fill"/>
          <p:cNvSpPr/>
          <p:nvPr/>
        </p:nvSpPr>
        <p:spPr>
          <a:xfrm>
            <a:off x="3337560" y="4576572"/>
            <a:ext cx="393078" cy="128016"/>
          </a:xfrm>
          <a:prstGeom prst="rect">
            <a:avLst/>
          </a:prstGeom>
          <a:solidFill>
            <a:schemeClr val="accent3"/>
          </a:solidFill>
          <a:ln/>
        </p:spPr>
        <p:txBody>
          <a:bodyPr/>
          <a:p/>
        </p:txBody>
      </p:sp>
      <p:sp>
        <p:nvSpPr>
          <p:cNvPr id="49" name="Text 47"/>
          <p:cNvSpPr txBox="1"/>
          <p:nvPr/>
        </p:nvSpPr>
        <p:spPr>
          <a:xfrm>
            <a:off x="4270248" y="4352544"/>
            <a:ext cx="548640" cy="576072"/>
          </a:xfrm>
          <a:prstGeom prst="rect">
            <a:avLst/>
          </a:prstGeom>
          <a:noFill/>
          <a:ln/>
        </p:spPr>
        <p:txBody>
          <a:bodyPr wrap="square" lIns="0" tIns="0" rIns="0" bIns="0" rtlCol="0" anchor="ctr"/>
          <a:lstStyle/>
          <a:p>
            <a:pPr indent="0" marL="0">
              <a:buNone/>
            </a:pPr>
            <a:r>
              <a:rPr lang="en-US" sz="1150" b="1" dirty="0">
                <a:solidFill>
                  <a:schemeClr val="accent3"/>
                </a:solidFill>
              </a:rPr>
              <a:t>18.10%</a:t>
            </a:r>
            <a:endParaRPr lang="en-US" sz="1150" dirty="0"/>
          </a:p>
        </p:txBody>
      </p:sp>
      <p:sp>
        <p:nvSpPr>
          <p:cNvPr id="50" name="Text 48"/>
          <p:cNvSpPr txBox="1"/>
          <p:nvPr/>
        </p:nvSpPr>
        <p:spPr>
          <a:xfrm>
            <a:off x="4846320" y="4352544"/>
            <a:ext cx="2468880" cy="576072"/>
          </a:xfrm>
          <a:prstGeom prst="rect">
            <a:avLst/>
          </a:prstGeom>
          <a:noFill/>
          <a:ln/>
        </p:spPr>
        <p:txBody>
          <a:bodyPr wrap="square" lIns="0" tIns="0" rIns="0" bIns="0" rtlCol="0" anchor="ctr"/>
          <a:lstStyle/>
          <a:p>
            <a:pPr indent="0" marL="0">
              <a:buNone/>
            </a:pPr>
            <a:r>
              <a:rPr lang="en-US" sz="1100" dirty="0">
                <a:solidFill>
                  <a:schemeClr val="tx1"/>
                </a:solidFill>
              </a:rPr>
              <a:t>Ounces format (100%), IBU missing (41.7%), ABV (28.8%)</a:t>
            </a:r>
            <a:endParaRPr lang="en-US" sz="1100" dirty="0"/>
          </a:p>
        </p:txBody>
      </p:sp>
      <p:sp>
        <p:nvSpPr>
          <p:cNvPr id="51" name="Divider"/>
          <p:cNvSpPr/>
          <p:nvPr/>
        </p:nvSpPr>
        <p:spPr>
          <a:xfrm>
            <a:off x="731520" y="4928616"/>
            <a:ext cx="6583680" cy="0"/>
          </a:xfrm>
          <a:prstGeom prst="line">
            <a:avLst/>
          </a:prstGeom>
          <a:noFill/>
          <a:ln w="9525">
            <a:solidFill>
              <a:schemeClr val="accent4"/>
            </a:solidFill>
            <a:prstDash val="solid"/>
          </a:ln>
        </p:spPr>
        <p:txBody>
          <a:bodyPr/>
          <a:p/>
        </p:txBody>
      </p:sp>
      <p:sp>
        <p:nvSpPr>
          <p:cNvPr id="52" name="Text 50"/>
          <p:cNvSpPr txBox="1"/>
          <p:nvPr/>
        </p:nvSpPr>
        <p:spPr>
          <a:xfrm>
            <a:off x="731520" y="4928616"/>
            <a:ext cx="868680" cy="576072"/>
          </a:xfrm>
          <a:prstGeom prst="rect">
            <a:avLst/>
          </a:prstGeom>
          <a:noFill/>
          <a:ln/>
        </p:spPr>
        <p:txBody>
          <a:bodyPr wrap="square" lIns="0" tIns="0" rIns="0" bIns="0" rtlCol="0" anchor="ctr"/>
          <a:lstStyle/>
          <a:p>
            <a:pPr indent="0" marL="0">
              <a:buNone/>
            </a:pPr>
            <a:r>
              <a:rPr lang="en-US" sz="1250" b="1" dirty="0">
                <a:solidFill>
                  <a:schemeClr val="tx1"/>
                </a:solidFill>
              </a:rPr>
              <a:t>Rayyan</a:t>
            </a:r>
            <a:endParaRPr lang="en-US" sz="1250" dirty="0"/>
          </a:p>
        </p:txBody>
      </p:sp>
      <p:sp>
        <p:nvSpPr>
          <p:cNvPr id="53" name="Text 51"/>
          <p:cNvSpPr txBox="1"/>
          <p:nvPr/>
        </p:nvSpPr>
        <p:spPr>
          <a:xfrm>
            <a:off x="1600200" y="4928616"/>
            <a:ext cx="777240" cy="576072"/>
          </a:xfrm>
          <a:prstGeom prst="rect">
            <a:avLst/>
          </a:prstGeom>
          <a:noFill/>
          <a:ln/>
        </p:spPr>
        <p:txBody>
          <a:bodyPr wrap="square" lIns="0" tIns="0" rIns="0" bIns="0" rtlCol="0" anchor="ctr"/>
          <a:lstStyle/>
          <a:p>
            <a:pPr algn="r" indent="0" marL="0">
              <a:buNone/>
            </a:pPr>
            <a:r>
              <a:rPr lang="en-US" sz="1150" dirty="0">
                <a:solidFill>
                  <a:schemeClr val="tx1"/>
                </a:solidFill>
              </a:rPr>
              <a:t>1,000 × 11</a:t>
            </a:r>
            <a:endParaRPr lang="en-US" sz="1150" dirty="0"/>
          </a:p>
        </p:txBody>
      </p:sp>
      <p:sp>
        <p:nvSpPr>
          <p:cNvPr id="54" name="Text 52"/>
          <p:cNvSpPr txBox="1"/>
          <p:nvPr/>
        </p:nvSpPr>
        <p:spPr>
          <a:xfrm>
            <a:off x="2514600" y="4928616"/>
            <a:ext cx="548640" cy="576072"/>
          </a:xfrm>
          <a:prstGeom prst="rect">
            <a:avLst/>
          </a:prstGeom>
          <a:noFill/>
          <a:ln/>
        </p:spPr>
        <p:txBody>
          <a:bodyPr wrap="square" lIns="0" tIns="0" rIns="0" bIns="0" rtlCol="0" anchor="ctr"/>
          <a:lstStyle/>
          <a:p>
            <a:pPr algn="r" indent="0" marL="0">
              <a:buNone/>
            </a:pPr>
            <a:r>
              <a:rPr lang="en-US" sz="1200" b="1" dirty="0">
                <a:solidFill>
                  <a:schemeClr val="tx1"/>
                </a:solidFill>
              </a:rPr>
              <a:t>948</a:t>
            </a:r>
            <a:endParaRPr lang="en-US" sz="1200" dirty="0"/>
          </a:p>
        </p:txBody>
      </p:sp>
      <p:sp>
        <p:nvSpPr>
          <p:cNvPr id="55" name="Rate bar Rayyan track"/>
          <p:cNvSpPr/>
          <p:nvPr/>
        </p:nvSpPr>
        <p:spPr>
          <a:xfrm>
            <a:off x="3337560" y="5152644"/>
            <a:ext cx="868680" cy="128016"/>
          </a:xfrm>
          <a:prstGeom prst="rect">
            <a:avLst/>
          </a:prstGeom>
          <a:solidFill>
            <a:schemeClr val="bg2"/>
          </a:solidFill>
          <a:ln/>
        </p:spPr>
        <p:txBody>
          <a:bodyPr/>
          <a:p/>
        </p:txBody>
      </p:sp>
      <p:sp>
        <p:nvSpPr>
          <p:cNvPr id="56" name="Rate bar Rayyan fill"/>
          <p:cNvSpPr/>
          <p:nvPr/>
        </p:nvSpPr>
        <p:spPr>
          <a:xfrm>
            <a:off x="3337560" y="5152644"/>
            <a:ext cx="187201" cy="128016"/>
          </a:xfrm>
          <a:prstGeom prst="rect">
            <a:avLst/>
          </a:prstGeom>
          <a:solidFill>
            <a:schemeClr val="accent3"/>
          </a:solidFill>
          <a:ln/>
        </p:spPr>
        <p:txBody>
          <a:bodyPr/>
          <a:p/>
        </p:txBody>
      </p:sp>
      <p:sp>
        <p:nvSpPr>
          <p:cNvPr id="57" name="Text 55"/>
          <p:cNvSpPr txBox="1"/>
          <p:nvPr/>
        </p:nvSpPr>
        <p:spPr>
          <a:xfrm>
            <a:off x="4270248" y="4928616"/>
            <a:ext cx="548640" cy="576072"/>
          </a:xfrm>
          <a:prstGeom prst="rect">
            <a:avLst/>
          </a:prstGeom>
          <a:noFill/>
          <a:ln/>
        </p:spPr>
        <p:txBody>
          <a:bodyPr wrap="square" lIns="0" tIns="0" rIns="0" bIns="0" rtlCol="0" anchor="ctr"/>
          <a:lstStyle/>
          <a:p>
            <a:pPr indent="0" marL="0">
              <a:buNone/>
            </a:pPr>
            <a:r>
              <a:rPr lang="en-US" sz="1150" b="1" dirty="0">
                <a:solidFill>
                  <a:schemeClr val="accent3"/>
                </a:solidFill>
              </a:rPr>
              <a:t>8.62%</a:t>
            </a:r>
            <a:endParaRPr lang="en-US" sz="1150" dirty="0"/>
          </a:p>
        </p:txBody>
      </p:sp>
      <p:sp>
        <p:nvSpPr>
          <p:cNvPr id="58" name="Text 56"/>
          <p:cNvSpPr txBox="1"/>
          <p:nvPr/>
        </p:nvSpPr>
        <p:spPr>
          <a:xfrm>
            <a:off x="4846320" y="4928616"/>
            <a:ext cx="2468880" cy="576072"/>
          </a:xfrm>
          <a:prstGeom prst="rect">
            <a:avLst/>
          </a:prstGeom>
          <a:noFill/>
          <a:ln/>
        </p:spPr>
        <p:txBody>
          <a:bodyPr wrap="square" lIns="0" tIns="0" rIns="0" bIns="0" rtlCol="0" anchor="ctr"/>
          <a:lstStyle/>
          <a:p>
            <a:pPr indent="0" marL="0">
              <a:buNone/>
            </a:pPr>
            <a:r>
              <a:rPr lang="en-US" sz="1100" dirty="0">
                <a:solidFill>
                  <a:schemeClr val="tx1"/>
                </a:solidFill>
              </a:rPr>
              <a:t>619 rule, 254 pattern, 75 missing; creation date, ISSN</a:t>
            </a:r>
            <a:endParaRPr lang="en-US" sz="1100" dirty="0"/>
          </a:p>
        </p:txBody>
      </p:sp>
      <p:sp>
        <p:nvSpPr>
          <p:cNvPr id="59" name="Divider"/>
          <p:cNvSpPr/>
          <p:nvPr/>
        </p:nvSpPr>
        <p:spPr>
          <a:xfrm>
            <a:off x="731520" y="5504688"/>
            <a:ext cx="6583680" cy="0"/>
          </a:xfrm>
          <a:prstGeom prst="line">
            <a:avLst/>
          </a:prstGeom>
          <a:noFill/>
          <a:ln w="9525">
            <a:solidFill>
              <a:schemeClr val="accent4"/>
            </a:solidFill>
            <a:prstDash val="solid"/>
          </a:ln>
        </p:spPr>
        <p:txBody>
          <a:bodyPr/>
          <a:p/>
        </p:txBody>
      </p:sp>
      <p:sp>
        <p:nvSpPr>
          <p:cNvPr id="60" name="Text 58"/>
          <p:cNvSpPr txBox="1"/>
          <p:nvPr/>
        </p:nvSpPr>
        <p:spPr>
          <a:xfrm>
            <a:off x="731520" y="5504688"/>
            <a:ext cx="868680" cy="576072"/>
          </a:xfrm>
          <a:prstGeom prst="rect">
            <a:avLst/>
          </a:prstGeom>
          <a:noFill/>
          <a:ln/>
        </p:spPr>
        <p:txBody>
          <a:bodyPr wrap="square" lIns="0" tIns="0" rIns="0" bIns="0" rtlCol="0" anchor="ctr"/>
          <a:lstStyle/>
          <a:p>
            <a:pPr indent="0" marL="0">
              <a:buNone/>
            </a:pPr>
            <a:r>
              <a:rPr lang="en-US" sz="1250" b="1" dirty="0">
                <a:solidFill>
                  <a:schemeClr val="tx1"/>
                </a:solidFill>
              </a:rPr>
              <a:t>Movies</a:t>
            </a:r>
            <a:endParaRPr lang="en-US" sz="1250" dirty="0"/>
          </a:p>
        </p:txBody>
      </p:sp>
      <p:sp>
        <p:nvSpPr>
          <p:cNvPr id="61" name="Text 59"/>
          <p:cNvSpPr txBox="1"/>
          <p:nvPr/>
        </p:nvSpPr>
        <p:spPr>
          <a:xfrm>
            <a:off x="1600200" y="5504688"/>
            <a:ext cx="777240" cy="576072"/>
          </a:xfrm>
          <a:prstGeom prst="rect">
            <a:avLst/>
          </a:prstGeom>
          <a:noFill/>
          <a:ln/>
        </p:spPr>
        <p:txBody>
          <a:bodyPr wrap="square" lIns="0" tIns="0" rIns="0" bIns="0" rtlCol="0" anchor="ctr"/>
          <a:lstStyle/>
          <a:p>
            <a:pPr algn="r" indent="0" marL="0">
              <a:buNone/>
            </a:pPr>
            <a:r>
              <a:rPr lang="en-US" sz="1150" dirty="0">
                <a:solidFill>
                  <a:schemeClr val="tx1"/>
                </a:solidFill>
              </a:rPr>
              <a:t>7,390 × 17</a:t>
            </a:r>
            <a:endParaRPr lang="en-US" sz="1150" dirty="0"/>
          </a:p>
        </p:txBody>
      </p:sp>
      <p:sp>
        <p:nvSpPr>
          <p:cNvPr id="62" name="Text 60"/>
          <p:cNvSpPr txBox="1"/>
          <p:nvPr/>
        </p:nvSpPr>
        <p:spPr>
          <a:xfrm>
            <a:off x="2514600" y="5504688"/>
            <a:ext cx="548640" cy="576072"/>
          </a:xfrm>
          <a:prstGeom prst="rect">
            <a:avLst/>
          </a:prstGeom>
          <a:noFill/>
          <a:ln/>
        </p:spPr>
        <p:txBody>
          <a:bodyPr wrap="square" lIns="0" tIns="0" rIns="0" bIns="0" rtlCol="0" anchor="ctr"/>
          <a:lstStyle/>
          <a:p>
            <a:pPr algn="r" indent="0" marL="0">
              <a:buNone/>
            </a:pPr>
            <a:r>
              <a:rPr lang="en-US" sz="1200" b="1" dirty="0">
                <a:solidFill>
                  <a:schemeClr val="tx1"/>
                </a:solidFill>
              </a:rPr>
              <a:t>7,675</a:t>
            </a:r>
            <a:endParaRPr lang="en-US" sz="1200" dirty="0"/>
          </a:p>
        </p:txBody>
      </p:sp>
      <p:sp>
        <p:nvSpPr>
          <p:cNvPr id="63" name="Rate bar Movies track"/>
          <p:cNvSpPr/>
          <p:nvPr/>
        </p:nvSpPr>
        <p:spPr>
          <a:xfrm>
            <a:off x="3337560" y="5728716"/>
            <a:ext cx="868680" cy="128016"/>
          </a:xfrm>
          <a:prstGeom prst="rect">
            <a:avLst/>
          </a:prstGeom>
          <a:solidFill>
            <a:schemeClr val="bg2"/>
          </a:solidFill>
          <a:ln/>
        </p:spPr>
        <p:txBody>
          <a:bodyPr/>
          <a:p/>
        </p:txBody>
      </p:sp>
      <p:sp>
        <p:nvSpPr>
          <p:cNvPr id="64" name="Rate bar Movies fill"/>
          <p:cNvSpPr/>
          <p:nvPr/>
        </p:nvSpPr>
        <p:spPr>
          <a:xfrm>
            <a:off x="3337560" y="5728716"/>
            <a:ext cx="132691" cy="128016"/>
          </a:xfrm>
          <a:prstGeom prst="rect">
            <a:avLst/>
          </a:prstGeom>
          <a:solidFill>
            <a:schemeClr val="accent3"/>
          </a:solidFill>
          <a:ln/>
        </p:spPr>
        <p:txBody>
          <a:bodyPr/>
          <a:p/>
        </p:txBody>
      </p:sp>
      <p:sp>
        <p:nvSpPr>
          <p:cNvPr id="65" name="Text 63"/>
          <p:cNvSpPr txBox="1"/>
          <p:nvPr/>
        </p:nvSpPr>
        <p:spPr>
          <a:xfrm>
            <a:off x="4270248" y="5504688"/>
            <a:ext cx="548640" cy="576072"/>
          </a:xfrm>
          <a:prstGeom prst="rect">
            <a:avLst/>
          </a:prstGeom>
          <a:noFill/>
          <a:ln/>
        </p:spPr>
        <p:txBody>
          <a:bodyPr wrap="square" lIns="0" tIns="0" rIns="0" bIns="0" rtlCol="0" anchor="ctr"/>
          <a:lstStyle/>
          <a:p>
            <a:pPr indent="0" marL="0">
              <a:buNone/>
            </a:pPr>
            <a:r>
              <a:rPr lang="en-US" sz="1150" b="1" dirty="0">
                <a:solidFill>
                  <a:schemeClr val="accent3"/>
                </a:solidFill>
              </a:rPr>
              <a:t>6.11%</a:t>
            </a:r>
            <a:endParaRPr lang="en-US" sz="1150" dirty="0"/>
          </a:p>
        </p:txBody>
      </p:sp>
      <p:sp>
        <p:nvSpPr>
          <p:cNvPr id="66" name="Text 64"/>
          <p:cNvSpPr txBox="1"/>
          <p:nvPr/>
        </p:nvSpPr>
        <p:spPr>
          <a:xfrm>
            <a:off x="4846320" y="5504688"/>
            <a:ext cx="2468880" cy="576072"/>
          </a:xfrm>
          <a:prstGeom prst="rect">
            <a:avLst/>
          </a:prstGeom>
          <a:noFill/>
          <a:ln/>
        </p:spPr>
        <p:txBody>
          <a:bodyPr wrap="square" lIns="0" tIns="0" rIns="0" bIns="0" rtlCol="0" anchor="ctr"/>
          <a:lstStyle/>
          <a:p>
            <a:pPr indent="0" marL="0">
              <a:buNone/>
            </a:pPr>
            <a:r>
              <a:rPr lang="en-US" sz="1100" dirty="0">
                <a:solidFill>
                  <a:schemeClr val="tx1"/>
                </a:solidFill>
              </a:rPr>
              <a:t>5,505 RatingCount commas, 856 RatingValue decimals</a:t>
            </a:r>
            <a:endParaRPr lang="en-US" sz="1100" dirty="0"/>
          </a:p>
        </p:txBody>
      </p:sp>
      <p:sp>
        <p:nvSpPr>
          <p:cNvPr id="67" name="Policy card 1"/>
          <p:cNvSpPr/>
          <p:nvPr/>
        </p:nvSpPr>
        <p:spPr>
          <a:xfrm>
            <a:off x="7680960" y="2834640"/>
            <a:ext cx="3962095" cy="960120"/>
          </a:xfrm>
          <a:prstGeom prst="roundRect">
            <a:avLst>
              <a:gd name="adj" fmla="val 7619"/>
            </a:avLst>
          </a:prstGeom>
          <a:solidFill>
            <a:schemeClr val="accent5"/>
          </a:solidFill>
          <a:ln/>
        </p:spPr>
        <p:txBody>
          <a:bodyPr/>
          <a:p/>
        </p:txBody>
      </p:sp>
      <p:sp>
        <p:nvSpPr>
          <p:cNvPr id="68" name="Text 66"/>
          <p:cNvSpPr txBox="1"/>
          <p:nvPr/>
        </p:nvSpPr>
        <p:spPr>
          <a:xfrm>
            <a:off x="7882128" y="2944368"/>
            <a:ext cx="3559759"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CLEAN-FILE GAPS</a:t>
            </a:r>
            <a:endParaRPr lang="en-US" sz="1100" dirty="0"/>
          </a:p>
        </p:txBody>
      </p:sp>
      <p:sp>
        <p:nvSpPr>
          <p:cNvPr id="69" name="Text 67"/>
          <p:cNvSpPr txBox="1"/>
          <p:nvPr/>
        </p:nvSpPr>
        <p:spPr>
          <a:xfrm>
            <a:off x="7882128" y="3200400"/>
            <a:ext cx="3559759" cy="521208"/>
          </a:xfrm>
          <a:prstGeom prst="rect">
            <a:avLst/>
          </a:prstGeom>
          <a:noFill/>
          <a:ln/>
        </p:spPr>
        <p:txBody>
          <a:bodyPr wrap="square" lIns="0" tIns="0" rIns="0" bIns="0" rtlCol="0" anchor="t"/>
          <a:lstStyle/>
          <a:p>
            <a:pPr indent="0" marL="0">
              <a:buNone/>
            </a:pPr>
            <a:r>
              <a:rPr lang="en-US" sz="1150" dirty="0">
                <a:solidFill>
                  <a:schemeClr val="tx1"/>
                </a:solidFill>
              </a:rPr>
              <a:t>Missing clean cells: Beers 1,072 · Movies 2,680 · Rayyan 1,609 · Hospital 0 · Flights 0. Reported openly, never imputed.</a:t>
            </a:r>
            <a:endParaRPr lang="en-US" sz="1150" dirty="0"/>
          </a:p>
        </p:txBody>
      </p:sp>
      <p:sp>
        <p:nvSpPr>
          <p:cNvPr id="70" name="Policy card 2"/>
          <p:cNvSpPr/>
          <p:nvPr/>
        </p:nvSpPr>
        <p:spPr>
          <a:xfrm>
            <a:off x="7680960" y="3977640"/>
            <a:ext cx="3962095" cy="960120"/>
          </a:xfrm>
          <a:prstGeom prst="roundRect">
            <a:avLst>
              <a:gd name="adj" fmla="val 7619"/>
            </a:avLst>
          </a:prstGeom>
          <a:solidFill>
            <a:schemeClr val="accent4"/>
          </a:solidFill>
          <a:ln/>
        </p:spPr>
        <p:txBody>
          <a:bodyPr/>
          <a:p/>
        </p:txBody>
      </p:sp>
      <p:sp>
        <p:nvSpPr>
          <p:cNvPr id="71" name="Text 69"/>
          <p:cNvSpPr txBox="1"/>
          <p:nvPr/>
        </p:nvSpPr>
        <p:spPr>
          <a:xfrm>
            <a:off x="7882128" y="4087368"/>
            <a:ext cx="3559759"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RECOVERED ERRORS</a:t>
            </a:r>
            <a:endParaRPr lang="en-US" sz="1100" dirty="0"/>
          </a:p>
        </p:txBody>
      </p:sp>
      <p:sp>
        <p:nvSpPr>
          <p:cNvPr id="72" name="Text 70"/>
          <p:cNvSpPr txBox="1"/>
          <p:nvPr/>
        </p:nvSpPr>
        <p:spPr>
          <a:xfrm>
            <a:off x="7882128" y="4343400"/>
            <a:ext cx="3559759" cy="521208"/>
          </a:xfrm>
          <a:prstGeom prst="rect">
            <a:avLst/>
          </a:prstGeom>
          <a:noFill/>
          <a:ln/>
        </p:spPr>
        <p:txBody>
          <a:bodyPr wrap="square" lIns="0" tIns="0" rIns="0" bIns="0" rtlCol="0" anchor="t"/>
          <a:lstStyle/>
          <a:p>
            <a:pPr indent="0" marL="0">
              <a:buNone/>
            </a:pPr>
            <a:r>
              <a:rPr lang="en-US" sz="1150" dirty="0">
                <a:solidFill>
                  <a:schemeClr val="tx1"/>
                </a:solidFill>
              </a:rPr>
              <a:t>1,005 Beers “N/A” and 668 Movies RatingValue errors lost in TableEG’s copies are restored from the Raha originals.</a:t>
            </a:r>
            <a:endParaRPr lang="en-US" sz="1150" dirty="0"/>
          </a:p>
        </p:txBody>
      </p:sp>
      <p:sp>
        <p:nvSpPr>
          <p:cNvPr id="73" name="Policy card 3"/>
          <p:cNvSpPr/>
          <p:nvPr/>
        </p:nvSpPr>
        <p:spPr>
          <a:xfrm>
            <a:off x="7680960" y="5120640"/>
            <a:ext cx="3962095" cy="960120"/>
          </a:xfrm>
          <a:prstGeom prst="roundRect">
            <a:avLst>
              <a:gd name="adj" fmla="val 7619"/>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74" name="Text 72"/>
          <p:cNvSpPr txBox="1"/>
          <p:nvPr/>
        </p:nvSpPr>
        <p:spPr>
          <a:xfrm>
            <a:off x="7882128" y="5230368"/>
            <a:ext cx="3559759"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HEADERS</a:t>
            </a:r>
            <a:endParaRPr lang="en-US" sz="1100" dirty="0"/>
          </a:p>
        </p:txBody>
      </p:sp>
      <p:sp>
        <p:nvSpPr>
          <p:cNvPr id="75" name="Text 73"/>
          <p:cNvSpPr txBox="1"/>
          <p:nvPr/>
        </p:nvSpPr>
        <p:spPr>
          <a:xfrm>
            <a:off x="7882128" y="5486400"/>
            <a:ext cx="3559759" cy="521208"/>
          </a:xfrm>
          <a:prstGeom prst="rect">
            <a:avLst/>
          </a:prstGeom>
          <a:noFill/>
          <a:ln/>
        </p:spPr>
        <p:txBody>
          <a:bodyPr wrap="square" lIns="0" tIns="0" rIns="0" bIns="0" rtlCol="0" anchor="t"/>
          <a:lstStyle/>
          <a:p>
            <a:pPr indent="0" marL="0">
              <a:buNone/>
            </a:pPr>
            <a:r>
              <a:rPr lang="en-US" sz="1150" dirty="0">
                <a:solidFill>
                  <a:schemeClr val="tx1"/>
                </a:solidFill>
              </a:rPr>
              <a:t>Columns aligned by position, not by name (Hospital 19, Movies 17, Beers 2).</a:t>
            </a:r>
            <a:endParaRPr lang="en-US" sz="115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3"/>
                </a:solidFill>
              </a:rPr>
              <a:t>DECISIONS D1 &amp; D2 · GROUP-AWARE 70/15/15 · SEED 42</a:t>
            </a:r>
            <a:endParaRPr lang="en-US" sz="1100" dirty="0"/>
          </a:p>
        </p:txBody>
      </p:sp>
      <p:sp>
        <p:nvSpPr>
          <p:cNvPr id="3" name="Text 2"/>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2600" b="1" dirty="0">
                <a:solidFill>
                  <a:schemeClr val="tx1"/>
                </a:solidFill>
              </a:rPr>
              <a:t>Group-aware splits with zero leakage</a:t>
            </a:r>
            <a:endParaRPr lang="en-US" sz="2600" dirty="0"/>
          </a:p>
        </p:txBody>
      </p:sp>
      <p:sp>
        <p:nvSpPr>
          <p:cNvPr id="5" name="Entity repetition card"/>
          <p:cNvSpPr/>
          <p:nvPr/>
        </p:nvSpPr>
        <p:spPr>
          <a:xfrm>
            <a:off x="548640" y="1417320"/>
            <a:ext cx="3108960" cy="4663440"/>
          </a:xfrm>
          <a:prstGeom prst="roundRect">
            <a:avLst>
              <a:gd name="adj" fmla="val 2353"/>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6" name="Text 4"/>
          <p:cNvSpPr txBox="1"/>
          <p:nvPr/>
        </p:nvSpPr>
        <p:spPr>
          <a:xfrm>
            <a:off x="777240" y="1600200"/>
            <a:ext cx="265176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WHY SPLIT BY ENTITY (D2)</a:t>
            </a:r>
            <a:endParaRPr lang="en-US" sz="1100" dirty="0"/>
          </a:p>
        </p:txBody>
      </p:sp>
      <p:sp>
        <p:nvSpPr>
          <p:cNvPr id="7" name="Text 5"/>
          <p:cNvSpPr txBox="1"/>
          <p:nvPr/>
        </p:nvSpPr>
        <p:spPr>
          <a:xfrm>
            <a:off x="777240" y="1892808"/>
            <a:ext cx="2651760" cy="457200"/>
          </a:xfrm>
          <a:prstGeom prst="rect">
            <a:avLst/>
          </a:prstGeom>
          <a:noFill/>
          <a:ln/>
        </p:spPr>
        <p:txBody>
          <a:bodyPr wrap="square" lIns="0" tIns="0" rIns="0" bIns="0" rtlCol="0" anchor="t"/>
          <a:lstStyle/>
          <a:p>
            <a:pPr indent="0" marL="0">
              <a:buNone/>
            </a:pPr>
            <a:r>
              <a:rPr lang="en-US" sz="1200" dirty="0">
                <a:solidFill>
                  <a:schemeClr val="tx1"/>
                </a:solidFill>
              </a:rPr>
              <a:t>A random row split leaks when one real entity spans many rows.</a:t>
            </a:r>
            <a:endParaRPr lang="en-US" sz="1200" dirty="0"/>
          </a:p>
        </p:txBody>
      </p:sp>
      <p:sp>
        <p:nvSpPr>
          <p:cNvPr id="8" name="Text 6"/>
          <p:cNvSpPr txBox="1"/>
          <p:nvPr/>
        </p:nvSpPr>
        <p:spPr>
          <a:xfrm>
            <a:off x="777240" y="2514600"/>
            <a:ext cx="1463040" cy="274320"/>
          </a:xfrm>
          <a:prstGeom prst="rect">
            <a:avLst/>
          </a:prstGeom>
          <a:noFill/>
          <a:ln/>
        </p:spPr>
        <p:txBody>
          <a:bodyPr wrap="square" lIns="0" tIns="0" rIns="0" bIns="0" rtlCol="0" anchor="ctr"/>
          <a:lstStyle/>
          <a:p>
            <a:pPr indent="0" marL="0">
              <a:buNone/>
            </a:pPr>
            <a:r>
              <a:rPr lang="en-US" sz="1400" b="1" dirty="0">
                <a:solidFill>
                  <a:schemeClr val="tx1"/>
                </a:solidFill>
              </a:rPr>
              <a:t>Hospital</a:t>
            </a:r>
            <a:endParaRPr lang="en-US" sz="1400" dirty="0"/>
          </a:p>
        </p:txBody>
      </p:sp>
      <p:sp>
        <p:nvSpPr>
          <p:cNvPr id="9" name="Text 7"/>
          <p:cNvSpPr txBox="1"/>
          <p:nvPr/>
        </p:nvSpPr>
        <p:spPr>
          <a:xfrm>
            <a:off x="2331720" y="2478024"/>
            <a:ext cx="1097280" cy="347472"/>
          </a:xfrm>
          <a:prstGeom prst="rect">
            <a:avLst/>
          </a:prstGeom>
          <a:noFill/>
          <a:ln/>
        </p:spPr>
        <p:txBody>
          <a:bodyPr wrap="square" lIns="0" tIns="0" rIns="0" bIns="0" rtlCol="0" anchor="ctr"/>
          <a:lstStyle/>
          <a:p>
            <a:pPr algn="r" indent="0" marL="0">
              <a:buNone/>
            </a:pPr>
            <a:r>
              <a:rPr lang="en-US" sz="2000" b="1" dirty="0">
                <a:solidFill>
                  <a:schemeClr val="accent3"/>
                </a:solidFill>
              </a:rPr>
              <a:t>99.9%</a:t>
            </a:r>
            <a:endParaRPr lang="en-US" sz="2000" dirty="0"/>
          </a:p>
        </p:txBody>
      </p:sp>
      <p:sp>
        <p:nvSpPr>
          <p:cNvPr id="10" name="Text 8"/>
          <p:cNvSpPr txBox="1"/>
          <p:nvPr/>
        </p:nvSpPr>
        <p:spPr>
          <a:xfrm>
            <a:off x="777240" y="2798064"/>
            <a:ext cx="2651760" cy="182880"/>
          </a:xfrm>
          <a:prstGeom prst="rect">
            <a:avLst/>
          </a:prstGeom>
          <a:noFill/>
          <a:ln/>
        </p:spPr>
        <p:txBody>
          <a:bodyPr wrap="square" lIns="0" tIns="0" rIns="0" bIns="0" rtlCol="0" anchor="ctr"/>
          <a:lstStyle/>
          <a:p>
            <a:pPr indent="0" marL="0">
              <a:buNone/>
            </a:pPr>
            <a:r>
              <a:rPr lang="en-US" sz="1000" dirty="0">
                <a:solidFill>
                  <a:schemeClr val="accent6"/>
                </a:solidFill>
              </a:rPr>
              <a:t>provider_number · 45 entities · max 28 rows each</a:t>
            </a:r>
            <a:endParaRPr lang="en-US" sz="1000" dirty="0"/>
          </a:p>
        </p:txBody>
      </p:sp>
      <p:sp>
        <p:nvSpPr>
          <p:cNvPr id="11" name="Share bar Hospital track"/>
          <p:cNvSpPr/>
          <p:nvPr/>
        </p:nvSpPr>
        <p:spPr>
          <a:xfrm>
            <a:off x="777240" y="3063240"/>
            <a:ext cx="2651760" cy="109728"/>
          </a:xfrm>
          <a:prstGeom prst="rect">
            <a:avLst/>
          </a:prstGeom>
          <a:solidFill>
            <a:schemeClr val="bg2"/>
          </a:solidFill>
          <a:ln/>
        </p:spPr>
        <p:txBody>
          <a:bodyPr/>
          <a:p/>
        </p:txBody>
      </p:sp>
      <p:sp>
        <p:nvSpPr>
          <p:cNvPr id="12" name="Share bar Hospital fill"/>
          <p:cNvSpPr/>
          <p:nvPr/>
        </p:nvSpPr>
        <p:spPr>
          <a:xfrm>
            <a:off x="777240" y="3063240"/>
            <a:ext cx="2649108" cy="109728"/>
          </a:xfrm>
          <a:prstGeom prst="rect">
            <a:avLst/>
          </a:prstGeom>
          <a:solidFill>
            <a:schemeClr val="accent3"/>
          </a:solidFill>
          <a:ln/>
        </p:spPr>
        <p:txBody>
          <a:bodyPr/>
          <a:p/>
        </p:txBody>
      </p:sp>
      <p:sp>
        <p:nvSpPr>
          <p:cNvPr id="13" name="Text 11"/>
          <p:cNvSpPr txBox="1"/>
          <p:nvPr/>
        </p:nvSpPr>
        <p:spPr>
          <a:xfrm>
            <a:off x="777240" y="3383280"/>
            <a:ext cx="1463040" cy="274320"/>
          </a:xfrm>
          <a:prstGeom prst="rect">
            <a:avLst/>
          </a:prstGeom>
          <a:noFill/>
          <a:ln/>
        </p:spPr>
        <p:txBody>
          <a:bodyPr wrap="square" lIns="0" tIns="0" rIns="0" bIns="0" rtlCol="0" anchor="ctr"/>
          <a:lstStyle/>
          <a:p>
            <a:pPr indent="0" marL="0">
              <a:buNone/>
            </a:pPr>
            <a:r>
              <a:rPr lang="en-US" sz="1400" b="1" dirty="0">
                <a:solidFill>
                  <a:schemeClr val="tx1"/>
                </a:solidFill>
              </a:rPr>
              <a:t>Flights</a:t>
            </a:r>
            <a:endParaRPr lang="en-US" sz="1400" dirty="0"/>
          </a:p>
        </p:txBody>
      </p:sp>
      <p:sp>
        <p:nvSpPr>
          <p:cNvPr id="14" name="Text 12"/>
          <p:cNvSpPr txBox="1"/>
          <p:nvPr/>
        </p:nvSpPr>
        <p:spPr>
          <a:xfrm>
            <a:off x="2331720" y="3346704"/>
            <a:ext cx="1097280" cy="347472"/>
          </a:xfrm>
          <a:prstGeom prst="rect">
            <a:avLst/>
          </a:prstGeom>
          <a:noFill/>
          <a:ln/>
        </p:spPr>
        <p:txBody>
          <a:bodyPr wrap="square" lIns="0" tIns="0" rIns="0" bIns="0" rtlCol="0" anchor="ctr"/>
          <a:lstStyle/>
          <a:p>
            <a:pPr algn="r" indent="0" marL="0">
              <a:buNone/>
            </a:pPr>
            <a:r>
              <a:rPr lang="en-US" sz="2000" b="1" dirty="0">
                <a:solidFill>
                  <a:schemeClr val="accent3"/>
                </a:solidFill>
              </a:rPr>
              <a:t>100%</a:t>
            </a:r>
            <a:endParaRPr lang="en-US" sz="2000" dirty="0"/>
          </a:p>
        </p:txBody>
      </p:sp>
      <p:sp>
        <p:nvSpPr>
          <p:cNvPr id="15" name="Text 13"/>
          <p:cNvSpPr txBox="1"/>
          <p:nvPr/>
        </p:nvSpPr>
        <p:spPr>
          <a:xfrm>
            <a:off x="777240" y="3666744"/>
            <a:ext cx="2651760" cy="182880"/>
          </a:xfrm>
          <a:prstGeom prst="rect">
            <a:avLst/>
          </a:prstGeom>
          <a:noFill/>
          <a:ln/>
        </p:spPr>
        <p:txBody>
          <a:bodyPr wrap="square" lIns="0" tIns="0" rIns="0" bIns="0" rtlCol="0" anchor="ctr"/>
          <a:lstStyle/>
          <a:p>
            <a:pPr indent="0" marL="0">
              <a:buNone/>
            </a:pPr>
            <a:r>
              <a:rPr lang="en-US" sz="1000" dirty="0">
                <a:solidFill>
                  <a:schemeClr val="accent6"/>
                </a:solidFill>
              </a:rPr>
              <a:t>flight · 100 entities · max 29 rows each</a:t>
            </a:r>
            <a:endParaRPr lang="en-US" sz="1000" dirty="0"/>
          </a:p>
        </p:txBody>
      </p:sp>
      <p:sp>
        <p:nvSpPr>
          <p:cNvPr id="16" name="Share bar Flights track"/>
          <p:cNvSpPr/>
          <p:nvPr/>
        </p:nvSpPr>
        <p:spPr>
          <a:xfrm>
            <a:off x="777240" y="3931920"/>
            <a:ext cx="2651760" cy="109728"/>
          </a:xfrm>
          <a:prstGeom prst="rect">
            <a:avLst/>
          </a:prstGeom>
          <a:solidFill>
            <a:schemeClr val="bg2"/>
          </a:solidFill>
          <a:ln/>
        </p:spPr>
        <p:txBody>
          <a:bodyPr/>
          <a:p/>
        </p:txBody>
      </p:sp>
      <p:sp>
        <p:nvSpPr>
          <p:cNvPr id="17" name="Share bar Flights fill"/>
          <p:cNvSpPr/>
          <p:nvPr/>
        </p:nvSpPr>
        <p:spPr>
          <a:xfrm>
            <a:off x="777240" y="3931920"/>
            <a:ext cx="2651760" cy="109728"/>
          </a:xfrm>
          <a:prstGeom prst="rect">
            <a:avLst/>
          </a:prstGeom>
          <a:solidFill>
            <a:schemeClr val="accent3"/>
          </a:solidFill>
          <a:ln/>
        </p:spPr>
        <p:txBody>
          <a:bodyPr/>
          <a:p/>
        </p:txBody>
      </p:sp>
      <p:sp>
        <p:nvSpPr>
          <p:cNvPr id="18" name="Text 16"/>
          <p:cNvSpPr txBox="1"/>
          <p:nvPr/>
        </p:nvSpPr>
        <p:spPr>
          <a:xfrm>
            <a:off x="777240" y="4251960"/>
            <a:ext cx="1463040" cy="274320"/>
          </a:xfrm>
          <a:prstGeom prst="rect">
            <a:avLst/>
          </a:prstGeom>
          <a:noFill/>
          <a:ln/>
        </p:spPr>
        <p:txBody>
          <a:bodyPr wrap="square" lIns="0" tIns="0" rIns="0" bIns="0" rtlCol="0" anchor="ctr"/>
          <a:lstStyle/>
          <a:p>
            <a:pPr indent="0" marL="0">
              <a:buNone/>
            </a:pPr>
            <a:r>
              <a:rPr lang="en-US" sz="1400" b="1" dirty="0">
                <a:solidFill>
                  <a:schemeClr val="tx1"/>
                </a:solidFill>
              </a:rPr>
              <a:t>Beers</a:t>
            </a:r>
            <a:endParaRPr lang="en-US" sz="1400" dirty="0"/>
          </a:p>
        </p:txBody>
      </p:sp>
      <p:sp>
        <p:nvSpPr>
          <p:cNvPr id="19" name="Text 17"/>
          <p:cNvSpPr txBox="1"/>
          <p:nvPr/>
        </p:nvSpPr>
        <p:spPr>
          <a:xfrm>
            <a:off x="2331720" y="4215384"/>
            <a:ext cx="1097280" cy="347472"/>
          </a:xfrm>
          <a:prstGeom prst="rect">
            <a:avLst/>
          </a:prstGeom>
          <a:noFill/>
          <a:ln/>
        </p:spPr>
        <p:txBody>
          <a:bodyPr wrap="square" lIns="0" tIns="0" rIns="0" bIns="0" rtlCol="0" anchor="ctr"/>
          <a:lstStyle/>
          <a:p>
            <a:pPr algn="r" indent="0" marL="0">
              <a:buNone/>
            </a:pPr>
            <a:r>
              <a:rPr lang="en-US" sz="2000" b="1" dirty="0">
                <a:solidFill>
                  <a:schemeClr val="accent3"/>
                </a:solidFill>
              </a:rPr>
              <a:t>94.7%</a:t>
            </a:r>
            <a:endParaRPr lang="en-US" sz="2000" dirty="0"/>
          </a:p>
        </p:txBody>
      </p:sp>
      <p:sp>
        <p:nvSpPr>
          <p:cNvPr id="20" name="Text 18"/>
          <p:cNvSpPr txBox="1"/>
          <p:nvPr/>
        </p:nvSpPr>
        <p:spPr>
          <a:xfrm>
            <a:off x="777240" y="4535424"/>
            <a:ext cx="2651760" cy="182880"/>
          </a:xfrm>
          <a:prstGeom prst="rect">
            <a:avLst/>
          </a:prstGeom>
          <a:noFill/>
          <a:ln/>
        </p:spPr>
        <p:txBody>
          <a:bodyPr wrap="square" lIns="0" tIns="0" rIns="0" bIns="0" rtlCol="0" anchor="ctr"/>
          <a:lstStyle/>
          <a:p>
            <a:pPr indent="0" marL="0">
              <a:buNone/>
            </a:pPr>
            <a:r>
              <a:rPr lang="en-US" sz="1000" dirty="0">
                <a:solidFill>
                  <a:schemeClr val="accent6"/>
                </a:solidFill>
              </a:rPr>
              <a:t>brewery_id · 558 entities · max 62 rows each</a:t>
            </a:r>
            <a:endParaRPr lang="en-US" sz="1000" dirty="0"/>
          </a:p>
        </p:txBody>
      </p:sp>
      <p:sp>
        <p:nvSpPr>
          <p:cNvPr id="21" name="Share bar Beers track"/>
          <p:cNvSpPr/>
          <p:nvPr/>
        </p:nvSpPr>
        <p:spPr>
          <a:xfrm>
            <a:off x="777240" y="4800600"/>
            <a:ext cx="2651760" cy="109728"/>
          </a:xfrm>
          <a:prstGeom prst="rect">
            <a:avLst/>
          </a:prstGeom>
          <a:solidFill>
            <a:schemeClr val="bg2"/>
          </a:solidFill>
          <a:ln/>
        </p:spPr>
        <p:txBody>
          <a:bodyPr/>
          <a:p/>
        </p:txBody>
      </p:sp>
      <p:sp>
        <p:nvSpPr>
          <p:cNvPr id="22" name="Share bar Beers fill"/>
          <p:cNvSpPr/>
          <p:nvPr/>
        </p:nvSpPr>
        <p:spPr>
          <a:xfrm>
            <a:off x="777240" y="4800600"/>
            <a:ext cx="2511217" cy="109728"/>
          </a:xfrm>
          <a:prstGeom prst="rect">
            <a:avLst/>
          </a:prstGeom>
          <a:solidFill>
            <a:schemeClr val="accent3"/>
          </a:solidFill>
          <a:ln/>
        </p:spPr>
        <p:txBody>
          <a:bodyPr/>
          <a:p/>
        </p:txBody>
      </p:sp>
      <p:sp>
        <p:nvSpPr>
          <p:cNvPr id="23" name="Text 21"/>
          <p:cNvSpPr txBox="1"/>
          <p:nvPr/>
        </p:nvSpPr>
        <p:spPr>
          <a:xfrm>
            <a:off x="777240" y="5166360"/>
            <a:ext cx="2651760" cy="777240"/>
          </a:xfrm>
          <a:prstGeom prst="rect">
            <a:avLst/>
          </a:prstGeom>
          <a:noFill/>
          <a:ln/>
        </p:spPr>
        <p:txBody>
          <a:bodyPr wrap="square" lIns="0" tIns="0" rIns="0" bIns="0" rtlCol="0" anchor="t"/>
          <a:lstStyle/>
          <a:p>
            <a:pPr indent="0" marL="0">
              <a:buNone/>
            </a:pPr>
            <a:r>
              <a:rPr lang="en-US" sz="1150" dirty="0">
                <a:solidFill>
                  <a:schemeClr val="accent6"/>
                </a:solidFill>
              </a:rPr>
              <a:t>Share of rows with an entity key used by other rows. Rayyan and Movies never repeat an id (0%), so each row is its own entity.</a:t>
            </a:r>
            <a:endParaRPr lang="en-US" sz="1150" dirty="0"/>
          </a:p>
        </p:txBody>
      </p:sp>
      <p:sp>
        <p:nvSpPr>
          <p:cNvPr id="24" name="Split bars card"/>
          <p:cNvSpPr/>
          <p:nvPr/>
        </p:nvSpPr>
        <p:spPr>
          <a:xfrm>
            <a:off x="3840480" y="1417320"/>
            <a:ext cx="5394960" cy="4663440"/>
          </a:xfrm>
          <a:prstGeom prst="roundRect">
            <a:avLst>
              <a:gd name="adj" fmla="val 1569"/>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25" name="Text 23"/>
          <p:cNvSpPr txBox="1"/>
          <p:nvPr/>
        </p:nvSpPr>
        <p:spPr>
          <a:xfrm>
            <a:off x="4069080" y="1600200"/>
            <a:ext cx="329184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ROWS PER SPLIT (TRUE ERRORS)</a:t>
            </a:r>
            <a:endParaRPr lang="en-US" sz="1100" dirty="0"/>
          </a:p>
        </p:txBody>
      </p:sp>
      <p:sp>
        <p:nvSpPr>
          <p:cNvPr id="26" name="Legend Train"/>
          <p:cNvSpPr/>
          <p:nvPr/>
        </p:nvSpPr>
        <p:spPr>
          <a:xfrm>
            <a:off x="7031736" y="1664208"/>
            <a:ext cx="109728" cy="109728"/>
          </a:xfrm>
          <a:prstGeom prst="rect">
            <a:avLst/>
          </a:prstGeom>
          <a:solidFill>
            <a:schemeClr val="accent3"/>
          </a:solidFill>
          <a:ln/>
        </p:spPr>
        <p:txBody>
          <a:bodyPr/>
          <a:p/>
        </p:txBody>
      </p:sp>
      <p:sp>
        <p:nvSpPr>
          <p:cNvPr id="27" name="Text 25"/>
          <p:cNvSpPr txBox="1"/>
          <p:nvPr/>
        </p:nvSpPr>
        <p:spPr>
          <a:xfrm>
            <a:off x="7196328" y="1600200"/>
            <a:ext cx="457200" cy="228600"/>
          </a:xfrm>
          <a:prstGeom prst="rect">
            <a:avLst/>
          </a:prstGeom>
          <a:noFill/>
          <a:ln/>
        </p:spPr>
        <p:txBody>
          <a:bodyPr wrap="square" lIns="0" tIns="0" rIns="0" bIns="0" rtlCol="0" anchor="ctr"/>
          <a:lstStyle/>
          <a:p>
            <a:pPr indent="0" marL="0">
              <a:buNone/>
            </a:pPr>
            <a:r>
              <a:rPr lang="en-US" sz="1050" dirty="0">
                <a:solidFill>
                  <a:schemeClr val="accent6"/>
                </a:solidFill>
              </a:rPr>
              <a:t>Train</a:t>
            </a:r>
            <a:endParaRPr lang="en-US" sz="1050" dirty="0"/>
          </a:p>
        </p:txBody>
      </p:sp>
      <p:sp>
        <p:nvSpPr>
          <p:cNvPr id="28" name="Legend Val"/>
          <p:cNvSpPr/>
          <p:nvPr/>
        </p:nvSpPr>
        <p:spPr>
          <a:xfrm>
            <a:off x="7690104" y="1664208"/>
            <a:ext cx="109728" cy="109728"/>
          </a:xfrm>
          <a:prstGeom prst="rect">
            <a:avLst/>
          </a:prstGeom>
          <a:solidFill>
            <a:schemeClr val="accent2"/>
          </a:solidFill>
          <a:ln/>
        </p:spPr>
        <p:txBody>
          <a:bodyPr/>
          <a:p/>
        </p:txBody>
      </p:sp>
      <p:sp>
        <p:nvSpPr>
          <p:cNvPr id="29" name="Text 27"/>
          <p:cNvSpPr txBox="1"/>
          <p:nvPr/>
        </p:nvSpPr>
        <p:spPr>
          <a:xfrm>
            <a:off x="7854696" y="1600200"/>
            <a:ext cx="457200" cy="228600"/>
          </a:xfrm>
          <a:prstGeom prst="rect">
            <a:avLst/>
          </a:prstGeom>
          <a:noFill/>
          <a:ln/>
        </p:spPr>
        <p:txBody>
          <a:bodyPr wrap="square" lIns="0" tIns="0" rIns="0" bIns="0" rtlCol="0" anchor="ctr"/>
          <a:lstStyle/>
          <a:p>
            <a:pPr indent="0" marL="0">
              <a:buNone/>
            </a:pPr>
            <a:r>
              <a:rPr lang="en-US" sz="1050" dirty="0">
                <a:solidFill>
                  <a:schemeClr val="accent6"/>
                </a:solidFill>
              </a:rPr>
              <a:t>Val</a:t>
            </a:r>
            <a:endParaRPr lang="en-US" sz="1050" dirty="0"/>
          </a:p>
        </p:txBody>
      </p:sp>
      <p:sp>
        <p:nvSpPr>
          <p:cNvPr id="30" name="Legend Test"/>
          <p:cNvSpPr/>
          <p:nvPr/>
        </p:nvSpPr>
        <p:spPr>
          <a:xfrm>
            <a:off x="8348472" y="1664208"/>
            <a:ext cx="109728" cy="109728"/>
          </a:xfrm>
          <a:prstGeom prst="rect">
            <a:avLst/>
          </a:prstGeom>
          <a:solidFill>
            <a:schemeClr val="accent6"/>
          </a:solidFill>
          <a:ln/>
        </p:spPr>
        <p:txBody>
          <a:bodyPr/>
          <a:p/>
        </p:txBody>
      </p:sp>
      <p:sp>
        <p:nvSpPr>
          <p:cNvPr id="31" name="Text 29"/>
          <p:cNvSpPr txBox="1"/>
          <p:nvPr/>
        </p:nvSpPr>
        <p:spPr>
          <a:xfrm>
            <a:off x="8513064" y="1600200"/>
            <a:ext cx="457200" cy="228600"/>
          </a:xfrm>
          <a:prstGeom prst="rect">
            <a:avLst/>
          </a:prstGeom>
          <a:noFill/>
          <a:ln/>
        </p:spPr>
        <p:txBody>
          <a:bodyPr wrap="square" lIns="0" tIns="0" rIns="0" bIns="0" rtlCol="0" anchor="ctr"/>
          <a:lstStyle/>
          <a:p>
            <a:pPr indent="0" marL="0">
              <a:buNone/>
            </a:pPr>
            <a:r>
              <a:rPr lang="en-US" sz="1050" dirty="0">
                <a:solidFill>
                  <a:schemeClr val="accent6"/>
                </a:solidFill>
              </a:rPr>
              <a:t>Test</a:t>
            </a:r>
            <a:endParaRPr lang="en-US" sz="1050" dirty="0"/>
          </a:p>
        </p:txBody>
      </p:sp>
      <p:sp>
        <p:nvSpPr>
          <p:cNvPr id="32" name="Text 30"/>
          <p:cNvSpPr txBox="1"/>
          <p:nvPr/>
        </p:nvSpPr>
        <p:spPr>
          <a:xfrm>
            <a:off x="4069080" y="1984248"/>
            <a:ext cx="868680" cy="347472"/>
          </a:xfrm>
          <a:prstGeom prst="rect">
            <a:avLst/>
          </a:prstGeom>
          <a:noFill/>
          <a:ln/>
        </p:spPr>
        <p:txBody>
          <a:bodyPr wrap="square" lIns="0" tIns="0" rIns="0" bIns="0" rtlCol="0" anchor="ctr"/>
          <a:lstStyle/>
          <a:p>
            <a:pPr indent="0" marL="0">
              <a:buNone/>
            </a:pPr>
            <a:r>
              <a:rPr lang="en-US" sz="1300" b="1" dirty="0">
                <a:solidFill>
                  <a:schemeClr val="tx1"/>
                </a:solidFill>
              </a:rPr>
              <a:t>Hospital</a:t>
            </a:r>
            <a:endParaRPr lang="en-US" sz="1300" dirty="0"/>
          </a:p>
        </p:txBody>
      </p:sp>
      <p:sp>
        <p:nvSpPr>
          <p:cNvPr id="33" name="Split Hospital 0"/>
          <p:cNvSpPr/>
          <p:nvPr/>
        </p:nvSpPr>
        <p:spPr>
          <a:xfrm>
            <a:off x="4983480" y="1984248"/>
            <a:ext cx="2201875" cy="310896"/>
          </a:xfrm>
          <a:prstGeom prst="rect">
            <a:avLst/>
          </a:prstGeom>
          <a:solidFill>
            <a:schemeClr val="accent3"/>
          </a:solidFill>
          <a:ln w="12700">
            <a:solidFill>
              <a:schemeClr val="bg1"/>
            </a:solidFill>
            <a:prstDash val="solid"/>
          </a:ln>
        </p:spPr>
        <p:txBody>
          <a:bodyPr/>
          <a:p/>
        </p:txBody>
      </p:sp>
      <p:sp>
        <p:nvSpPr>
          <p:cNvPr id="34" name="Text 32"/>
          <p:cNvSpPr txBox="1"/>
          <p:nvPr/>
        </p:nvSpPr>
        <p:spPr>
          <a:xfrm>
            <a:off x="4983480" y="1984248"/>
            <a:ext cx="2201875" cy="310896"/>
          </a:xfrm>
          <a:prstGeom prst="rect">
            <a:avLst/>
          </a:prstGeom>
          <a:noFill/>
          <a:ln/>
        </p:spPr>
        <p:txBody>
          <a:bodyPr wrap="square" lIns="0" tIns="0" rIns="0" bIns="0" rtlCol="0" anchor="ctr"/>
          <a:lstStyle/>
          <a:p>
            <a:pPr algn="ctr" indent="0" marL="0">
              <a:buNone/>
            </a:pPr>
            <a:r>
              <a:rPr lang="en-US" sz="1000" b="1" dirty="0">
                <a:solidFill>
                  <a:schemeClr val="bg1"/>
                </a:solidFill>
              </a:rPr>
              <a:t>68.8%</a:t>
            </a:r>
            <a:endParaRPr lang="en-US" sz="1000" dirty="0"/>
          </a:p>
        </p:txBody>
      </p:sp>
      <p:sp>
        <p:nvSpPr>
          <p:cNvPr id="35" name="Split Hospital 1"/>
          <p:cNvSpPr/>
          <p:nvPr/>
        </p:nvSpPr>
        <p:spPr>
          <a:xfrm>
            <a:off x="7185355" y="1984248"/>
            <a:ext cx="489661" cy="310896"/>
          </a:xfrm>
          <a:prstGeom prst="rect">
            <a:avLst/>
          </a:prstGeom>
          <a:solidFill>
            <a:schemeClr val="accent2"/>
          </a:solidFill>
          <a:ln w="12700">
            <a:solidFill>
              <a:schemeClr val="bg1"/>
            </a:solidFill>
            <a:prstDash val="solid"/>
          </a:ln>
        </p:spPr>
        <p:txBody>
          <a:bodyPr/>
          <a:p/>
        </p:txBody>
      </p:sp>
      <p:sp>
        <p:nvSpPr>
          <p:cNvPr id="36" name="Text 34"/>
          <p:cNvSpPr txBox="1"/>
          <p:nvPr/>
        </p:nvSpPr>
        <p:spPr>
          <a:xfrm>
            <a:off x="7185355" y="1984248"/>
            <a:ext cx="489661" cy="310896"/>
          </a:xfrm>
          <a:prstGeom prst="rect">
            <a:avLst/>
          </a:prstGeom>
          <a:noFill/>
          <a:ln/>
        </p:spPr>
        <p:txBody>
          <a:bodyPr wrap="square" lIns="0" tIns="0" rIns="0" bIns="0" rtlCol="0" anchor="ctr"/>
          <a:lstStyle/>
          <a:p>
            <a:pPr algn="ctr" indent="0" marL="0">
              <a:buNone/>
            </a:pPr>
            <a:r>
              <a:rPr lang="en-US" sz="1000" b="1" dirty="0">
                <a:solidFill>
                  <a:schemeClr val="tx1"/>
                </a:solidFill>
              </a:rPr>
              <a:t>15.3%</a:t>
            </a:r>
            <a:endParaRPr lang="en-US" sz="1000" dirty="0"/>
          </a:p>
        </p:txBody>
      </p:sp>
      <p:sp>
        <p:nvSpPr>
          <p:cNvPr id="37" name="Split Hospital 2"/>
          <p:cNvSpPr/>
          <p:nvPr/>
        </p:nvSpPr>
        <p:spPr>
          <a:xfrm>
            <a:off x="7675016" y="1984248"/>
            <a:ext cx="508864" cy="310896"/>
          </a:xfrm>
          <a:prstGeom prst="rect">
            <a:avLst/>
          </a:prstGeom>
          <a:solidFill>
            <a:schemeClr val="accent6"/>
          </a:solidFill>
          <a:ln w="12700">
            <a:solidFill>
              <a:schemeClr val="bg1"/>
            </a:solidFill>
            <a:prstDash val="solid"/>
          </a:ln>
        </p:spPr>
        <p:txBody>
          <a:bodyPr/>
          <a:p/>
        </p:txBody>
      </p:sp>
      <p:sp>
        <p:nvSpPr>
          <p:cNvPr id="38" name="Text 36"/>
          <p:cNvSpPr txBox="1"/>
          <p:nvPr/>
        </p:nvSpPr>
        <p:spPr>
          <a:xfrm>
            <a:off x="7675016" y="1984248"/>
            <a:ext cx="508864" cy="310896"/>
          </a:xfrm>
          <a:prstGeom prst="rect">
            <a:avLst/>
          </a:prstGeom>
          <a:noFill/>
          <a:ln/>
        </p:spPr>
        <p:txBody>
          <a:bodyPr wrap="square" lIns="0" tIns="0" rIns="0" bIns="0" rtlCol="0" anchor="ctr"/>
          <a:lstStyle/>
          <a:p>
            <a:pPr algn="ctr" indent="0" marL="0">
              <a:buNone/>
            </a:pPr>
            <a:r>
              <a:rPr lang="en-US" sz="1000" b="1" dirty="0">
                <a:solidFill>
                  <a:schemeClr val="bg1"/>
                </a:solidFill>
              </a:rPr>
              <a:t>15.9%</a:t>
            </a:r>
            <a:endParaRPr lang="en-US" sz="1000" dirty="0"/>
          </a:p>
        </p:txBody>
      </p:sp>
      <p:sp>
        <p:nvSpPr>
          <p:cNvPr id="39" name="Text 37"/>
          <p:cNvSpPr txBox="1"/>
          <p:nvPr/>
        </p:nvSpPr>
        <p:spPr>
          <a:xfrm>
            <a:off x="4983480" y="2331720"/>
            <a:ext cx="3383280" cy="201168"/>
          </a:xfrm>
          <a:prstGeom prst="rect">
            <a:avLst/>
          </a:prstGeom>
          <a:noFill/>
          <a:ln/>
        </p:spPr>
        <p:txBody>
          <a:bodyPr wrap="square" lIns="0" tIns="0" rIns="0" bIns="0" rtlCol="0" anchor="ctr"/>
          <a:lstStyle/>
          <a:p>
            <a:pPr indent="0" marL="0">
              <a:buNone/>
            </a:pPr>
            <a:r>
              <a:rPr lang="en-US" sz="1000" dirty="0">
                <a:solidFill>
                  <a:schemeClr val="accent6"/>
                </a:solidFill>
              </a:rPr>
              <a:t>Train 688 (354) · Val 153 (79) · Test 159 (76)</a:t>
            </a:r>
            <a:endParaRPr lang="en-US" sz="1000" dirty="0"/>
          </a:p>
        </p:txBody>
      </p:sp>
      <p:sp>
        <p:nvSpPr>
          <p:cNvPr id="40" name="Text 38"/>
          <p:cNvSpPr txBox="1"/>
          <p:nvPr/>
        </p:nvSpPr>
        <p:spPr>
          <a:xfrm>
            <a:off x="8275320" y="1965960"/>
            <a:ext cx="731520" cy="347472"/>
          </a:xfrm>
          <a:prstGeom prst="rect">
            <a:avLst/>
          </a:prstGeom>
          <a:noFill/>
          <a:ln/>
        </p:spPr>
        <p:txBody>
          <a:bodyPr wrap="square" lIns="0" tIns="0" rIns="0" bIns="0" rtlCol="0" anchor="ctr"/>
          <a:lstStyle/>
          <a:p>
            <a:pPr algn="r" indent="0" marL="0">
              <a:buNone/>
            </a:pPr>
            <a:r>
              <a:rPr lang="en-US" sz="1600" b="1" dirty="0">
                <a:solidFill>
                  <a:schemeClr val="accent3"/>
                </a:solidFill>
              </a:rPr>
              <a:t>509</a:t>
            </a:r>
            <a:endParaRPr lang="en-US" sz="1600" dirty="0"/>
          </a:p>
        </p:txBody>
      </p:sp>
      <p:sp>
        <p:nvSpPr>
          <p:cNvPr id="41" name="Text 39"/>
          <p:cNvSpPr txBox="1"/>
          <p:nvPr/>
        </p:nvSpPr>
        <p:spPr>
          <a:xfrm>
            <a:off x="8275320" y="2295144"/>
            <a:ext cx="731520" cy="182880"/>
          </a:xfrm>
          <a:prstGeom prst="rect">
            <a:avLst/>
          </a:prstGeom>
          <a:noFill/>
          <a:ln/>
        </p:spPr>
        <p:txBody>
          <a:bodyPr wrap="square" lIns="0" tIns="0" rIns="0" bIns="0" rtlCol="0" anchor="ctr"/>
          <a:lstStyle/>
          <a:p>
            <a:pPr algn="r" indent="0" marL="0">
              <a:buNone/>
            </a:pPr>
            <a:r>
              <a:rPr lang="en-US" sz="1000" dirty="0">
                <a:solidFill>
                  <a:schemeClr val="accent6"/>
                </a:solidFill>
              </a:rPr>
              <a:t>errors</a:t>
            </a:r>
            <a:endParaRPr lang="en-US" sz="1000" dirty="0"/>
          </a:p>
        </p:txBody>
      </p:sp>
      <p:sp>
        <p:nvSpPr>
          <p:cNvPr id="42" name="Text 40"/>
          <p:cNvSpPr txBox="1"/>
          <p:nvPr/>
        </p:nvSpPr>
        <p:spPr>
          <a:xfrm>
            <a:off x="4069080" y="2697480"/>
            <a:ext cx="868680" cy="347472"/>
          </a:xfrm>
          <a:prstGeom prst="rect">
            <a:avLst/>
          </a:prstGeom>
          <a:noFill/>
          <a:ln/>
        </p:spPr>
        <p:txBody>
          <a:bodyPr wrap="square" lIns="0" tIns="0" rIns="0" bIns="0" rtlCol="0" anchor="ctr"/>
          <a:lstStyle/>
          <a:p>
            <a:pPr indent="0" marL="0">
              <a:buNone/>
            </a:pPr>
            <a:r>
              <a:rPr lang="en-US" sz="1300" b="1" dirty="0">
                <a:solidFill>
                  <a:schemeClr val="tx1"/>
                </a:solidFill>
              </a:rPr>
              <a:t>Flights</a:t>
            </a:r>
            <a:endParaRPr lang="en-US" sz="1300" dirty="0"/>
          </a:p>
        </p:txBody>
      </p:sp>
      <p:sp>
        <p:nvSpPr>
          <p:cNvPr id="43" name="Split Flights 0"/>
          <p:cNvSpPr/>
          <p:nvPr/>
        </p:nvSpPr>
        <p:spPr>
          <a:xfrm>
            <a:off x="4983480" y="2697480"/>
            <a:ext cx="2223847" cy="310896"/>
          </a:xfrm>
          <a:prstGeom prst="rect">
            <a:avLst/>
          </a:prstGeom>
          <a:solidFill>
            <a:schemeClr val="accent3"/>
          </a:solidFill>
          <a:ln w="12700">
            <a:solidFill>
              <a:schemeClr val="bg1"/>
            </a:solidFill>
            <a:prstDash val="solid"/>
          </a:ln>
        </p:spPr>
        <p:txBody>
          <a:bodyPr/>
          <a:p/>
        </p:txBody>
      </p:sp>
      <p:sp>
        <p:nvSpPr>
          <p:cNvPr id="44" name="Text 42"/>
          <p:cNvSpPr txBox="1"/>
          <p:nvPr/>
        </p:nvSpPr>
        <p:spPr>
          <a:xfrm>
            <a:off x="4983480" y="2697480"/>
            <a:ext cx="2223847" cy="310896"/>
          </a:xfrm>
          <a:prstGeom prst="rect">
            <a:avLst/>
          </a:prstGeom>
          <a:noFill/>
          <a:ln/>
        </p:spPr>
        <p:txBody>
          <a:bodyPr wrap="square" lIns="0" tIns="0" rIns="0" bIns="0" rtlCol="0" anchor="ctr"/>
          <a:lstStyle/>
          <a:p>
            <a:pPr algn="ctr" indent="0" marL="0">
              <a:buNone/>
            </a:pPr>
            <a:r>
              <a:rPr lang="en-US" sz="1000" b="1" dirty="0">
                <a:solidFill>
                  <a:schemeClr val="bg1"/>
                </a:solidFill>
              </a:rPr>
              <a:t>69.5%</a:t>
            </a:r>
            <a:endParaRPr lang="en-US" sz="1000" dirty="0"/>
          </a:p>
        </p:txBody>
      </p:sp>
      <p:sp>
        <p:nvSpPr>
          <p:cNvPr id="45" name="Split Flights 1"/>
          <p:cNvSpPr/>
          <p:nvPr/>
        </p:nvSpPr>
        <p:spPr>
          <a:xfrm>
            <a:off x="7207327" y="2697480"/>
            <a:ext cx="484909" cy="310896"/>
          </a:xfrm>
          <a:prstGeom prst="rect">
            <a:avLst/>
          </a:prstGeom>
          <a:solidFill>
            <a:schemeClr val="accent2"/>
          </a:solidFill>
          <a:ln w="12700">
            <a:solidFill>
              <a:schemeClr val="bg1"/>
            </a:solidFill>
            <a:prstDash val="solid"/>
          </a:ln>
        </p:spPr>
        <p:txBody>
          <a:bodyPr/>
          <a:p/>
        </p:txBody>
      </p:sp>
      <p:sp>
        <p:nvSpPr>
          <p:cNvPr id="46" name="Text 44"/>
          <p:cNvSpPr txBox="1"/>
          <p:nvPr/>
        </p:nvSpPr>
        <p:spPr>
          <a:xfrm>
            <a:off x="7207327" y="2697480"/>
            <a:ext cx="484909" cy="310896"/>
          </a:xfrm>
          <a:prstGeom prst="rect">
            <a:avLst/>
          </a:prstGeom>
          <a:noFill/>
          <a:ln/>
        </p:spPr>
        <p:txBody>
          <a:bodyPr wrap="square" lIns="0" tIns="0" rIns="0" bIns="0" rtlCol="0" anchor="ctr"/>
          <a:lstStyle/>
          <a:p>
            <a:pPr algn="ctr" indent="0" marL="0">
              <a:buNone/>
            </a:pPr>
            <a:r>
              <a:rPr lang="en-US" sz="1000" b="1" dirty="0">
                <a:solidFill>
                  <a:schemeClr val="tx1"/>
                </a:solidFill>
              </a:rPr>
              <a:t>15.2%</a:t>
            </a:r>
            <a:endParaRPr lang="en-US" sz="1000" dirty="0"/>
          </a:p>
        </p:txBody>
      </p:sp>
      <p:sp>
        <p:nvSpPr>
          <p:cNvPr id="47" name="Split Flights 2"/>
          <p:cNvSpPr/>
          <p:nvPr/>
        </p:nvSpPr>
        <p:spPr>
          <a:xfrm>
            <a:off x="7692236" y="2697480"/>
            <a:ext cx="491644" cy="310896"/>
          </a:xfrm>
          <a:prstGeom prst="rect">
            <a:avLst/>
          </a:prstGeom>
          <a:solidFill>
            <a:schemeClr val="accent6"/>
          </a:solidFill>
          <a:ln w="12700">
            <a:solidFill>
              <a:schemeClr val="bg1"/>
            </a:solidFill>
            <a:prstDash val="solid"/>
          </a:ln>
        </p:spPr>
        <p:txBody>
          <a:bodyPr/>
          <a:p/>
        </p:txBody>
      </p:sp>
      <p:sp>
        <p:nvSpPr>
          <p:cNvPr id="48" name="Text 46"/>
          <p:cNvSpPr txBox="1"/>
          <p:nvPr/>
        </p:nvSpPr>
        <p:spPr>
          <a:xfrm>
            <a:off x="7692236" y="2697480"/>
            <a:ext cx="491644" cy="310896"/>
          </a:xfrm>
          <a:prstGeom prst="rect">
            <a:avLst/>
          </a:prstGeom>
          <a:noFill/>
          <a:ln/>
        </p:spPr>
        <p:txBody>
          <a:bodyPr wrap="square" lIns="0" tIns="0" rIns="0" bIns="0" rtlCol="0" anchor="ctr"/>
          <a:lstStyle/>
          <a:p>
            <a:pPr algn="ctr" indent="0" marL="0">
              <a:buNone/>
            </a:pPr>
            <a:r>
              <a:rPr lang="en-US" sz="1000" b="1" dirty="0">
                <a:solidFill>
                  <a:schemeClr val="bg1"/>
                </a:solidFill>
              </a:rPr>
              <a:t>15.4%</a:t>
            </a:r>
            <a:endParaRPr lang="en-US" sz="1000" dirty="0"/>
          </a:p>
        </p:txBody>
      </p:sp>
      <p:sp>
        <p:nvSpPr>
          <p:cNvPr id="49" name="Text 47"/>
          <p:cNvSpPr txBox="1"/>
          <p:nvPr/>
        </p:nvSpPr>
        <p:spPr>
          <a:xfrm>
            <a:off x="4983480" y="3044952"/>
            <a:ext cx="3383280" cy="201168"/>
          </a:xfrm>
          <a:prstGeom prst="rect">
            <a:avLst/>
          </a:prstGeom>
          <a:noFill/>
          <a:ln/>
        </p:spPr>
        <p:txBody>
          <a:bodyPr wrap="square" lIns="0" tIns="0" rIns="0" bIns="0" rtlCol="0" anchor="ctr"/>
          <a:lstStyle/>
          <a:p>
            <a:pPr indent="0" marL="0">
              <a:buNone/>
            </a:pPr>
            <a:r>
              <a:rPr lang="en-US" sz="1000" dirty="0">
                <a:solidFill>
                  <a:schemeClr val="accent6"/>
                </a:solidFill>
              </a:rPr>
              <a:t>Train 1,651 (3,480) · Val 360 (723) · Test 365 (717)</a:t>
            </a:r>
            <a:endParaRPr lang="en-US" sz="1000" dirty="0"/>
          </a:p>
        </p:txBody>
      </p:sp>
      <p:sp>
        <p:nvSpPr>
          <p:cNvPr id="50" name="Text 48"/>
          <p:cNvSpPr txBox="1"/>
          <p:nvPr/>
        </p:nvSpPr>
        <p:spPr>
          <a:xfrm>
            <a:off x="8275320" y="2679192"/>
            <a:ext cx="731520" cy="347472"/>
          </a:xfrm>
          <a:prstGeom prst="rect">
            <a:avLst/>
          </a:prstGeom>
          <a:noFill/>
          <a:ln/>
        </p:spPr>
        <p:txBody>
          <a:bodyPr wrap="square" lIns="0" tIns="0" rIns="0" bIns="0" rtlCol="0" anchor="ctr"/>
          <a:lstStyle/>
          <a:p>
            <a:pPr algn="r" indent="0" marL="0">
              <a:buNone/>
            </a:pPr>
            <a:r>
              <a:rPr lang="en-US" sz="1600" b="1" dirty="0">
                <a:solidFill>
                  <a:schemeClr val="accent3"/>
                </a:solidFill>
              </a:rPr>
              <a:t>4,920</a:t>
            </a:r>
            <a:endParaRPr lang="en-US" sz="1600" dirty="0"/>
          </a:p>
        </p:txBody>
      </p:sp>
      <p:sp>
        <p:nvSpPr>
          <p:cNvPr id="51" name="Text 49"/>
          <p:cNvSpPr txBox="1"/>
          <p:nvPr/>
        </p:nvSpPr>
        <p:spPr>
          <a:xfrm>
            <a:off x="8275320" y="3008376"/>
            <a:ext cx="731520" cy="182880"/>
          </a:xfrm>
          <a:prstGeom prst="rect">
            <a:avLst/>
          </a:prstGeom>
          <a:noFill/>
          <a:ln/>
        </p:spPr>
        <p:txBody>
          <a:bodyPr wrap="square" lIns="0" tIns="0" rIns="0" bIns="0" rtlCol="0" anchor="ctr"/>
          <a:lstStyle/>
          <a:p>
            <a:pPr algn="r" indent="0" marL="0">
              <a:buNone/>
            </a:pPr>
            <a:r>
              <a:rPr lang="en-US" sz="1000" dirty="0">
                <a:solidFill>
                  <a:schemeClr val="accent6"/>
                </a:solidFill>
              </a:rPr>
              <a:t>errors</a:t>
            </a:r>
            <a:endParaRPr lang="en-US" sz="1000" dirty="0"/>
          </a:p>
        </p:txBody>
      </p:sp>
      <p:sp>
        <p:nvSpPr>
          <p:cNvPr id="52" name="Text 50"/>
          <p:cNvSpPr txBox="1"/>
          <p:nvPr/>
        </p:nvSpPr>
        <p:spPr>
          <a:xfrm>
            <a:off x="4069080" y="3410712"/>
            <a:ext cx="868680" cy="347472"/>
          </a:xfrm>
          <a:prstGeom prst="rect">
            <a:avLst/>
          </a:prstGeom>
          <a:noFill/>
          <a:ln/>
        </p:spPr>
        <p:txBody>
          <a:bodyPr wrap="square" lIns="0" tIns="0" rIns="0" bIns="0" rtlCol="0" anchor="ctr"/>
          <a:lstStyle/>
          <a:p>
            <a:pPr indent="0" marL="0">
              <a:buNone/>
            </a:pPr>
            <a:r>
              <a:rPr lang="en-US" sz="1300" b="1" dirty="0">
                <a:solidFill>
                  <a:schemeClr val="tx1"/>
                </a:solidFill>
              </a:rPr>
              <a:t>Beers</a:t>
            </a:r>
            <a:endParaRPr lang="en-US" sz="1300" dirty="0"/>
          </a:p>
        </p:txBody>
      </p:sp>
      <p:sp>
        <p:nvSpPr>
          <p:cNvPr id="53" name="Split Beers 0"/>
          <p:cNvSpPr/>
          <p:nvPr/>
        </p:nvSpPr>
        <p:spPr>
          <a:xfrm>
            <a:off x="4983480" y="3410712"/>
            <a:ext cx="2238952" cy="310896"/>
          </a:xfrm>
          <a:prstGeom prst="rect">
            <a:avLst/>
          </a:prstGeom>
          <a:solidFill>
            <a:schemeClr val="accent3"/>
          </a:solidFill>
          <a:ln w="12700">
            <a:solidFill>
              <a:schemeClr val="bg1"/>
            </a:solidFill>
            <a:prstDash val="solid"/>
          </a:ln>
        </p:spPr>
        <p:txBody>
          <a:bodyPr/>
          <a:p/>
        </p:txBody>
      </p:sp>
      <p:sp>
        <p:nvSpPr>
          <p:cNvPr id="54" name="Text 52"/>
          <p:cNvSpPr txBox="1"/>
          <p:nvPr/>
        </p:nvSpPr>
        <p:spPr>
          <a:xfrm>
            <a:off x="4983480" y="3410712"/>
            <a:ext cx="2238952" cy="310896"/>
          </a:xfrm>
          <a:prstGeom prst="rect">
            <a:avLst/>
          </a:prstGeom>
          <a:noFill/>
          <a:ln/>
        </p:spPr>
        <p:txBody>
          <a:bodyPr wrap="square" lIns="0" tIns="0" rIns="0" bIns="0" rtlCol="0" anchor="ctr"/>
          <a:lstStyle/>
          <a:p>
            <a:pPr algn="ctr" indent="0" marL="0">
              <a:buNone/>
            </a:pPr>
            <a:r>
              <a:rPr lang="en-US" sz="1000" b="1" dirty="0">
                <a:solidFill>
                  <a:schemeClr val="bg1"/>
                </a:solidFill>
              </a:rPr>
              <a:t>70.0%</a:t>
            </a:r>
            <a:endParaRPr lang="en-US" sz="1000" dirty="0"/>
          </a:p>
        </p:txBody>
      </p:sp>
      <p:sp>
        <p:nvSpPr>
          <p:cNvPr id="55" name="Split Beers 1"/>
          <p:cNvSpPr/>
          <p:nvPr/>
        </p:nvSpPr>
        <p:spPr>
          <a:xfrm>
            <a:off x="7222432" y="3410712"/>
            <a:ext cx="482052" cy="310896"/>
          </a:xfrm>
          <a:prstGeom prst="rect">
            <a:avLst/>
          </a:prstGeom>
          <a:solidFill>
            <a:schemeClr val="accent2"/>
          </a:solidFill>
          <a:ln w="12700">
            <a:solidFill>
              <a:schemeClr val="bg1"/>
            </a:solidFill>
            <a:prstDash val="solid"/>
          </a:ln>
        </p:spPr>
        <p:txBody>
          <a:bodyPr/>
          <a:p/>
        </p:txBody>
      </p:sp>
      <p:sp>
        <p:nvSpPr>
          <p:cNvPr id="56" name="Text 54"/>
          <p:cNvSpPr txBox="1"/>
          <p:nvPr/>
        </p:nvSpPr>
        <p:spPr>
          <a:xfrm>
            <a:off x="7222432" y="3410712"/>
            <a:ext cx="482052" cy="310896"/>
          </a:xfrm>
          <a:prstGeom prst="rect">
            <a:avLst/>
          </a:prstGeom>
          <a:noFill/>
          <a:ln/>
        </p:spPr>
        <p:txBody>
          <a:bodyPr wrap="square" lIns="0" tIns="0" rIns="0" bIns="0" rtlCol="0" anchor="ctr"/>
          <a:lstStyle/>
          <a:p>
            <a:pPr algn="ctr" indent="0" marL="0">
              <a:buNone/>
            </a:pPr>
            <a:r>
              <a:rPr lang="en-US" sz="1000" b="1" dirty="0">
                <a:solidFill>
                  <a:schemeClr val="tx1"/>
                </a:solidFill>
              </a:rPr>
              <a:t>15.1%</a:t>
            </a:r>
            <a:endParaRPr lang="en-US" sz="1000" dirty="0"/>
          </a:p>
        </p:txBody>
      </p:sp>
      <p:sp>
        <p:nvSpPr>
          <p:cNvPr id="57" name="Split Beers 2"/>
          <p:cNvSpPr/>
          <p:nvPr/>
        </p:nvSpPr>
        <p:spPr>
          <a:xfrm>
            <a:off x="7704484" y="3410712"/>
            <a:ext cx="479396" cy="310896"/>
          </a:xfrm>
          <a:prstGeom prst="rect">
            <a:avLst/>
          </a:prstGeom>
          <a:solidFill>
            <a:schemeClr val="accent6"/>
          </a:solidFill>
          <a:ln w="12700">
            <a:solidFill>
              <a:schemeClr val="bg1"/>
            </a:solidFill>
            <a:prstDash val="solid"/>
          </a:ln>
        </p:spPr>
        <p:txBody>
          <a:bodyPr/>
          <a:p/>
        </p:txBody>
      </p:sp>
      <p:sp>
        <p:nvSpPr>
          <p:cNvPr id="58" name="Text 56"/>
          <p:cNvSpPr txBox="1"/>
          <p:nvPr/>
        </p:nvSpPr>
        <p:spPr>
          <a:xfrm>
            <a:off x="7704484" y="3410712"/>
            <a:ext cx="479396" cy="310896"/>
          </a:xfrm>
          <a:prstGeom prst="rect">
            <a:avLst/>
          </a:prstGeom>
          <a:noFill/>
          <a:ln/>
        </p:spPr>
        <p:txBody>
          <a:bodyPr wrap="square" lIns="0" tIns="0" rIns="0" bIns="0" rtlCol="0" anchor="ctr"/>
          <a:lstStyle/>
          <a:p>
            <a:pPr algn="ctr" indent="0" marL="0">
              <a:buNone/>
            </a:pPr>
            <a:r>
              <a:rPr lang="en-US" sz="1000" b="1" dirty="0">
                <a:solidFill>
                  <a:schemeClr val="bg1"/>
                </a:solidFill>
              </a:rPr>
              <a:t>15.0%</a:t>
            </a:r>
            <a:endParaRPr lang="en-US" sz="1000" dirty="0"/>
          </a:p>
        </p:txBody>
      </p:sp>
      <p:sp>
        <p:nvSpPr>
          <p:cNvPr id="59" name="Text 57"/>
          <p:cNvSpPr txBox="1"/>
          <p:nvPr/>
        </p:nvSpPr>
        <p:spPr>
          <a:xfrm>
            <a:off x="4983480" y="3758184"/>
            <a:ext cx="3383280" cy="201168"/>
          </a:xfrm>
          <a:prstGeom prst="rect">
            <a:avLst/>
          </a:prstGeom>
          <a:noFill/>
          <a:ln/>
        </p:spPr>
        <p:txBody>
          <a:bodyPr wrap="square" lIns="0" tIns="0" rIns="0" bIns="0" rtlCol="0" anchor="ctr"/>
          <a:lstStyle/>
          <a:p>
            <a:pPr indent="0" marL="0">
              <a:buNone/>
            </a:pPr>
            <a:r>
              <a:rPr lang="en-US" sz="1000" dirty="0">
                <a:solidFill>
                  <a:schemeClr val="accent6"/>
                </a:solidFill>
              </a:rPr>
              <a:t>Train 1,686 (3,035) · Val 363 (679) · Test 361 (648)</a:t>
            </a:r>
            <a:endParaRPr lang="en-US" sz="1000" dirty="0"/>
          </a:p>
        </p:txBody>
      </p:sp>
      <p:sp>
        <p:nvSpPr>
          <p:cNvPr id="60" name="Text 58"/>
          <p:cNvSpPr txBox="1"/>
          <p:nvPr/>
        </p:nvSpPr>
        <p:spPr>
          <a:xfrm>
            <a:off x="8275320" y="3392424"/>
            <a:ext cx="731520" cy="347472"/>
          </a:xfrm>
          <a:prstGeom prst="rect">
            <a:avLst/>
          </a:prstGeom>
          <a:noFill/>
          <a:ln/>
        </p:spPr>
        <p:txBody>
          <a:bodyPr wrap="square" lIns="0" tIns="0" rIns="0" bIns="0" rtlCol="0" anchor="ctr"/>
          <a:lstStyle/>
          <a:p>
            <a:pPr algn="r" indent="0" marL="0">
              <a:buNone/>
            </a:pPr>
            <a:r>
              <a:rPr lang="en-US" sz="1600" b="1" dirty="0">
                <a:solidFill>
                  <a:schemeClr val="accent3"/>
                </a:solidFill>
              </a:rPr>
              <a:t>4,362</a:t>
            </a:r>
            <a:endParaRPr lang="en-US" sz="1600" dirty="0"/>
          </a:p>
        </p:txBody>
      </p:sp>
      <p:sp>
        <p:nvSpPr>
          <p:cNvPr id="61" name="Text 59"/>
          <p:cNvSpPr txBox="1"/>
          <p:nvPr/>
        </p:nvSpPr>
        <p:spPr>
          <a:xfrm>
            <a:off x="8275320" y="3721608"/>
            <a:ext cx="731520" cy="182880"/>
          </a:xfrm>
          <a:prstGeom prst="rect">
            <a:avLst/>
          </a:prstGeom>
          <a:noFill/>
          <a:ln/>
        </p:spPr>
        <p:txBody>
          <a:bodyPr wrap="square" lIns="0" tIns="0" rIns="0" bIns="0" rtlCol="0" anchor="ctr"/>
          <a:lstStyle/>
          <a:p>
            <a:pPr algn="r" indent="0" marL="0">
              <a:buNone/>
            </a:pPr>
            <a:r>
              <a:rPr lang="en-US" sz="1000" dirty="0">
                <a:solidFill>
                  <a:schemeClr val="accent6"/>
                </a:solidFill>
              </a:rPr>
              <a:t>errors</a:t>
            </a:r>
            <a:endParaRPr lang="en-US" sz="1000" dirty="0"/>
          </a:p>
        </p:txBody>
      </p:sp>
      <p:sp>
        <p:nvSpPr>
          <p:cNvPr id="62" name="Text 60"/>
          <p:cNvSpPr txBox="1"/>
          <p:nvPr/>
        </p:nvSpPr>
        <p:spPr>
          <a:xfrm>
            <a:off x="4069080" y="4123944"/>
            <a:ext cx="868680" cy="347472"/>
          </a:xfrm>
          <a:prstGeom prst="rect">
            <a:avLst/>
          </a:prstGeom>
          <a:noFill/>
          <a:ln/>
        </p:spPr>
        <p:txBody>
          <a:bodyPr wrap="square" lIns="0" tIns="0" rIns="0" bIns="0" rtlCol="0" anchor="ctr"/>
          <a:lstStyle/>
          <a:p>
            <a:pPr indent="0" marL="0">
              <a:buNone/>
            </a:pPr>
            <a:r>
              <a:rPr lang="en-US" sz="1300" b="1" dirty="0">
                <a:solidFill>
                  <a:schemeClr val="tx1"/>
                </a:solidFill>
              </a:rPr>
              <a:t>Rayyan</a:t>
            </a:r>
            <a:endParaRPr lang="en-US" sz="1300" dirty="0"/>
          </a:p>
        </p:txBody>
      </p:sp>
      <p:sp>
        <p:nvSpPr>
          <p:cNvPr id="63" name="Split Rayyan 0"/>
          <p:cNvSpPr/>
          <p:nvPr/>
        </p:nvSpPr>
        <p:spPr>
          <a:xfrm>
            <a:off x="4983480" y="4123944"/>
            <a:ext cx="2240280" cy="310896"/>
          </a:xfrm>
          <a:prstGeom prst="rect">
            <a:avLst/>
          </a:prstGeom>
          <a:solidFill>
            <a:schemeClr val="accent3"/>
          </a:solidFill>
          <a:ln w="12700">
            <a:solidFill>
              <a:schemeClr val="bg1"/>
            </a:solidFill>
            <a:prstDash val="solid"/>
          </a:ln>
        </p:spPr>
        <p:txBody>
          <a:bodyPr/>
          <a:p/>
        </p:txBody>
      </p:sp>
      <p:sp>
        <p:nvSpPr>
          <p:cNvPr id="64" name="Text 62"/>
          <p:cNvSpPr txBox="1"/>
          <p:nvPr/>
        </p:nvSpPr>
        <p:spPr>
          <a:xfrm>
            <a:off x="4983480" y="4123944"/>
            <a:ext cx="2240280" cy="310896"/>
          </a:xfrm>
          <a:prstGeom prst="rect">
            <a:avLst/>
          </a:prstGeom>
          <a:noFill/>
          <a:ln/>
        </p:spPr>
        <p:txBody>
          <a:bodyPr wrap="square" lIns="0" tIns="0" rIns="0" bIns="0" rtlCol="0" anchor="ctr"/>
          <a:lstStyle/>
          <a:p>
            <a:pPr algn="ctr" indent="0" marL="0">
              <a:buNone/>
            </a:pPr>
            <a:r>
              <a:rPr lang="en-US" sz="1000" b="1" dirty="0">
                <a:solidFill>
                  <a:schemeClr val="bg1"/>
                </a:solidFill>
              </a:rPr>
              <a:t>70%</a:t>
            </a:r>
            <a:endParaRPr lang="en-US" sz="1000" dirty="0"/>
          </a:p>
        </p:txBody>
      </p:sp>
      <p:sp>
        <p:nvSpPr>
          <p:cNvPr id="65" name="Split Rayyan 1"/>
          <p:cNvSpPr/>
          <p:nvPr/>
        </p:nvSpPr>
        <p:spPr>
          <a:xfrm>
            <a:off x="7223760" y="4123944"/>
            <a:ext cx="480060" cy="310896"/>
          </a:xfrm>
          <a:prstGeom prst="rect">
            <a:avLst/>
          </a:prstGeom>
          <a:solidFill>
            <a:schemeClr val="accent2"/>
          </a:solidFill>
          <a:ln w="12700">
            <a:solidFill>
              <a:schemeClr val="bg1"/>
            </a:solidFill>
            <a:prstDash val="solid"/>
          </a:ln>
        </p:spPr>
        <p:txBody>
          <a:bodyPr/>
          <a:p/>
        </p:txBody>
      </p:sp>
      <p:sp>
        <p:nvSpPr>
          <p:cNvPr id="66" name="Text 64"/>
          <p:cNvSpPr txBox="1"/>
          <p:nvPr/>
        </p:nvSpPr>
        <p:spPr>
          <a:xfrm>
            <a:off x="7223760" y="4123944"/>
            <a:ext cx="480060" cy="310896"/>
          </a:xfrm>
          <a:prstGeom prst="rect">
            <a:avLst/>
          </a:prstGeom>
          <a:noFill/>
          <a:ln/>
        </p:spPr>
        <p:txBody>
          <a:bodyPr wrap="square" lIns="0" tIns="0" rIns="0" bIns="0" rtlCol="0" anchor="ctr"/>
          <a:lstStyle/>
          <a:p>
            <a:pPr algn="ctr" indent="0" marL="0">
              <a:buNone/>
            </a:pPr>
            <a:r>
              <a:rPr lang="en-US" sz="1000" b="1" dirty="0">
                <a:solidFill>
                  <a:schemeClr val="tx1"/>
                </a:solidFill>
              </a:rPr>
              <a:t>15%</a:t>
            </a:r>
            <a:endParaRPr lang="en-US" sz="1000" dirty="0"/>
          </a:p>
        </p:txBody>
      </p:sp>
      <p:sp>
        <p:nvSpPr>
          <p:cNvPr id="67" name="Split Rayyan 2"/>
          <p:cNvSpPr/>
          <p:nvPr/>
        </p:nvSpPr>
        <p:spPr>
          <a:xfrm>
            <a:off x="7703820" y="4123944"/>
            <a:ext cx="480060" cy="310896"/>
          </a:xfrm>
          <a:prstGeom prst="rect">
            <a:avLst/>
          </a:prstGeom>
          <a:solidFill>
            <a:schemeClr val="accent6"/>
          </a:solidFill>
          <a:ln w="12700">
            <a:solidFill>
              <a:schemeClr val="bg1"/>
            </a:solidFill>
            <a:prstDash val="solid"/>
          </a:ln>
        </p:spPr>
        <p:txBody>
          <a:bodyPr/>
          <a:p/>
        </p:txBody>
      </p:sp>
      <p:sp>
        <p:nvSpPr>
          <p:cNvPr id="68" name="Text 66"/>
          <p:cNvSpPr txBox="1"/>
          <p:nvPr/>
        </p:nvSpPr>
        <p:spPr>
          <a:xfrm>
            <a:off x="7703820" y="4123944"/>
            <a:ext cx="480060" cy="310896"/>
          </a:xfrm>
          <a:prstGeom prst="rect">
            <a:avLst/>
          </a:prstGeom>
          <a:noFill/>
          <a:ln/>
        </p:spPr>
        <p:txBody>
          <a:bodyPr wrap="square" lIns="0" tIns="0" rIns="0" bIns="0" rtlCol="0" anchor="ctr"/>
          <a:lstStyle/>
          <a:p>
            <a:pPr algn="ctr" indent="0" marL="0">
              <a:buNone/>
            </a:pPr>
            <a:r>
              <a:rPr lang="en-US" sz="1000" b="1" dirty="0">
                <a:solidFill>
                  <a:schemeClr val="bg1"/>
                </a:solidFill>
              </a:rPr>
              <a:t>15%</a:t>
            </a:r>
            <a:endParaRPr lang="en-US" sz="1000" dirty="0"/>
          </a:p>
        </p:txBody>
      </p:sp>
      <p:sp>
        <p:nvSpPr>
          <p:cNvPr id="69" name="Text 67"/>
          <p:cNvSpPr txBox="1"/>
          <p:nvPr/>
        </p:nvSpPr>
        <p:spPr>
          <a:xfrm>
            <a:off x="4983480" y="4471416"/>
            <a:ext cx="3383280" cy="201168"/>
          </a:xfrm>
          <a:prstGeom prst="rect">
            <a:avLst/>
          </a:prstGeom>
          <a:noFill/>
          <a:ln/>
        </p:spPr>
        <p:txBody>
          <a:bodyPr wrap="square" lIns="0" tIns="0" rIns="0" bIns="0" rtlCol="0" anchor="ctr"/>
          <a:lstStyle/>
          <a:p>
            <a:pPr indent="0" marL="0">
              <a:buNone/>
            </a:pPr>
            <a:r>
              <a:rPr lang="en-US" sz="1000" dirty="0">
                <a:solidFill>
                  <a:schemeClr val="accent6"/>
                </a:solidFill>
              </a:rPr>
              <a:t>Train 700 (661) · Val 150 (141) · Test 150 (146)</a:t>
            </a:r>
            <a:endParaRPr lang="en-US" sz="1000" dirty="0"/>
          </a:p>
        </p:txBody>
      </p:sp>
      <p:sp>
        <p:nvSpPr>
          <p:cNvPr id="70" name="Text 68"/>
          <p:cNvSpPr txBox="1"/>
          <p:nvPr/>
        </p:nvSpPr>
        <p:spPr>
          <a:xfrm>
            <a:off x="8275320" y="4105656"/>
            <a:ext cx="731520" cy="347472"/>
          </a:xfrm>
          <a:prstGeom prst="rect">
            <a:avLst/>
          </a:prstGeom>
          <a:noFill/>
          <a:ln/>
        </p:spPr>
        <p:txBody>
          <a:bodyPr wrap="square" lIns="0" tIns="0" rIns="0" bIns="0" rtlCol="0" anchor="ctr"/>
          <a:lstStyle/>
          <a:p>
            <a:pPr algn="r" indent="0" marL="0">
              <a:buNone/>
            </a:pPr>
            <a:r>
              <a:rPr lang="en-US" sz="1600" b="1" dirty="0">
                <a:solidFill>
                  <a:schemeClr val="accent3"/>
                </a:solidFill>
              </a:rPr>
              <a:t>948</a:t>
            </a:r>
            <a:endParaRPr lang="en-US" sz="1600" dirty="0"/>
          </a:p>
        </p:txBody>
      </p:sp>
      <p:sp>
        <p:nvSpPr>
          <p:cNvPr id="71" name="Text 69"/>
          <p:cNvSpPr txBox="1"/>
          <p:nvPr/>
        </p:nvSpPr>
        <p:spPr>
          <a:xfrm>
            <a:off x="8275320" y="4434840"/>
            <a:ext cx="731520" cy="182880"/>
          </a:xfrm>
          <a:prstGeom prst="rect">
            <a:avLst/>
          </a:prstGeom>
          <a:noFill/>
          <a:ln/>
        </p:spPr>
        <p:txBody>
          <a:bodyPr wrap="square" lIns="0" tIns="0" rIns="0" bIns="0" rtlCol="0" anchor="ctr"/>
          <a:lstStyle/>
          <a:p>
            <a:pPr algn="r" indent="0" marL="0">
              <a:buNone/>
            </a:pPr>
            <a:r>
              <a:rPr lang="en-US" sz="1000" dirty="0">
                <a:solidFill>
                  <a:schemeClr val="accent6"/>
                </a:solidFill>
              </a:rPr>
              <a:t>errors</a:t>
            </a:r>
            <a:endParaRPr lang="en-US" sz="1000" dirty="0"/>
          </a:p>
        </p:txBody>
      </p:sp>
      <p:sp>
        <p:nvSpPr>
          <p:cNvPr id="72" name="Text 70"/>
          <p:cNvSpPr txBox="1"/>
          <p:nvPr/>
        </p:nvSpPr>
        <p:spPr>
          <a:xfrm>
            <a:off x="4069080" y="4837176"/>
            <a:ext cx="868680" cy="347472"/>
          </a:xfrm>
          <a:prstGeom prst="rect">
            <a:avLst/>
          </a:prstGeom>
          <a:noFill/>
          <a:ln/>
        </p:spPr>
        <p:txBody>
          <a:bodyPr wrap="square" lIns="0" tIns="0" rIns="0" bIns="0" rtlCol="0" anchor="ctr"/>
          <a:lstStyle/>
          <a:p>
            <a:pPr indent="0" marL="0">
              <a:buNone/>
            </a:pPr>
            <a:r>
              <a:rPr lang="en-US" sz="1300" b="1" dirty="0">
                <a:solidFill>
                  <a:schemeClr val="tx1"/>
                </a:solidFill>
              </a:rPr>
              <a:t>Movies</a:t>
            </a:r>
            <a:endParaRPr lang="en-US" sz="1300" dirty="0"/>
          </a:p>
        </p:txBody>
      </p:sp>
      <p:sp>
        <p:nvSpPr>
          <p:cNvPr id="73" name="Split Movies 0"/>
          <p:cNvSpPr/>
          <p:nvPr/>
        </p:nvSpPr>
        <p:spPr>
          <a:xfrm>
            <a:off x="4983480" y="4837176"/>
            <a:ext cx="2239847" cy="310896"/>
          </a:xfrm>
          <a:prstGeom prst="rect">
            <a:avLst/>
          </a:prstGeom>
          <a:solidFill>
            <a:schemeClr val="accent3"/>
          </a:solidFill>
          <a:ln w="12700">
            <a:solidFill>
              <a:schemeClr val="bg1"/>
            </a:solidFill>
            <a:prstDash val="solid"/>
          </a:ln>
        </p:spPr>
        <p:txBody>
          <a:bodyPr/>
          <a:p/>
        </p:txBody>
      </p:sp>
      <p:sp>
        <p:nvSpPr>
          <p:cNvPr id="74" name="Text 72"/>
          <p:cNvSpPr txBox="1"/>
          <p:nvPr/>
        </p:nvSpPr>
        <p:spPr>
          <a:xfrm>
            <a:off x="4983480" y="4837176"/>
            <a:ext cx="2239847" cy="310896"/>
          </a:xfrm>
          <a:prstGeom prst="rect">
            <a:avLst/>
          </a:prstGeom>
          <a:noFill/>
          <a:ln/>
        </p:spPr>
        <p:txBody>
          <a:bodyPr wrap="square" lIns="0" tIns="0" rIns="0" bIns="0" rtlCol="0" anchor="ctr"/>
          <a:lstStyle/>
          <a:p>
            <a:pPr algn="ctr" indent="0" marL="0">
              <a:buNone/>
            </a:pPr>
            <a:r>
              <a:rPr lang="en-US" sz="1000" b="1" dirty="0">
                <a:solidFill>
                  <a:schemeClr val="bg1"/>
                </a:solidFill>
              </a:rPr>
              <a:t>70%</a:t>
            </a:r>
            <a:endParaRPr lang="en-US" sz="1000" dirty="0"/>
          </a:p>
        </p:txBody>
      </p:sp>
      <p:sp>
        <p:nvSpPr>
          <p:cNvPr id="75" name="Split Movies 1"/>
          <p:cNvSpPr/>
          <p:nvPr/>
        </p:nvSpPr>
        <p:spPr>
          <a:xfrm>
            <a:off x="7223327" y="4837176"/>
            <a:ext cx="480277" cy="310896"/>
          </a:xfrm>
          <a:prstGeom prst="rect">
            <a:avLst/>
          </a:prstGeom>
          <a:solidFill>
            <a:schemeClr val="accent2"/>
          </a:solidFill>
          <a:ln w="12700">
            <a:solidFill>
              <a:schemeClr val="bg1"/>
            </a:solidFill>
            <a:prstDash val="solid"/>
          </a:ln>
        </p:spPr>
        <p:txBody>
          <a:bodyPr/>
          <a:p/>
        </p:txBody>
      </p:sp>
      <p:sp>
        <p:nvSpPr>
          <p:cNvPr id="76" name="Text 74"/>
          <p:cNvSpPr txBox="1"/>
          <p:nvPr/>
        </p:nvSpPr>
        <p:spPr>
          <a:xfrm>
            <a:off x="7223327" y="4837176"/>
            <a:ext cx="480277" cy="310896"/>
          </a:xfrm>
          <a:prstGeom prst="rect">
            <a:avLst/>
          </a:prstGeom>
          <a:noFill/>
          <a:ln/>
        </p:spPr>
        <p:txBody>
          <a:bodyPr wrap="square" lIns="0" tIns="0" rIns="0" bIns="0" rtlCol="0" anchor="ctr"/>
          <a:lstStyle/>
          <a:p>
            <a:pPr algn="ctr" indent="0" marL="0">
              <a:buNone/>
            </a:pPr>
            <a:r>
              <a:rPr lang="en-US" sz="1000" b="1" dirty="0">
                <a:solidFill>
                  <a:schemeClr val="tx1"/>
                </a:solidFill>
              </a:rPr>
              <a:t>15%</a:t>
            </a:r>
            <a:endParaRPr lang="en-US" sz="1000" dirty="0"/>
          </a:p>
        </p:txBody>
      </p:sp>
      <p:sp>
        <p:nvSpPr>
          <p:cNvPr id="77" name="Split Movies 2"/>
          <p:cNvSpPr/>
          <p:nvPr/>
        </p:nvSpPr>
        <p:spPr>
          <a:xfrm>
            <a:off x="7703603" y="4837176"/>
            <a:ext cx="480277" cy="310896"/>
          </a:xfrm>
          <a:prstGeom prst="rect">
            <a:avLst/>
          </a:prstGeom>
          <a:solidFill>
            <a:schemeClr val="accent6"/>
          </a:solidFill>
          <a:ln w="12700">
            <a:solidFill>
              <a:schemeClr val="bg1"/>
            </a:solidFill>
            <a:prstDash val="solid"/>
          </a:ln>
        </p:spPr>
        <p:txBody>
          <a:bodyPr/>
          <a:p/>
        </p:txBody>
      </p:sp>
      <p:sp>
        <p:nvSpPr>
          <p:cNvPr id="78" name="Text 76"/>
          <p:cNvSpPr txBox="1"/>
          <p:nvPr/>
        </p:nvSpPr>
        <p:spPr>
          <a:xfrm>
            <a:off x="7703603" y="4837176"/>
            <a:ext cx="480277" cy="310896"/>
          </a:xfrm>
          <a:prstGeom prst="rect">
            <a:avLst/>
          </a:prstGeom>
          <a:noFill/>
          <a:ln/>
        </p:spPr>
        <p:txBody>
          <a:bodyPr wrap="square" lIns="0" tIns="0" rIns="0" bIns="0" rtlCol="0" anchor="ctr"/>
          <a:lstStyle/>
          <a:p>
            <a:pPr algn="ctr" indent="0" marL="0">
              <a:buNone/>
            </a:pPr>
            <a:r>
              <a:rPr lang="en-US" sz="1000" b="1" dirty="0">
                <a:solidFill>
                  <a:schemeClr val="bg1"/>
                </a:solidFill>
              </a:rPr>
              <a:t>15%</a:t>
            </a:r>
            <a:endParaRPr lang="en-US" sz="1000" dirty="0"/>
          </a:p>
        </p:txBody>
      </p:sp>
      <p:sp>
        <p:nvSpPr>
          <p:cNvPr id="79" name="Text 77"/>
          <p:cNvSpPr txBox="1"/>
          <p:nvPr/>
        </p:nvSpPr>
        <p:spPr>
          <a:xfrm>
            <a:off x="4983480" y="5184648"/>
            <a:ext cx="3383280" cy="201168"/>
          </a:xfrm>
          <a:prstGeom prst="rect">
            <a:avLst/>
          </a:prstGeom>
          <a:noFill/>
          <a:ln/>
        </p:spPr>
        <p:txBody>
          <a:bodyPr wrap="square" lIns="0" tIns="0" rIns="0" bIns="0" rtlCol="0" anchor="ctr"/>
          <a:lstStyle/>
          <a:p>
            <a:pPr indent="0" marL="0">
              <a:buNone/>
            </a:pPr>
            <a:r>
              <a:rPr lang="en-US" sz="1000" dirty="0">
                <a:solidFill>
                  <a:schemeClr val="accent6"/>
                </a:solidFill>
              </a:rPr>
              <a:t>Train 5,172 (5,460) · Val 1,109 (1,054) · Test 1,109 (1,161)</a:t>
            </a:r>
            <a:endParaRPr lang="en-US" sz="1000" dirty="0"/>
          </a:p>
        </p:txBody>
      </p:sp>
      <p:sp>
        <p:nvSpPr>
          <p:cNvPr id="80" name="Text 78"/>
          <p:cNvSpPr txBox="1"/>
          <p:nvPr/>
        </p:nvSpPr>
        <p:spPr>
          <a:xfrm>
            <a:off x="8275320" y="4818888"/>
            <a:ext cx="731520" cy="347472"/>
          </a:xfrm>
          <a:prstGeom prst="rect">
            <a:avLst/>
          </a:prstGeom>
          <a:noFill/>
          <a:ln/>
        </p:spPr>
        <p:txBody>
          <a:bodyPr wrap="square" lIns="0" tIns="0" rIns="0" bIns="0" rtlCol="0" anchor="ctr"/>
          <a:lstStyle/>
          <a:p>
            <a:pPr algn="r" indent="0" marL="0">
              <a:buNone/>
            </a:pPr>
            <a:r>
              <a:rPr lang="en-US" sz="1600" b="1" dirty="0">
                <a:solidFill>
                  <a:schemeClr val="accent3"/>
                </a:solidFill>
              </a:rPr>
              <a:t>7,675</a:t>
            </a:r>
            <a:endParaRPr lang="en-US" sz="1600" dirty="0"/>
          </a:p>
        </p:txBody>
      </p:sp>
      <p:sp>
        <p:nvSpPr>
          <p:cNvPr id="81" name="Text 79"/>
          <p:cNvSpPr txBox="1"/>
          <p:nvPr/>
        </p:nvSpPr>
        <p:spPr>
          <a:xfrm>
            <a:off x="8275320" y="5148072"/>
            <a:ext cx="731520" cy="182880"/>
          </a:xfrm>
          <a:prstGeom prst="rect">
            <a:avLst/>
          </a:prstGeom>
          <a:noFill/>
          <a:ln/>
        </p:spPr>
        <p:txBody>
          <a:bodyPr wrap="square" lIns="0" tIns="0" rIns="0" bIns="0" rtlCol="0" anchor="ctr"/>
          <a:lstStyle/>
          <a:p>
            <a:pPr algn="r" indent="0" marL="0">
              <a:buNone/>
            </a:pPr>
            <a:r>
              <a:rPr lang="en-US" sz="1000" dirty="0">
                <a:solidFill>
                  <a:schemeClr val="accent6"/>
                </a:solidFill>
              </a:rPr>
              <a:t>errors</a:t>
            </a:r>
            <a:endParaRPr lang="en-US" sz="1000" dirty="0"/>
          </a:p>
        </p:txBody>
      </p:sp>
      <p:sp>
        <p:nvSpPr>
          <p:cNvPr id="82" name="Total pill"/>
          <p:cNvSpPr/>
          <p:nvPr/>
        </p:nvSpPr>
        <p:spPr>
          <a:xfrm>
            <a:off x="4069080" y="5577840"/>
            <a:ext cx="4937760" cy="365760"/>
          </a:xfrm>
          <a:prstGeom prst="roundRect">
            <a:avLst>
              <a:gd name="adj" fmla="val 20000"/>
            </a:avLst>
          </a:prstGeom>
          <a:solidFill>
            <a:schemeClr val="accent5"/>
          </a:solidFill>
          <a:ln/>
        </p:spPr>
        <p:txBody>
          <a:bodyPr/>
          <a:p/>
        </p:txBody>
      </p:sp>
      <p:sp>
        <p:nvSpPr>
          <p:cNvPr id="83" name="Text 81"/>
          <p:cNvSpPr txBox="1"/>
          <p:nvPr/>
        </p:nvSpPr>
        <p:spPr>
          <a:xfrm>
            <a:off x="4251960" y="5577840"/>
            <a:ext cx="4572000" cy="365760"/>
          </a:xfrm>
          <a:prstGeom prst="rect">
            <a:avLst/>
          </a:prstGeom>
          <a:noFill/>
          <a:ln/>
        </p:spPr>
        <p:txBody>
          <a:bodyPr wrap="square" lIns="0" tIns="0" rIns="0" bIns="0" rtlCol="0" anchor="ctr"/>
          <a:lstStyle/>
          <a:p>
            <a:pPr indent="0" marL="0">
              <a:buNone/>
            </a:pPr>
            <a:r>
              <a:rPr lang="en-US" sz="1200" b="1" dirty="0">
                <a:solidFill>
                  <a:schemeClr val="tx1"/>
                </a:solidFill>
              </a:rPr>
              <a:t>All five tables: </a:t>
            </a:r>
            <a:pPr indent="0" marL="0">
              <a:buNone/>
            </a:pPr>
            <a:r>
              <a:rPr lang="en-US" sz="1200" dirty="0">
                <a:solidFill>
                  <a:schemeClr val="tx1"/>
                </a:solidFill>
              </a:rPr>
              <a:t>18,414 errors, all conserved across splits</a:t>
            </a:r>
            <a:endParaRPr lang="en-US" sz="1200" dirty="0"/>
          </a:p>
        </p:txBody>
      </p:sp>
      <p:sp>
        <p:nvSpPr>
          <p:cNvPr id="84" name="Leakage checks card"/>
          <p:cNvSpPr/>
          <p:nvPr/>
        </p:nvSpPr>
        <p:spPr>
          <a:xfrm>
            <a:off x="9418320" y="1417320"/>
            <a:ext cx="2224735" cy="4663440"/>
          </a:xfrm>
          <a:prstGeom prst="roundRect">
            <a:avLst>
              <a:gd name="adj" fmla="val 3288"/>
            </a:avLst>
          </a:prstGeom>
          <a:solidFill>
            <a:schemeClr val="tx1"/>
          </a:solidFill>
          <a:ln/>
        </p:spPr>
        <p:txBody>
          <a:bodyPr/>
          <a:p/>
        </p:txBody>
      </p:sp>
      <p:sp>
        <p:nvSpPr>
          <p:cNvPr id="85" name="Text 83"/>
          <p:cNvSpPr txBox="1"/>
          <p:nvPr/>
        </p:nvSpPr>
        <p:spPr>
          <a:xfrm>
            <a:off x="9619488" y="1691640"/>
            <a:ext cx="1822399"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ZERO-LEAKAGE CHECKS</a:t>
            </a:r>
            <a:endParaRPr lang="en-US" sz="1100" dirty="0"/>
          </a:p>
        </p:txBody>
      </p:sp>
      <p:sp>
        <p:nvSpPr>
          <p:cNvPr id="86" name="Text 84"/>
          <p:cNvSpPr txBox="1"/>
          <p:nvPr/>
        </p:nvSpPr>
        <p:spPr>
          <a:xfrm>
            <a:off x="9619488" y="2084831"/>
            <a:ext cx="1822399" cy="438912"/>
          </a:xfrm>
          <a:prstGeom prst="rect">
            <a:avLst/>
          </a:prstGeom>
          <a:noFill/>
          <a:ln/>
        </p:spPr>
        <p:txBody>
          <a:bodyPr wrap="square" lIns="0" tIns="0" rIns="0" bIns="0" rtlCol="0" anchor="ctr"/>
          <a:lstStyle/>
          <a:p>
            <a:pPr indent="0" marL="0">
              <a:buNone/>
            </a:pPr>
            <a:r>
              <a:rPr lang="en-US" sz="3000" b="1" dirty="0">
                <a:solidFill>
                  <a:schemeClr val="accent1"/>
                </a:solidFill>
              </a:rPr>
              <a:t>0</a:t>
            </a:r>
            <a:endParaRPr lang="en-US" sz="3000" dirty="0"/>
          </a:p>
        </p:txBody>
      </p:sp>
      <p:sp>
        <p:nvSpPr>
          <p:cNvPr id="87" name="Text 85"/>
          <p:cNvSpPr txBox="1"/>
          <p:nvPr/>
        </p:nvSpPr>
        <p:spPr>
          <a:xfrm>
            <a:off x="9619488" y="2560320"/>
            <a:ext cx="1822399" cy="274320"/>
          </a:xfrm>
          <a:prstGeom prst="rect">
            <a:avLst/>
          </a:prstGeom>
          <a:noFill/>
          <a:ln/>
        </p:spPr>
        <p:txBody>
          <a:bodyPr wrap="square" lIns="0" tIns="0" rIns="0" bIns="0" rtlCol="0" anchor="t"/>
          <a:lstStyle/>
          <a:p>
            <a:pPr indent="0" marL="0">
              <a:buNone/>
            </a:pPr>
            <a:r>
              <a:rPr lang="en-US" sz="1150" dirty="0">
                <a:solidFill>
                  <a:schemeClr val="bg2"/>
                </a:solidFill>
              </a:rPr>
              <a:t>row overlap, all 5 tables</a:t>
            </a:r>
            <a:endParaRPr lang="en-US" sz="1150" dirty="0"/>
          </a:p>
        </p:txBody>
      </p:sp>
      <p:sp>
        <p:nvSpPr>
          <p:cNvPr id="88" name="Text 86"/>
          <p:cNvSpPr txBox="1"/>
          <p:nvPr/>
        </p:nvSpPr>
        <p:spPr>
          <a:xfrm>
            <a:off x="9619488" y="2834639"/>
            <a:ext cx="1822399" cy="438912"/>
          </a:xfrm>
          <a:prstGeom prst="rect">
            <a:avLst/>
          </a:prstGeom>
          <a:noFill/>
          <a:ln/>
        </p:spPr>
        <p:txBody>
          <a:bodyPr wrap="square" lIns="0" tIns="0" rIns="0" bIns="0" rtlCol="0" anchor="ctr"/>
          <a:lstStyle/>
          <a:p>
            <a:pPr indent="0" marL="0">
              <a:buNone/>
            </a:pPr>
            <a:r>
              <a:rPr lang="en-US" sz="3000" b="1" dirty="0">
                <a:solidFill>
                  <a:schemeClr val="accent1"/>
                </a:solidFill>
              </a:rPr>
              <a:t>0</a:t>
            </a:r>
            <a:endParaRPr lang="en-US" sz="3000" dirty="0"/>
          </a:p>
        </p:txBody>
      </p:sp>
      <p:sp>
        <p:nvSpPr>
          <p:cNvPr id="89" name="Text 87"/>
          <p:cNvSpPr txBox="1"/>
          <p:nvPr/>
        </p:nvSpPr>
        <p:spPr>
          <a:xfrm>
            <a:off x="9619488" y="3310127"/>
            <a:ext cx="1822399" cy="274320"/>
          </a:xfrm>
          <a:prstGeom prst="rect">
            <a:avLst/>
          </a:prstGeom>
          <a:noFill/>
          <a:ln/>
        </p:spPr>
        <p:txBody>
          <a:bodyPr wrap="square" lIns="0" tIns="0" rIns="0" bIns="0" rtlCol="0" anchor="t"/>
          <a:lstStyle/>
          <a:p>
            <a:pPr indent="0" marL="0">
              <a:buNone/>
            </a:pPr>
            <a:r>
              <a:rPr lang="en-US" sz="1150" dirty="0">
                <a:solidFill>
                  <a:schemeClr val="bg2"/>
                </a:solidFill>
              </a:rPr>
              <a:t>entity overlap, clean key</a:t>
            </a:r>
            <a:endParaRPr lang="en-US" sz="1150" dirty="0"/>
          </a:p>
        </p:txBody>
      </p:sp>
      <p:sp>
        <p:nvSpPr>
          <p:cNvPr id="90" name="Text 88"/>
          <p:cNvSpPr txBox="1"/>
          <p:nvPr/>
        </p:nvSpPr>
        <p:spPr>
          <a:xfrm>
            <a:off x="9619488" y="3584447"/>
            <a:ext cx="1822399" cy="438912"/>
          </a:xfrm>
          <a:prstGeom prst="rect">
            <a:avLst/>
          </a:prstGeom>
          <a:noFill/>
          <a:ln/>
        </p:spPr>
        <p:txBody>
          <a:bodyPr wrap="square" lIns="0" tIns="0" rIns="0" bIns="0" rtlCol="0" anchor="ctr"/>
          <a:lstStyle/>
          <a:p>
            <a:pPr indent="0" marL="0">
              <a:buNone/>
            </a:pPr>
            <a:r>
              <a:rPr lang="en-US" sz="3000" b="1" dirty="0">
                <a:solidFill>
                  <a:schemeClr val="accent1"/>
                </a:solidFill>
              </a:rPr>
              <a:t>18,414</a:t>
            </a:r>
            <a:endParaRPr lang="en-US" sz="3000" dirty="0"/>
          </a:p>
        </p:txBody>
      </p:sp>
      <p:sp>
        <p:nvSpPr>
          <p:cNvPr id="91" name="Text 89"/>
          <p:cNvSpPr txBox="1"/>
          <p:nvPr/>
        </p:nvSpPr>
        <p:spPr>
          <a:xfrm>
            <a:off x="9619488" y="4059935"/>
            <a:ext cx="1822399" cy="274320"/>
          </a:xfrm>
          <a:prstGeom prst="rect">
            <a:avLst/>
          </a:prstGeom>
          <a:noFill/>
          <a:ln/>
        </p:spPr>
        <p:txBody>
          <a:bodyPr wrap="square" lIns="0" tIns="0" rIns="0" bIns="0" rtlCol="0" anchor="t"/>
          <a:lstStyle/>
          <a:p>
            <a:pPr indent="0" marL="0">
              <a:buNone/>
            </a:pPr>
            <a:r>
              <a:rPr lang="en-US" sz="1150" dirty="0">
                <a:solidFill>
                  <a:schemeClr val="bg2"/>
                </a:solidFill>
              </a:rPr>
              <a:t>errors conserved in splits</a:t>
            </a:r>
            <a:endParaRPr lang="en-US" sz="1150" dirty="0"/>
          </a:p>
        </p:txBody>
      </p:sp>
      <p:sp>
        <p:nvSpPr>
          <p:cNvPr id="93" name="Text 90b"/>
          <p:cNvSpPr txBox="1"/>
          <p:nvPr/>
        </p:nvSpPr>
        <p:spPr>
          <a:xfrm>
            <a:off x="9619488" y="4334255"/>
            <a:ext cx="1822399" cy="438912"/>
          </a:xfrm>
          <a:prstGeom prst="rect">
            <a:avLst/>
          </a:prstGeom>
          <a:noFill/>
          <a:ln/>
        </p:spPr>
        <p:txBody>
          <a:bodyPr wrap="square" lIns="0" tIns="0" rIns="0" bIns="0" rtlCol="0" anchor="ctr"/>
          <a:lstStyle/>
          <a:p>
            <a:pPr indent="0" marL="0">
              <a:buNone/>
            </a:pPr>
            <a:r>
              <a:rPr lang="en-US" sz="3000" b="1" dirty="0">
                <a:solidFill>
                  <a:schemeClr val="accent1"/>
                </a:solidFill>
              </a:rPr>
              <a:t>29 / 29</a:t>
            </a:r>
            <a:endParaRPr lang="en-US" sz="3000" dirty="0"/>
          </a:p>
        </p:txBody>
      </p:sp>
      <p:sp>
        <p:nvSpPr>
          <p:cNvPr id="94" name="Text 91b"/>
          <p:cNvSpPr txBox="1"/>
          <p:nvPr/>
        </p:nvSpPr>
        <p:spPr>
          <a:xfrm>
            <a:off x="9619488" y="4809744"/>
            <a:ext cx="1822399" cy="274320"/>
          </a:xfrm>
          <a:prstGeom prst="rect">
            <a:avLst/>
          </a:prstGeom>
          <a:noFill/>
          <a:ln/>
        </p:spPr>
        <p:txBody>
          <a:bodyPr wrap="square" lIns="0" tIns="0" rIns="0" bIns="0" rtlCol="0" anchor="t"/>
          <a:lstStyle/>
          <a:p>
            <a:pPr indent="0" marL="0">
              <a:buNone/>
            </a:pPr>
            <a:r>
              <a:rPr lang="en-US" sz="1150" dirty="0">
                <a:solidFill>
                  <a:schemeClr val="bg2"/>
                </a:solidFill>
              </a:rPr>
              <a:t>leakage checks pass</a:t>
            </a:r>
            <a:endParaRPr lang="en-US" sz="1150" dirty="0"/>
          </a:p>
        </p:txBody>
      </p:sp>
      <p:sp>
        <p:nvSpPr>
          <p:cNvPr id="92" name="Text 90"/>
          <p:cNvSpPr txBox="1"/>
          <p:nvPr/>
        </p:nvSpPr>
        <p:spPr>
          <a:xfrm>
            <a:off x="9619488" y="5321808"/>
            <a:ext cx="1822399" cy="502920"/>
          </a:xfrm>
          <a:prstGeom prst="rect">
            <a:avLst/>
          </a:prstGeom>
          <a:noFill/>
          <a:ln/>
        </p:spPr>
        <p:txBody>
          <a:bodyPr wrap="square" lIns="0" tIns="0" rIns="0" bIns="0" rtlCol="0" anchor="b"/>
          <a:lstStyle/>
          <a:p>
            <a:pPr indent="0" marL="0">
              <a:buNone/>
            </a:pPr>
            <a:r>
              <a:rPr lang="en-US" sz="1050" dirty="0" i="1">
                <a:solidFill>
                  <a:srgbClr val="94A3B8"/>
                </a:solidFill>
              </a:rPr>
              <a:t>Error rates stay close across splits, e.g. Flights 35.1 / 33.5 / 32.7%.</a:t>
            </a:r>
            <a:endParaRPr lang="en-US" sz="115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a:t>
            </a:fld>
            <a:endParaRPr lang="en-US"/>
          </a:p>
        </p:txBody>
      </p:sp>
      <p:cxnSp>
        <p:nvCxnSpPr>
          <p:cNvPr id="95" name="Divider"/>
          <p:cNvCxnSpPr/>
          <p:nvPr/>
        </p:nvCxnSpPr>
        <p:spPr>
          <a:xfrm>
            <a:off x="9619488" y="5230368"/>
            <a:ext cx="1819656" cy="0"/>
          </a:xfrm>
          <a:prstGeom prst="line">
            <a:avLst/>
          </a:prstGeom>
          <a:ln w="9525">
            <a:solidFill>
              <a:srgbClr val="33415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3"/>
                </a:solidFill>
              </a:rPr>
              <a:t>EXTERNAL TABLES AND LICENCES</a:t>
            </a:r>
            <a:endParaRPr lang="en-US" sz="1100" dirty="0"/>
          </a:p>
        </p:txBody>
      </p:sp>
      <p:sp>
        <p:nvSpPr>
          <p:cNvPr id="3" name="Text 2"/>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2600" b="1" dirty="0">
                <a:solidFill>
                  <a:schemeClr val="tx1"/>
                </a:solidFill>
              </a:rPr>
              <a:t>Five more tables, each pinned and checksum-verified</a:t>
            </a:r>
            <a:endParaRPr lang="en-US" sz="2600" dirty="0"/>
          </a:p>
        </p:txBody>
      </p:sp>
      <p:sp>
        <p:nvSpPr>
          <p:cNvPr id="5" name="External tables card"/>
          <p:cNvSpPr/>
          <p:nvPr/>
        </p:nvSpPr>
        <p:spPr>
          <a:xfrm>
            <a:off x="548640" y="1417320"/>
            <a:ext cx="6675120" cy="3977640"/>
          </a:xfrm>
          <a:prstGeom prst="roundRect">
            <a:avLst>
              <a:gd name="adj" fmla="val 1839"/>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6" name="Text 4"/>
          <p:cNvSpPr txBox="1"/>
          <p:nvPr/>
        </p:nvSpPr>
        <p:spPr>
          <a:xfrm>
            <a:off x="777240" y="1463040"/>
            <a:ext cx="2286000" cy="365760"/>
          </a:xfrm>
          <a:prstGeom prst="rect">
            <a:avLst/>
          </a:prstGeom>
          <a:noFill/>
          <a:ln/>
        </p:spPr>
        <p:txBody>
          <a:bodyPr wrap="square" lIns="0" tIns="0" rIns="0" bIns="0" rtlCol="0" anchor="ctr"/>
          <a:lstStyle/>
          <a:p>
            <a:pPr indent="0" marL="0">
              <a:buNone/>
            </a:pPr>
            <a:r>
              <a:rPr lang="en-US" sz="1000" b="1" spc="100" kern="0" dirty="0">
                <a:solidFill>
                  <a:schemeClr val="accent6"/>
                </a:solidFill>
              </a:rPr>
              <a:t>TABLE</a:t>
            </a:r>
            <a:endParaRPr lang="en-US" sz="1000" dirty="0"/>
          </a:p>
        </p:txBody>
      </p:sp>
      <p:sp>
        <p:nvSpPr>
          <p:cNvPr id="7" name="Text 5"/>
          <p:cNvSpPr txBox="1"/>
          <p:nvPr/>
        </p:nvSpPr>
        <p:spPr>
          <a:xfrm>
            <a:off x="3200400" y="1463040"/>
            <a:ext cx="1554480" cy="365760"/>
          </a:xfrm>
          <a:prstGeom prst="rect">
            <a:avLst/>
          </a:prstGeom>
          <a:noFill/>
          <a:ln/>
        </p:spPr>
        <p:txBody>
          <a:bodyPr wrap="square" lIns="0" tIns="0" rIns="0" bIns="0" rtlCol="0" anchor="ctr"/>
          <a:lstStyle/>
          <a:p>
            <a:pPr indent="0" marL="0">
              <a:buNone/>
            </a:pPr>
            <a:r>
              <a:rPr lang="en-US" sz="1000" b="1" spc="100" kern="0" dirty="0">
                <a:solidFill>
                  <a:schemeClr val="accent6"/>
                </a:solidFill>
              </a:rPr>
              <a:t>ROLE</a:t>
            </a:r>
            <a:endParaRPr lang="en-US" sz="1000" dirty="0"/>
          </a:p>
        </p:txBody>
      </p:sp>
      <p:sp>
        <p:nvSpPr>
          <p:cNvPr id="8" name="Text 6"/>
          <p:cNvSpPr txBox="1"/>
          <p:nvPr/>
        </p:nvSpPr>
        <p:spPr>
          <a:xfrm>
            <a:off x="4800600" y="1463040"/>
            <a:ext cx="2194560" cy="365760"/>
          </a:xfrm>
          <a:prstGeom prst="rect">
            <a:avLst/>
          </a:prstGeom>
          <a:noFill/>
          <a:ln/>
        </p:spPr>
        <p:txBody>
          <a:bodyPr wrap="square" lIns="0" tIns="0" rIns="0" bIns="0" rtlCol="0" anchor="ctr"/>
          <a:lstStyle/>
          <a:p>
            <a:pPr indent="0" marL="0">
              <a:buNone/>
            </a:pPr>
            <a:r>
              <a:rPr lang="en-US" sz="1000" b="1" spc="100" kern="0" dirty="0">
                <a:solidFill>
                  <a:schemeClr val="accent6"/>
                </a:solidFill>
              </a:rPr>
              <a:t>TRUE ERRORS</a:t>
            </a:r>
            <a:endParaRPr lang="en-US" sz="1000" dirty="0"/>
          </a:p>
        </p:txBody>
      </p:sp>
      <p:sp>
        <p:nvSpPr>
          <p:cNvPr id="9" name="Divider"/>
          <p:cNvSpPr/>
          <p:nvPr/>
        </p:nvSpPr>
        <p:spPr>
          <a:xfrm>
            <a:off x="777240" y="1874520"/>
            <a:ext cx="6217920" cy="0"/>
          </a:xfrm>
          <a:prstGeom prst="line">
            <a:avLst/>
          </a:prstGeom>
          <a:noFill/>
          <a:ln w="9525">
            <a:solidFill>
              <a:schemeClr val="accent4"/>
            </a:solidFill>
            <a:prstDash val="solid"/>
          </a:ln>
        </p:spPr>
        <p:txBody>
          <a:bodyPr/>
          <a:p/>
        </p:txBody>
      </p:sp>
      <p:sp>
        <p:nvSpPr>
          <p:cNvPr id="10" name="Text 8"/>
          <p:cNvSpPr txBox="1"/>
          <p:nvPr/>
        </p:nvSpPr>
        <p:spPr>
          <a:xfrm>
            <a:off x="777240" y="1965960"/>
            <a:ext cx="2377440" cy="274320"/>
          </a:xfrm>
          <a:prstGeom prst="rect">
            <a:avLst/>
          </a:prstGeom>
          <a:noFill/>
          <a:ln/>
        </p:spPr>
        <p:txBody>
          <a:bodyPr wrap="square" lIns="0" tIns="0" rIns="0" bIns="0" rtlCol="0" anchor="ctr"/>
          <a:lstStyle/>
          <a:p>
            <a:pPr indent="0" marL="0">
              <a:buNone/>
            </a:pPr>
            <a:r>
              <a:rPr lang="en-US" sz="1300" b="1" dirty="0">
                <a:solidFill>
                  <a:schemeClr val="tx1"/>
                </a:solidFill>
              </a:rPr>
              <a:t>Tax (20,000-row sample)</a:t>
            </a:r>
            <a:endParaRPr lang="en-US" sz="1300" dirty="0"/>
          </a:p>
        </p:txBody>
      </p:sp>
      <p:sp>
        <p:nvSpPr>
          <p:cNvPr id="11" name="Text 9"/>
          <p:cNvSpPr txBox="1"/>
          <p:nvPr/>
        </p:nvSpPr>
        <p:spPr>
          <a:xfrm>
            <a:off x="777240" y="2240280"/>
            <a:ext cx="2331720" cy="292608"/>
          </a:xfrm>
          <a:prstGeom prst="rect">
            <a:avLst/>
          </a:prstGeom>
          <a:noFill/>
          <a:ln/>
        </p:spPr>
        <p:txBody>
          <a:bodyPr wrap="square" lIns="0" tIns="0" rIns="0" bIns="0" rtlCol="0" anchor="t"/>
          <a:lstStyle/>
          <a:p>
            <a:pPr indent="0" marL="0">
              <a:buNone/>
            </a:pPr>
            <a:r>
              <a:rPr lang="en-US" sz="1000" dirty="0">
                <a:solidFill>
                  <a:schemeClr val="accent6"/>
                </a:solidFill>
              </a:rPr>
              <a:t>97.6% of its changes are formatting only</a:t>
            </a:r>
            <a:endParaRPr lang="en-US" sz="1000" dirty="0"/>
          </a:p>
        </p:txBody>
      </p:sp>
      <p:sp>
        <p:nvSpPr>
          <p:cNvPr id="12" name="Role Tax (20,000-row sample)"/>
          <p:cNvSpPr/>
          <p:nvPr/>
        </p:nvSpPr>
        <p:spPr>
          <a:xfrm>
            <a:off x="3200400" y="2071116"/>
            <a:ext cx="1554480" cy="292608"/>
          </a:xfrm>
          <a:prstGeom prst="roundRect">
            <a:avLst>
              <a:gd name="adj" fmla="val 50000"/>
            </a:avLst>
          </a:prstGeom>
          <a:solidFill>
            <a:schemeClr val="accent4"/>
          </a:solidFill>
          <a:ln/>
        </p:spPr>
        <p:txBody>
          <a:bodyPr/>
          <a:p/>
        </p:txBody>
      </p:sp>
      <p:sp>
        <p:nvSpPr>
          <p:cNvPr id="13" name="Text 11"/>
          <p:cNvSpPr txBox="1"/>
          <p:nvPr/>
        </p:nvSpPr>
        <p:spPr>
          <a:xfrm>
            <a:off x="3200400" y="2071116"/>
            <a:ext cx="1554480" cy="292608"/>
          </a:xfrm>
          <a:prstGeom prst="rect">
            <a:avLst/>
          </a:prstGeom>
          <a:noFill/>
          <a:ln/>
        </p:spPr>
        <p:txBody>
          <a:bodyPr wrap="square" lIns="0" tIns="0" rIns="0" bIns="0" rtlCol="0" anchor="ctr"/>
          <a:lstStyle/>
          <a:p>
            <a:pPr algn="ctr" indent="0" marL="0">
              <a:buNone/>
            </a:pPr>
            <a:r>
              <a:rPr lang="en-US" sz="1050" b="1" dirty="0">
                <a:solidFill>
                  <a:schemeClr val="tx1"/>
                </a:solidFill>
              </a:rPr>
              <a:t>Training</a:t>
            </a:r>
            <a:endParaRPr lang="en-US" sz="1050" dirty="0"/>
          </a:p>
        </p:txBody>
      </p:sp>
      <p:sp>
        <p:nvSpPr>
          <p:cNvPr id="14" name="Text 12"/>
          <p:cNvSpPr txBox="1"/>
          <p:nvPr/>
        </p:nvSpPr>
        <p:spPr>
          <a:xfrm>
            <a:off x="4800600" y="1874520"/>
            <a:ext cx="685800" cy="685800"/>
          </a:xfrm>
          <a:prstGeom prst="rect">
            <a:avLst/>
          </a:prstGeom>
          <a:noFill/>
          <a:ln/>
        </p:spPr>
        <p:txBody>
          <a:bodyPr wrap="square" lIns="0" tIns="0" rIns="0" bIns="0" rtlCol="0" anchor="ctr"/>
          <a:lstStyle/>
          <a:p>
            <a:pPr algn="r" indent="0" marL="0">
              <a:buNone/>
            </a:pPr>
            <a:r>
              <a:rPr lang="en-US" sz="1300" b="1" dirty="0">
                <a:solidFill>
                  <a:schemeClr val="tx1"/>
                </a:solidFill>
              </a:rPr>
              <a:t>302</a:t>
            </a:r>
            <a:endParaRPr lang="en-US" sz="1300" dirty="0"/>
          </a:p>
        </p:txBody>
      </p:sp>
      <p:sp>
        <p:nvSpPr>
          <p:cNvPr id="15" name="Errors bar Tax (20,000-row sample) track"/>
          <p:cNvSpPr/>
          <p:nvPr/>
        </p:nvSpPr>
        <p:spPr>
          <a:xfrm>
            <a:off x="5623560" y="2144268"/>
            <a:ext cx="1371600" cy="146304"/>
          </a:xfrm>
          <a:prstGeom prst="rect">
            <a:avLst/>
          </a:prstGeom>
          <a:solidFill>
            <a:schemeClr val="bg2"/>
          </a:solidFill>
          <a:ln/>
        </p:spPr>
        <p:txBody>
          <a:bodyPr/>
          <a:p/>
        </p:txBody>
      </p:sp>
      <p:sp>
        <p:nvSpPr>
          <p:cNvPr id="16" name="Errors bar Tax (20,000-row sample) fill"/>
          <p:cNvSpPr/>
          <p:nvPr/>
        </p:nvSpPr>
        <p:spPr>
          <a:xfrm>
            <a:off x="5623560" y="2144268"/>
            <a:ext cx="36576" cy="146304"/>
          </a:xfrm>
          <a:prstGeom prst="rect">
            <a:avLst/>
          </a:prstGeom>
          <a:solidFill>
            <a:schemeClr val="accent3"/>
          </a:solidFill>
          <a:ln/>
        </p:spPr>
        <p:txBody>
          <a:bodyPr/>
          <a:p/>
        </p:txBody>
      </p:sp>
      <p:sp>
        <p:nvSpPr>
          <p:cNvPr id="17" name="Divider"/>
          <p:cNvSpPr/>
          <p:nvPr/>
        </p:nvSpPr>
        <p:spPr>
          <a:xfrm>
            <a:off x="777240" y="2560320"/>
            <a:ext cx="6217920" cy="0"/>
          </a:xfrm>
          <a:prstGeom prst="line">
            <a:avLst/>
          </a:prstGeom>
          <a:noFill/>
          <a:ln w="9525">
            <a:solidFill>
              <a:schemeClr val="accent4"/>
            </a:solidFill>
            <a:prstDash val="solid"/>
          </a:ln>
        </p:spPr>
        <p:txBody>
          <a:bodyPr/>
          <a:p/>
        </p:txBody>
      </p:sp>
      <p:sp>
        <p:nvSpPr>
          <p:cNvPr id="18" name="Text 16"/>
          <p:cNvSpPr txBox="1"/>
          <p:nvPr/>
        </p:nvSpPr>
        <p:spPr>
          <a:xfrm>
            <a:off x="777240" y="2560320"/>
            <a:ext cx="2377440" cy="685800"/>
          </a:xfrm>
          <a:prstGeom prst="rect">
            <a:avLst/>
          </a:prstGeom>
          <a:noFill/>
          <a:ln/>
        </p:spPr>
        <p:txBody>
          <a:bodyPr wrap="square" lIns="0" tIns="0" rIns="0" bIns="0" rtlCol="0" anchor="ctr"/>
          <a:lstStyle/>
          <a:p>
            <a:pPr indent="0" marL="0">
              <a:buNone/>
            </a:pPr>
            <a:r>
              <a:rPr lang="en-US" sz="1300" b="1" dirty="0">
                <a:solidFill>
                  <a:schemeClr val="tx1"/>
                </a:solidFill>
              </a:rPr>
              <a:t>Inpatient</a:t>
            </a:r>
            <a:endParaRPr lang="en-US" sz="1300" dirty="0"/>
          </a:p>
        </p:txBody>
      </p:sp>
      <p:sp>
        <p:nvSpPr>
          <p:cNvPr id="19" name="Role Inpatient"/>
          <p:cNvSpPr/>
          <p:nvPr/>
        </p:nvSpPr>
        <p:spPr>
          <a:xfrm>
            <a:off x="3200400" y="2756916"/>
            <a:ext cx="1554480" cy="292608"/>
          </a:xfrm>
          <a:prstGeom prst="roundRect">
            <a:avLst>
              <a:gd name="adj" fmla="val 50000"/>
            </a:avLst>
          </a:prstGeom>
          <a:solidFill>
            <a:schemeClr val="accent4"/>
          </a:solidFill>
          <a:ln/>
        </p:spPr>
        <p:txBody>
          <a:bodyPr/>
          <a:p/>
        </p:txBody>
      </p:sp>
      <p:sp>
        <p:nvSpPr>
          <p:cNvPr id="20" name="Text 18"/>
          <p:cNvSpPr txBox="1"/>
          <p:nvPr/>
        </p:nvSpPr>
        <p:spPr>
          <a:xfrm>
            <a:off x="3200400" y="2756916"/>
            <a:ext cx="1554480" cy="292608"/>
          </a:xfrm>
          <a:prstGeom prst="rect">
            <a:avLst/>
          </a:prstGeom>
          <a:noFill/>
          <a:ln/>
        </p:spPr>
        <p:txBody>
          <a:bodyPr wrap="square" lIns="0" tIns="0" rIns="0" bIns="0" rtlCol="0" anchor="ctr"/>
          <a:lstStyle/>
          <a:p>
            <a:pPr algn="ctr" indent="0" marL="0">
              <a:buNone/>
            </a:pPr>
            <a:r>
              <a:rPr lang="en-US" sz="1050" b="1" dirty="0">
                <a:solidFill>
                  <a:schemeClr val="tx1"/>
                </a:solidFill>
              </a:rPr>
              <a:t>Training</a:t>
            </a:r>
            <a:endParaRPr lang="en-US" sz="1050" dirty="0"/>
          </a:p>
        </p:txBody>
      </p:sp>
      <p:sp>
        <p:nvSpPr>
          <p:cNvPr id="21" name="Text 19"/>
          <p:cNvSpPr txBox="1"/>
          <p:nvPr/>
        </p:nvSpPr>
        <p:spPr>
          <a:xfrm>
            <a:off x="4800600" y="2560320"/>
            <a:ext cx="685800" cy="685800"/>
          </a:xfrm>
          <a:prstGeom prst="rect">
            <a:avLst/>
          </a:prstGeom>
          <a:noFill/>
          <a:ln/>
        </p:spPr>
        <p:txBody>
          <a:bodyPr wrap="square" lIns="0" tIns="0" rIns="0" bIns="0" rtlCol="0" anchor="ctr"/>
          <a:lstStyle/>
          <a:p>
            <a:pPr algn="r" indent="0" marL="0">
              <a:buNone/>
            </a:pPr>
            <a:r>
              <a:rPr lang="en-US" sz="1300" b="1" dirty="0">
                <a:solidFill>
                  <a:schemeClr val="tx1"/>
                </a:solidFill>
              </a:rPr>
              <a:t>4,465</a:t>
            </a:r>
            <a:endParaRPr lang="en-US" sz="1300" dirty="0"/>
          </a:p>
        </p:txBody>
      </p:sp>
      <p:sp>
        <p:nvSpPr>
          <p:cNvPr id="22" name="Errors bar Inpatient track"/>
          <p:cNvSpPr/>
          <p:nvPr/>
        </p:nvSpPr>
        <p:spPr>
          <a:xfrm>
            <a:off x="5623560" y="2830068"/>
            <a:ext cx="1371600" cy="146304"/>
          </a:xfrm>
          <a:prstGeom prst="rect">
            <a:avLst/>
          </a:prstGeom>
          <a:solidFill>
            <a:schemeClr val="bg2"/>
          </a:solidFill>
          <a:ln/>
        </p:spPr>
        <p:txBody>
          <a:bodyPr/>
          <a:p/>
        </p:txBody>
      </p:sp>
      <p:sp>
        <p:nvSpPr>
          <p:cNvPr id="23" name="Errors bar Inpatient fill"/>
          <p:cNvSpPr/>
          <p:nvPr/>
        </p:nvSpPr>
        <p:spPr>
          <a:xfrm>
            <a:off x="5623560" y="2830068"/>
            <a:ext cx="327953" cy="146304"/>
          </a:xfrm>
          <a:prstGeom prst="rect">
            <a:avLst/>
          </a:prstGeom>
          <a:solidFill>
            <a:schemeClr val="accent3"/>
          </a:solidFill>
          <a:ln/>
        </p:spPr>
        <p:txBody>
          <a:bodyPr/>
          <a:p/>
        </p:txBody>
      </p:sp>
      <p:sp>
        <p:nvSpPr>
          <p:cNvPr id="24" name="Divider"/>
          <p:cNvSpPr/>
          <p:nvPr/>
        </p:nvSpPr>
        <p:spPr>
          <a:xfrm>
            <a:off x="777240" y="3246120"/>
            <a:ext cx="6217920" cy="0"/>
          </a:xfrm>
          <a:prstGeom prst="line">
            <a:avLst/>
          </a:prstGeom>
          <a:noFill/>
          <a:ln w="9525">
            <a:solidFill>
              <a:schemeClr val="accent4"/>
            </a:solidFill>
            <a:prstDash val="solid"/>
          </a:ln>
        </p:spPr>
        <p:txBody>
          <a:bodyPr/>
          <a:p/>
        </p:txBody>
      </p:sp>
      <p:sp>
        <p:nvSpPr>
          <p:cNvPr id="25" name="Text 23"/>
          <p:cNvSpPr txBox="1"/>
          <p:nvPr/>
        </p:nvSpPr>
        <p:spPr>
          <a:xfrm>
            <a:off x="777240" y="3246120"/>
            <a:ext cx="2377440" cy="685800"/>
          </a:xfrm>
          <a:prstGeom prst="rect">
            <a:avLst/>
          </a:prstGeom>
          <a:noFill/>
          <a:ln/>
        </p:spPr>
        <p:txBody>
          <a:bodyPr wrap="square" lIns="0" tIns="0" rIns="0" bIns="0" rtlCol="0" anchor="ctr"/>
          <a:lstStyle/>
          <a:p>
            <a:pPr indent="0" marL="0">
              <a:buNone/>
            </a:pPr>
            <a:r>
              <a:rPr lang="en-US" sz="1300" b="1" dirty="0">
                <a:solidFill>
                  <a:schemeClr val="tx1"/>
                </a:solidFill>
              </a:rPr>
              <a:t>Facilities</a:t>
            </a:r>
            <a:endParaRPr lang="en-US" sz="1300" dirty="0"/>
          </a:p>
        </p:txBody>
      </p:sp>
      <p:sp>
        <p:nvSpPr>
          <p:cNvPr id="26" name="Role Facilities"/>
          <p:cNvSpPr/>
          <p:nvPr/>
        </p:nvSpPr>
        <p:spPr>
          <a:xfrm>
            <a:off x="3200400" y="3442716"/>
            <a:ext cx="1554480" cy="292608"/>
          </a:xfrm>
          <a:prstGeom prst="roundRect">
            <a:avLst>
              <a:gd name="adj" fmla="val 50000"/>
            </a:avLst>
          </a:prstGeom>
          <a:solidFill>
            <a:schemeClr val="accent4"/>
          </a:solidFill>
          <a:ln/>
        </p:spPr>
        <p:txBody>
          <a:bodyPr/>
          <a:p/>
        </p:txBody>
      </p:sp>
      <p:sp>
        <p:nvSpPr>
          <p:cNvPr id="27" name="Text 25"/>
          <p:cNvSpPr txBox="1"/>
          <p:nvPr/>
        </p:nvSpPr>
        <p:spPr>
          <a:xfrm>
            <a:off x="3200400" y="3442716"/>
            <a:ext cx="1554480" cy="292608"/>
          </a:xfrm>
          <a:prstGeom prst="rect">
            <a:avLst/>
          </a:prstGeom>
          <a:noFill/>
          <a:ln/>
        </p:spPr>
        <p:txBody>
          <a:bodyPr wrap="square" lIns="0" tIns="0" rIns="0" bIns="0" rtlCol="0" anchor="ctr"/>
          <a:lstStyle/>
          <a:p>
            <a:pPr algn="ctr" indent="0" marL="0">
              <a:buNone/>
            </a:pPr>
            <a:r>
              <a:rPr lang="en-US" sz="1050" b="1" dirty="0">
                <a:solidFill>
                  <a:schemeClr val="tx1"/>
                </a:solidFill>
              </a:rPr>
              <a:t>Training</a:t>
            </a:r>
            <a:endParaRPr lang="en-US" sz="1050" dirty="0"/>
          </a:p>
        </p:txBody>
      </p:sp>
      <p:sp>
        <p:nvSpPr>
          <p:cNvPr id="28" name="Text 26"/>
          <p:cNvSpPr txBox="1"/>
          <p:nvPr/>
        </p:nvSpPr>
        <p:spPr>
          <a:xfrm>
            <a:off x="4800600" y="3246120"/>
            <a:ext cx="685800" cy="685800"/>
          </a:xfrm>
          <a:prstGeom prst="rect">
            <a:avLst/>
          </a:prstGeom>
          <a:noFill/>
          <a:ln/>
        </p:spPr>
        <p:txBody>
          <a:bodyPr wrap="square" lIns="0" tIns="0" rIns="0" bIns="0" rtlCol="0" anchor="ctr"/>
          <a:lstStyle/>
          <a:p>
            <a:pPr algn="r" indent="0" marL="0">
              <a:buNone/>
            </a:pPr>
            <a:r>
              <a:rPr lang="en-US" sz="1300" b="1" dirty="0">
                <a:solidFill>
                  <a:schemeClr val="tx1"/>
                </a:solidFill>
              </a:rPr>
              <a:t>8,318</a:t>
            </a:r>
            <a:endParaRPr lang="en-US" sz="1300" dirty="0"/>
          </a:p>
        </p:txBody>
      </p:sp>
      <p:sp>
        <p:nvSpPr>
          <p:cNvPr id="29" name="Errors bar Facilities track"/>
          <p:cNvSpPr/>
          <p:nvPr/>
        </p:nvSpPr>
        <p:spPr>
          <a:xfrm>
            <a:off x="5623560" y="3515868"/>
            <a:ext cx="1371600" cy="146304"/>
          </a:xfrm>
          <a:prstGeom prst="rect">
            <a:avLst/>
          </a:prstGeom>
          <a:solidFill>
            <a:schemeClr val="bg2"/>
          </a:solidFill>
          <a:ln/>
        </p:spPr>
        <p:txBody>
          <a:bodyPr/>
          <a:p/>
        </p:txBody>
      </p:sp>
      <p:sp>
        <p:nvSpPr>
          <p:cNvPr id="30" name="Errors bar Facilities fill"/>
          <p:cNvSpPr/>
          <p:nvPr/>
        </p:nvSpPr>
        <p:spPr>
          <a:xfrm>
            <a:off x="5623560" y="3515868"/>
            <a:ext cx="610955" cy="146304"/>
          </a:xfrm>
          <a:prstGeom prst="rect">
            <a:avLst/>
          </a:prstGeom>
          <a:solidFill>
            <a:schemeClr val="accent3"/>
          </a:solidFill>
          <a:ln/>
        </p:spPr>
        <p:txBody>
          <a:bodyPr/>
          <a:p/>
        </p:txBody>
      </p:sp>
      <p:sp>
        <p:nvSpPr>
          <p:cNvPr id="31" name="Divider"/>
          <p:cNvSpPr/>
          <p:nvPr/>
        </p:nvSpPr>
        <p:spPr>
          <a:xfrm>
            <a:off x="777240" y="3931920"/>
            <a:ext cx="6217920" cy="0"/>
          </a:xfrm>
          <a:prstGeom prst="line">
            <a:avLst/>
          </a:prstGeom>
          <a:noFill/>
          <a:ln w="9525">
            <a:solidFill>
              <a:schemeClr val="accent4"/>
            </a:solidFill>
            <a:prstDash val="solid"/>
          </a:ln>
        </p:spPr>
        <p:txBody>
          <a:bodyPr/>
          <a:p/>
        </p:txBody>
      </p:sp>
      <p:sp>
        <p:nvSpPr>
          <p:cNvPr id="32" name="Text 30"/>
          <p:cNvSpPr txBox="1"/>
          <p:nvPr/>
        </p:nvSpPr>
        <p:spPr>
          <a:xfrm>
            <a:off x="777240" y="3931920"/>
            <a:ext cx="2377440" cy="685800"/>
          </a:xfrm>
          <a:prstGeom prst="rect">
            <a:avLst/>
          </a:prstGeom>
          <a:noFill/>
          <a:ln/>
        </p:spPr>
        <p:txBody>
          <a:bodyPr wrap="square" lIns="0" tIns="0" rIns="0" bIns="0" rtlCol="0" anchor="ctr"/>
          <a:lstStyle/>
          <a:p>
            <a:pPr indent="0" marL="0">
              <a:buNone/>
            </a:pPr>
            <a:r>
              <a:rPr lang="en-US" sz="1300" b="1" dirty="0">
                <a:solidFill>
                  <a:schemeClr val="tx1"/>
                </a:solidFill>
              </a:rPr>
              <a:t>Billionaire</a:t>
            </a:r>
            <a:endParaRPr lang="en-US" sz="1300" dirty="0"/>
          </a:p>
        </p:txBody>
      </p:sp>
      <p:sp>
        <p:nvSpPr>
          <p:cNvPr id="33" name="Role Billionaire"/>
          <p:cNvSpPr/>
          <p:nvPr/>
        </p:nvSpPr>
        <p:spPr>
          <a:xfrm>
            <a:off x="3200400" y="4128516"/>
            <a:ext cx="1554480" cy="292608"/>
          </a:xfrm>
          <a:prstGeom prst="roundRect">
            <a:avLst>
              <a:gd name="adj" fmla="val 50000"/>
            </a:avLst>
          </a:prstGeom>
          <a:solidFill>
            <a:schemeClr val="accent5"/>
          </a:solidFill>
          <a:ln/>
        </p:spPr>
        <p:txBody>
          <a:bodyPr/>
          <a:p/>
        </p:txBody>
      </p:sp>
      <p:sp>
        <p:nvSpPr>
          <p:cNvPr id="34" name="Text 32"/>
          <p:cNvSpPr txBox="1"/>
          <p:nvPr/>
        </p:nvSpPr>
        <p:spPr>
          <a:xfrm>
            <a:off x="3200400" y="4128516"/>
            <a:ext cx="1554480" cy="292608"/>
          </a:xfrm>
          <a:prstGeom prst="rect">
            <a:avLst/>
          </a:prstGeom>
          <a:noFill/>
          <a:ln/>
        </p:spPr>
        <p:txBody>
          <a:bodyPr wrap="square" lIns="0" tIns="0" rIns="0" bIns="0" rtlCol="0" anchor="ctr"/>
          <a:lstStyle/>
          <a:p>
            <a:pPr algn="ctr" indent="0" marL="0">
              <a:buNone/>
            </a:pPr>
            <a:r>
              <a:rPr lang="en-US" sz="1050" b="1" dirty="0">
                <a:solidFill>
                  <a:schemeClr val="tx1"/>
                </a:solidFill>
              </a:rPr>
              <a:t>Unseen test</a:t>
            </a:r>
            <a:endParaRPr lang="en-US" sz="1050" dirty="0"/>
          </a:p>
        </p:txBody>
      </p:sp>
      <p:sp>
        <p:nvSpPr>
          <p:cNvPr id="35" name="Text 33"/>
          <p:cNvSpPr txBox="1"/>
          <p:nvPr/>
        </p:nvSpPr>
        <p:spPr>
          <a:xfrm>
            <a:off x="4800600" y="3931920"/>
            <a:ext cx="685800" cy="685800"/>
          </a:xfrm>
          <a:prstGeom prst="rect">
            <a:avLst/>
          </a:prstGeom>
          <a:noFill/>
          <a:ln/>
        </p:spPr>
        <p:txBody>
          <a:bodyPr wrap="square" lIns="0" tIns="0" rIns="0" bIns="0" rtlCol="0" anchor="ctr"/>
          <a:lstStyle/>
          <a:p>
            <a:pPr algn="r" indent="0" marL="0">
              <a:buNone/>
            </a:pPr>
            <a:r>
              <a:rPr lang="en-US" sz="1300" b="1" dirty="0">
                <a:solidFill>
                  <a:schemeClr val="tx1"/>
                </a:solidFill>
              </a:rPr>
              <a:t>5,177</a:t>
            </a:r>
            <a:endParaRPr lang="en-US" sz="1300" dirty="0"/>
          </a:p>
        </p:txBody>
      </p:sp>
      <p:sp>
        <p:nvSpPr>
          <p:cNvPr id="36" name="Errors bar Billionaire track"/>
          <p:cNvSpPr/>
          <p:nvPr/>
        </p:nvSpPr>
        <p:spPr>
          <a:xfrm>
            <a:off x="5623560" y="4201668"/>
            <a:ext cx="1371600" cy="146304"/>
          </a:xfrm>
          <a:prstGeom prst="rect">
            <a:avLst/>
          </a:prstGeom>
          <a:solidFill>
            <a:schemeClr val="bg2"/>
          </a:solidFill>
          <a:ln/>
        </p:spPr>
        <p:txBody>
          <a:bodyPr/>
          <a:p/>
        </p:txBody>
      </p:sp>
      <p:sp>
        <p:nvSpPr>
          <p:cNvPr id="37" name="Errors bar Billionaire fill"/>
          <p:cNvSpPr/>
          <p:nvPr/>
        </p:nvSpPr>
        <p:spPr>
          <a:xfrm>
            <a:off x="5623560" y="4201668"/>
            <a:ext cx="380249" cy="146304"/>
          </a:xfrm>
          <a:prstGeom prst="rect">
            <a:avLst/>
          </a:prstGeom>
          <a:solidFill>
            <a:schemeClr val="accent2"/>
          </a:solidFill>
          <a:ln/>
        </p:spPr>
        <p:txBody>
          <a:bodyPr/>
          <a:p/>
        </p:txBody>
      </p:sp>
      <p:sp>
        <p:nvSpPr>
          <p:cNvPr id="38" name="Divider"/>
          <p:cNvSpPr/>
          <p:nvPr/>
        </p:nvSpPr>
        <p:spPr>
          <a:xfrm>
            <a:off x="777240" y="4617720"/>
            <a:ext cx="6217920" cy="0"/>
          </a:xfrm>
          <a:prstGeom prst="line">
            <a:avLst/>
          </a:prstGeom>
          <a:noFill/>
          <a:ln w="9525">
            <a:solidFill>
              <a:schemeClr val="accent4"/>
            </a:solidFill>
            <a:prstDash val="solid"/>
          </a:ln>
        </p:spPr>
        <p:txBody>
          <a:bodyPr/>
          <a:p/>
        </p:txBody>
      </p:sp>
      <p:sp>
        <p:nvSpPr>
          <p:cNvPr id="39" name="Text 37"/>
          <p:cNvSpPr txBox="1"/>
          <p:nvPr/>
        </p:nvSpPr>
        <p:spPr>
          <a:xfrm>
            <a:off x="777240" y="4617720"/>
            <a:ext cx="2377440" cy="685800"/>
          </a:xfrm>
          <a:prstGeom prst="rect">
            <a:avLst/>
          </a:prstGeom>
          <a:noFill/>
          <a:ln/>
        </p:spPr>
        <p:txBody>
          <a:bodyPr wrap="square" lIns="0" tIns="0" rIns="0" bIns="0" rtlCol="0" anchor="ctr"/>
          <a:lstStyle/>
          <a:p>
            <a:pPr indent="0" marL="0">
              <a:buNone/>
            </a:pPr>
            <a:r>
              <a:rPr lang="en-US" sz="1300" b="1" dirty="0">
                <a:solidFill>
                  <a:schemeClr val="tx1"/>
                </a:solidFill>
              </a:rPr>
              <a:t>Germany (5,000 rows)</a:t>
            </a:r>
            <a:endParaRPr lang="en-US" sz="1300" dirty="0"/>
          </a:p>
        </p:txBody>
      </p:sp>
      <p:sp>
        <p:nvSpPr>
          <p:cNvPr id="40" name="Role Germany (5,000 rows)"/>
          <p:cNvSpPr/>
          <p:nvPr/>
        </p:nvSpPr>
        <p:spPr>
          <a:xfrm>
            <a:off x="3200400" y="4814316"/>
            <a:ext cx="1554480" cy="292608"/>
          </a:xfrm>
          <a:prstGeom prst="roundRect">
            <a:avLst>
              <a:gd name="adj" fmla="val 50000"/>
            </a:avLst>
          </a:prstGeom>
          <a:solidFill>
            <a:schemeClr val="accent5"/>
          </a:solidFill>
          <a:ln/>
        </p:spPr>
        <p:txBody>
          <a:bodyPr/>
          <a:p/>
        </p:txBody>
      </p:sp>
      <p:sp>
        <p:nvSpPr>
          <p:cNvPr id="41" name="Text 39"/>
          <p:cNvSpPr txBox="1"/>
          <p:nvPr/>
        </p:nvSpPr>
        <p:spPr>
          <a:xfrm>
            <a:off x="3200400" y="4814316"/>
            <a:ext cx="1554480" cy="292608"/>
          </a:xfrm>
          <a:prstGeom prst="rect">
            <a:avLst/>
          </a:prstGeom>
          <a:noFill/>
          <a:ln/>
        </p:spPr>
        <p:txBody>
          <a:bodyPr wrap="square" lIns="0" tIns="0" rIns="0" bIns="0" rtlCol="0" anchor="ctr"/>
          <a:lstStyle/>
          <a:p>
            <a:pPr algn="ctr" indent="0" marL="0">
              <a:buNone/>
            </a:pPr>
            <a:r>
              <a:rPr lang="en-US" sz="1050" b="1" dirty="0">
                <a:solidFill>
                  <a:schemeClr val="tx1"/>
                </a:solidFill>
              </a:rPr>
              <a:t>Unseen test, real errors</a:t>
            </a:r>
            <a:endParaRPr lang="en-US" sz="1050" dirty="0"/>
          </a:p>
        </p:txBody>
      </p:sp>
      <p:sp>
        <p:nvSpPr>
          <p:cNvPr id="42" name="Text 40"/>
          <p:cNvSpPr txBox="1"/>
          <p:nvPr/>
        </p:nvSpPr>
        <p:spPr>
          <a:xfrm>
            <a:off x="4800600" y="4617720"/>
            <a:ext cx="685800" cy="685800"/>
          </a:xfrm>
          <a:prstGeom prst="rect">
            <a:avLst/>
          </a:prstGeom>
          <a:noFill/>
          <a:ln/>
        </p:spPr>
        <p:txBody>
          <a:bodyPr wrap="square" lIns="0" tIns="0" rIns="0" bIns="0" rtlCol="0" anchor="ctr"/>
          <a:lstStyle/>
          <a:p>
            <a:pPr algn="r" indent="0" marL="0">
              <a:buNone/>
            </a:pPr>
            <a:r>
              <a:rPr lang="en-US" sz="1300" b="1" dirty="0">
                <a:solidFill>
                  <a:schemeClr val="tx1"/>
                </a:solidFill>
              </a:rPr>
              <a:t>18,674</a:t>
            </a:r>
            <a:endParaRPr lang="en-US" sz="1300" dirty="0"/>
          </a:p>
        </p:txBody>
      </p:sp>
      <p:sp>
        <p:nvSpPr>
          <p:cNvPr id="43" name="Errors bar Germany (5,000 rows) track"/>
          <p:cNvSpPr/>
          <p:nvPr/>
        </p:nvSpPr>
        <p:spPr>
          <a:xfrm>
            <a:off x="5623560" y="4887468"/>
            <a:ext cx="1371600" cy="146304"/>
          </a:xfrm>
          <a:prstGeom prst="rect">
            <a:avLst/>
          </a:prstGeom>
          <a:solidFill>
            <a:schemeClr val="bg2"/>
          </a:solidFill>
          <a:ln/>
        </p:spPr>
        <p:txBody>
          <a:bodyPr/>
          <a:p/>
        </p:txBody>
      </p:sp>
      <p:sp>
        <p:nvSpPr>
          <p:cNvPr id="44" name="Errors bar Germany (5,000 rows) fill"/>
          <p:cNvSpPr/>
          <p:nvPr/>
        </p:nvSpPr>
        <p:spPr>
          <a:xfrm>
            <a:off x="5623560" y="4887468"/>
            <a:ext cx="1371600" cy="146304"/>
          </a:xfrm>
          <a:prstGeom prst="rect">
            <a:avLst/>
          </a:prstGeom>
          <a:solidFill>
            <a:schemeClr val="accent2"/>
          </a:solidFill>
          <a:ln/>
        </p:spPr>
        <p:txBody>
          <a:bodyPr/>
          <a:p/>
        </p:txBody>
      </p:sp>
      <p:sp>
        <p:nvSpPr>
          <p:cNvPr id="45" name="Splits card"/>
          <p:cNvSpPr/>
          <p:nvPr/>
        </p:nvSpPr>
        <p:spPr>
          <a:xfrm>
            <a:off x="548640" y="5577840"/>
            <a:ext cx="6675120" cy="502920"/>
          </a:xfrm>
          <a:prstGeom prst="roundRect">
            <a:avLst>
              <a:gd name="adj" fmla="val 14545"/>
            </a:avLst>
          </a:prstGeom>
          <a:solidFill>
            <a:schemeClr val="accent4"/>
          </a:solidFill>
          <a:ln/>
        </p:spPr>
        <p:txBody>
          <a:bodyPr/>
          <a:p/>
        </p:txBody>
      </p:sp>
      <p:sp>
        <p:nvSpPr>
          <p:cNvPr id="46" name="Text 44"/>
          <p:cNvSpPr txBox="1"/>
          <p:nvPr/>
        </p:nvSpPr>
        <p:spPr>
          <a:xfrm>
            <a:off x="777240" y="5577840"/>
            <a:ext cx="6217920" cy="502920"/>
          </a:xfrm>
          <a:prstGeom prst="rect">
            <a:avLst/>
          </a:prstGeom>
          <a:noFill/>
          <a:ln/>
        </p:spPr>
        <p:txBody>
          <a:bodyPr wrap="square" lIns="0" tIns="0" rIns="0" bIns="0" rtlCol="0" anchor="ctr"/>
          <a:lstStyle/>
          <a:p>
            <a:pPr indent="0" marL="0">
              <a:buNone/>
            </a:pPr>
            <a:r>
              <a:rPr lang="en-US" sz="1250" b="1" dirty="0">
                <a:solidFill>
                  <a:schemeClr val="tx1"/>
                </a:solidFill>
              </a:rPr>
              <a:t>Splits: </a:t>
            </a:r>
            <a:pPr indent="0" marL="0">
              <a:buNone/>
            </a:pPr>
            <a:r>
              <a:rPr lang="en-US" sz="1250" dirty="0">
                <a:solidFill>
                  <a:schemeClr val="tx1"/>
                </a:solidFill>
              </a:rPr>
              <a:t>by clinician (Inpatient) and by facility (Facilities). Unseen tables never enter a split.</a:t>
            </a:r>
            <a:endParaRPr lang="en-US" sz="1250" dirty="0"/>
          </a:p>
        </p:txBody>
      </p:sp>
      <p:sp>
        <p:nvSpPr>
          <p:cNvPr id="47" name="Licences card"/>
          <p:cNvSpPr/>
          <p:nvPr/>
        </p:nvSpPr>
        <p:spPr>
          <a:xfrm>
            <a:off x="7406640" y="1417320"/>
            <a:ext cx="4236415" cy="2514600"/>
          </a:xfrm>
          <a:prstGeom prst="roundRect">
            <a:avLst>
              <a:gd name="adj" fmla="val 2909"/>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48" name="Text 46"/>
          <p:cNvSpPr txBox="1"/>
          <p:nvPr/>
        </p:nvSpPr>
        <p:spPr>
          <a:xfrm>
            <a:off x="7635240" y="1554480"/>
            <a:ext cx="3779215"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LICENCES</a:t>
            </a:r>
            <a:endParaRPr lang="en-US" sz="1100" dirty="0"/>
          </a:p>
        </p:txBody>
      </p:sp>
      <p:sp>
        <p:nvSpPr>
          <p:cNvPr id="49" name="Text 47"/>
          <p:cNvSpPr txBox="1"/>
          <p:nvPr/>
        </p:nvSpPr>
        <p:spPr>
          <a:xfrm>
            <a:off x="7635240" y="1874520"/>
            <a:ext cx="1280160" cy="292608"/>
          </a:xfrm>
          <a:prstGeom prst="rect">
            <a:avLst/>
          </a:prstGeom>
          <a:noFill/>
          <a:ln/>
        </p:spPr>
        <p:txBody>
          <a:bodyPr wrap="square" lIns="0" tIns="0" rIns="0" bIns="0" rtlCol="0" anchor="t"/>
          <a:lstStyle/>
          <a:p>
            <a:pPr indent="0" marL="0">
              <a:buNone/>
            </a:pPr>
            <a:r>
              <a:rPr lang="en-US" sz="1150" b="1" dirty="0">
                <a:solidFill>
                  <a:schemeClr val="accent3"/>
                </a:solidFill>
              </a:rPr>
              <a:t>Raha</a:t>
            </a:r>
            <a:endParaRPr lang="en-US" sz="1150" dirty="0"/>
          </a:p>
        </p:txBody>
      </p:sp>
      <p:sp>
        <p:nvSpPr>
          <p:cNvPr id="50" name="Text 48"/>
          <p:cNvSpPr txBox="1"/>
          <p:nvPr/>
        </p:nvSpPr>
        <p:spPr>
          <a:xfrm>
            <a:off x="8961120" y="1874520"/>
            <a:ext cx="2453335" cy="292608"/>
          </a:xfrm>
          <a:prstGeom prst="rect">
            <a:avLst/>
          </a:prstGeom>
          <a:noFill/>
          <a:ln/>
        </p:spPr>
        <p:txBody>
          <a:bodyPr wrap="square" lIns="0" tIns="0" rIns="0" bIns="0" rtlCol="0" anchor="t"/>
          <a:lstStyle/>
          <a:p>
            <a:pPr indent="0" marL="0">
              <a:buNone/>
            </a:pPr>
            <a:r>
              <a:rPr lang="en-US" sz="1150" dirty="0">
                <a:solidFill>
                  <a:schemeClr val="tx1"/>
                </a:solidFill>
              </a:rPr>
              <a:t>Apache-2.0</a:t>
            </a:r>
            <a:endParaRPr lang="en-US" sz="1150" dirty="0"/>
          </a:p>
        </p:txBody>
      </p:sp>
      <p:sp>
        <p:nvSpPr>
          <p:cNvPr id="51" name="Text 49"/>
          <p:cNvSpPr txBox="1"/>
          <p:nvPr/>
        </p:nvSpPr>
        <p:spPr>
          <a:xfrm>
            <a:off x="7635240" y="2167128"/>
            <a:ext cx="1280160" cy="292608"/>
          </a:xfrm>
          <a:prstGeom prst="rect">
            <a:avLst/>
          </a:prstGeom>
          <a:noFill/>
          <a:ln/>
        </p:spPr>
        <p:txBody>
          <a:bodyPr wrap="square" lIns="0" tIns="0" rIns="0" bIns="0" rtlCol="0" anchor="t"/>
          <a:lstStyle/>
          <a:p>
            <a:pPr indent="0" marL="0">
              <a:buNone/>
            </a:pPr>
            <a:r>
              <a:rPr lang="en-US" sz="1150" b="1" dirty="0">
                <a:solidFill>
                  <a:schemeClr val="accent3"/>
                </a:solidFill>
              </a:rPr>
              <a:t>UCI</a:t>
            </a:r>
            <a:endParaRPr lang="en-US" sz="1150" dirty="0"/>
          </a:p>
        </p:txBody>
      </p:sp>
      <p:sp>
        <p:nvSpPr>
          <p:cNvPr id="52" name="Text 50"/>
          <p:cNvSpPr txBox="1"/>
          <p:nvPr/>
        </p:nvSpPr>
        <p:spPr>
          <a:xfrm>
            <a:off x="8961120" y="2167128"/>
            <a:ext cx="2453335" cy="292608"/>
          </a:xfrm>
          <a:prstGeom prst="rect">
            <a:avLst/>
          </a:prstGeom>
          <a:noFill/>
          <a:ln/>
        </p:spPr>
        <p:txBody>
          <a:bodyPr wrap="square" lIns="0" tIns="0" rIns="0" bIns="0" rtlCol="0" anchor="t"/>
          <a:lstStyle/>
          <a:p>
            <a:pPr indent="0" marL="0">
              <a:buNone/>
            </a:pPr>
            <a:r>
              <a:rPr lang="en-US" sz="1150" dirty="0">
                <a:solidFill>
                  <a:schemeClr val="tx1"/>
                </a:solidFill>
              </a:rPr>
              <a:t>CC BY 4.0</a:t>
            </a:r>
            <a:endParaRPr lang="en-US" sz="1150" dirty="0"/>
          </a:p>
        </p:txBody>
      </p:sp>
      <p:sp>
        <p:nvSpPr>
          <p:cNvPr id="53" name="Text 51"/>
          <p:cNvSpPr txBox="1"/>
          <p:nvPr/>
        </p:nvSpPr>
        <p:spPr>
          <a:xfrm>
            <a:off x="7635240" y="2459736"/>
            <a:ext cx="1280160" cy="457200"/>
          </a:xfrm>
          <a:prstGeom prst="rect">
            <a:avLst/>
          </a:prstGeom>
          <a:noFill/>
          <a:ln/>
        </p:spPr>
        <p:txBody>
          <a:bodyPr wrap="square" lIns="0" tIns="0" rIns="0" bIns="0" rtlCol="0" anchor="t"/>
          <a:lstStyle/>
          <a:p>
            <a:pPr indent="0" marL="0">
              <a:buNone/>
            </a:pPr>
            <a:r>
              <a:rPr lang="en-US" sz="1150" b="1" dirty="0">
                <a:solidFill>
                  <a:schemeClr val="accent3"/>
                </a:solidFill>
              </a:rPr>
              <a:t>Germany data</a:t>
            </a:r>
            <a:endParaRPr lang="en-US" sz="1150" dirty="0"/>
          </a:p>
        </p:txBody>
      </p:sp>
      <p:sp>
        <p:nvSpPr>
          <p:cNvPr id="54" name="Text 52"/>
          <p:cNvSpPr txBox="1"/>
          <p:nvPr/>
        </p:nvSpPr>
        <p:spPr>
          <a:xfrm>
            <a:off x="8961120" y="2459736"/>
            <a:ext cx="2453335" cy="457200"/>
          </a:xfrm>
          <a:prstGeom prst="rect">
            <a:avLst/>
          </a:prstGeom>
          <a:noFill/>
          <a:ln/>
        </p:spPr>
        <p:txBody>
          <a:bodyPr wrap="square" lIns="0" tIns="0" rIns="0" bIns="0" rtlCol="0" anchor="t"/>
          <a:lstStyle/>
          <a:p>
            <a:pPr indent="0" marL="0">
              <a:buNone/>
            </a:pPr>
            <a:r>
              <a:rPr lang="en-US" sz="1150" dirty="0">
                <a:solidFill>
                  <a:schemeClr val="tx1"/>
                </a:solidFill>
              </a:rPr>
              <a:t>ODbL 1.0, share-alike; credit OpenStreetMap</a:t>
            </a:r>
            <a:endParaRPr lang="en-US" sz="1150" dirty="0"/>
          </a:p>
        </p:txBody>
      </p:sp>
      <p:sp>
        <p:nvSpPr>
          <p:cNvPr id="55" name="Text 53"/>
          <p:cNvSpPr txBox="1"/>
          <p:nvPr/>
        </p:nvSpPr>
        <p:spPr>
          <a:xfrm>
            <a:off x="7635240" y="2916936"/>
            <a:ext cx="1280160" cy="457200"/>
          </a:xfrm>
          <a:prstGeom prst="rect">
            <a:avLst/>
          </a:prstGeom>
          <a:noFill/>
          <a:ln/>
        </p:spPr>
        <p:txBody>
          <a:bodyPr wrap="square" lIns="0" tIns="0" rIns="0" bIns="0" rtlCol="0" anchor="t"/>
          <a:lstStyle/>
          <a:p>
            <a:pPr indent="0" marL="0">
              <a:buNone/>
            </a:pPr>
            <a:r>
              <a:rPr lang="en-US" sz="1150" b="1" dirty="0">
                <a:solidFill>
                  <a:schemeClr val="accent3"/>
                </a:solidFill>
              </a:rPr>
              <a:t>BClean, ZeroED</a:t>
            </a:r>
            <a:endParaRPr lang="en-US" sz="1150" dirty="0"/>
          </a:p>
        </p:txBody>
      </p:sp>
      <p:sp>
        <p:nvSpPr>
          <p:cNvPr id="56" name="Text 54"/>
          <p:cNvSpPr txBox="1"/>
          <p:nvPr/>
        </p:nvSpPr>
        <p:spPr>
          <a:xfrm>
            <a:off x="8961120" y="2916936"/>
            <a:ext cx="2453335" cy="457200"/>
          </a:xfrm>
          <a:prstGeom prst="rect">
            <a:avLst/>
          </a:prstGeom>
          <a:noFill/>
          <a:ln/>
        </p:spPr>
        <p:txBody>
          <a:bodyPr wrap="square" lIns="0" tIns="0" rIns="0" bIns="0" rtlCol="0" anchor="t"/>
          <a:lstStyle/>
          <a:p>
            <a:pPr indent="0" marL="0">
              <a:buNone/>
            </a:pPr>
            <a:r>
              <a:rPr lang="en-US" sz="1150" dirty="0">
                <a:solidFill>
                  <a:schemeClr val="tx1"/>
                </a:solidFill>
              </a:rPr>
              <a:t>No licence file; terms of the benchmarks they bundle</a:t>
            </a:r>
            <a:endParaRPr lang="en-US" sz="1150" dirty="0"/>
          </a:p>
        </p:txBody>
      </p:sp>
      <p:sp>
        <p:nvSpPr>
          <p:cNvPr id="57" name="Text 55"/>
          <p:cNvSpPr txBox="1"/>
          <p:nvPr/>
        </p:nvSpPr>
        <p:spPr>
          <a:xfrm>
            <a:off x="7635240" y="3374136"/>
            <a:ext cx="1280160" cy="457200"/>
          </a:xfrm>
          <a:prstGeom prst="rect">
            <a:avLst/>
          </a:prstGeom>
          <a:noFill/>
          <a:ln/>
        </p:spPr>
        <p:txBody>
          <a:bodyPr wrap="square" lIns="0" tIns="0" rIns="0" bIns="0" rtlCol="0" anchor="t"/>
          <a:lstStyle/>
          <a:p>
            <a:pPr indent="0" marL="0">
              <a:buNone/>
            </a:pPr>
            <a:r>
              <a:rPr lang="en-US" sz="1150" b="1" dirty="0">
                <a:solidFill>
                  <a:schemeClr val="accent3"/>
                </a:solidFill>
              </a:rPr>
              <a:t>TableEG</a:t>
            </a:r>
            <a:endParaRPr lang="en-US" sz="1150" dirty="0"/>
          </a:p>
        </p:txBody>
      </p:sp>
      <p:sp>
        <p:nvSpPr>
          <p:cNvPr id="58" name="Text 56"/>
          <p:cNvSpPr txBox="1"/>
          <p:nvPr/>
        </p:nvSpPr>
        <p:spPr>
          <a:xfrm>
            <a:off x="8961120" y="3374136"/>
            <a:ext cx="2453335" cy="457200"/>
          </a:xfrm>
          <a:prstGeom prst="rect">
            <a:avLst/>
          </a:prstGeom>
          <a:noFill/>
          <a:ln/>
        </p:spPr>
        <p:txBody>
          <a:bodyPr wrap="square" lIns="0" tIns="0" rIns="0" bIns="0" rtlCol="0" anchor="t"/>
          <a:lstStyle/>
          <a:p>
            <a:pPr indent="0" marL="0">
              <a:buNone/>
            </a:pPr>
            <a:r>
              <a:rPr lang="en-US" sz="1150" dirty="0">
                <a:solidFill>
                  <a:schemeClr val="tx1"/>
                </a:solidFill>
              </a:rPr>
              <a:t>Llama 3.1 licence for model outputs</a:t>
            </a:r>
            <a:endParaRPr lang="en-US" sz="1150" dirty="0"/>
          </a:p>
        </p:txBody>
      </p:sp>
      <p:sp>
        <p:nvSpPr>
          <p:cNvPr id="59" name="Review card"/>
          <p:cNvSpPr/>
          <p:nvPr/>
        </p:nvSpPr>
        <p:spPr>
          <a:xfrm>
            <a:off x="7406640" y="4114800"/>
            <a:ext cx="4236415" cy="594360"/>
          </a:xfrm>
          <a:prstGeom prst="roundRect">
            <a:avLst>
              <a:gd name="adj" fmla="val 12308"/>
            </a:avLst>
          </a:prstGeom>
          <a:solidFill>
            <a:schemeClr val="tx1"/>
          </a:solidFill>
          <a:ln/>
        </p:spPr>
        <p:txBody>
          <a:bodyPr/>
          <a:p/>
        </p:txBody>
      </p:sp>
      <p:sp>
        <p:nvSpPr>
          <p:cNvPr id="60" name="Text 58"/>
          <p:cNvSpPr txBox="1"/>
          <p:nvPr/>
        </p:nvSpPr>
        <p:spPr>
          <a:xfrm>
            <a:off x="7635240" y="4114800"/>
            <a:ext cx="3779215" cy="594360"/>
          </a:xfrm>
          <a:prstGeom prst="rect">
            <a:avLst/>
          </a:prstGeom>
          <a:noFill/>
          <a:ln/>
        </p:spPr>
        <p:txBody>
          <a:bodyPr wrap="square" lIns="0" tIns="0" rIns="0" bIns="0" rtlCol="0" anchor="ctr"/>
          <a:lstStyle/>
          <a:p>
            <a:pPr indent="0" marL="0">
              <a:buNone/>
            </a:pPr>
            <a:r>
              <a:rPr lang="en-US" sz="1200" b="1" dirty="0">
                <a:solidFill>
                  <a:schemeClr val="accent1"/>
                </a:solidFill>
              </a:rPr>
              <a:t>Team review, 28 Oct: </a:t>
            </a:r>
            <a:pPr indent="0" marL="0">
              <a:buNone/>
            </a:pPr>
            <a:r>
              <a:rPr lang="en-US" sz="1200" dirty="0">
                <a:solidFill>
                  <a:schemeClr val="bg2"/>
                </a:solidFill>
              </a:rPr>
              <a:t>approved for research use and sharing with attribution</a:t>
            </a:r>
            <a:endParaRPr lang="en-US" sz="1200" dirty="0"/>
          </a:p>
        </p:txBody>
      </p:sp>
      <p:sp>
        <p:nvSpPr>
          <p:cNvPr id="61" name="Privacy card"/>
          <p:cNvSpPr/>
          <p:nvPr/>
        </p:nvSpPr>
        <p:spPr>
          <a:xfrm>
            <a:off x="7406640" y="4892040"/>
            <a:ext cx="4236415" cy="1188720"/>
          </a:xfrm>
          <a:prstGeom prst="roundRect">
            <a:avLst>
              <a:gd name="adj" fmla="val 6154"/>
            </a:avLst>
          </a:prstGeom>
          <a:solidFill>
            <a:schemeClr val="accent5"/>
          </a:solidFill>
          <a:ln/>
        </p:spPr>
        <p:txBody>
          <a:bodyPr/>
          <a:p/>
        </p:txBody>
      </p:sp>
      <p:sp>
        <p:nvSpPr>
          <p:cNvPr id="62" name="Text 60"/>
          <p:cNvSpPr txBox="1"/>
          <p:nvPr/>
        </p:nvSpPr>
        <p:spPr>
          <a:xfrm>
            <a:off x="7635240" y="5001768"/>
            <a:ext cx="3779215"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PRIVACY</a:t>
            </a:r>
            <a:endParaRPr lang="en-US" sz="1100" dirty="0"/>
          </a:p>
        </p:txBody>
      </p:sp>
      <p:sp>
        <p:nvSpPr>
          <p:cNvPr id="63" name="Text 61"/>
          <p:cNvSpPr txBox="1"/>
          <p:nvPr/>
        </p:nvSpPr>
        <p:spPr>
          <a:xfrm>
            <a:off x="7635240" y="5276088"/>
            <a:ext cx="3779215" cy="731520"/>
          </a:xfrm>
          <a:prstGeom prst="rect">
            <a:avLst/>
          </a:prstGeom>
          <a:noFill/>
          <a:ln/>
        </p:spPr>
        <p:txBody>
          <a:bodyPr wrap="square" lIns="0" tIns="0" rIns="0" bIns="0" rtlCol="0" anchor="t"/>
          <a:lstStyle/>
          <a:p>
            <a:pPr indent="0" marL="0">
              <a:buNone/>
            </a:pPr>
            <a:r>
              <a:rPr lang="en-US" sz="1200" dirty="0">
                <a:solidFill>
                  <a:schemeClr val="tx1"/>
                </a:solidFill>
              </a:rPr>
              <a:t>Names appear in Inpatient (it looks like a public professional registry) and well-known people in Billionaire. No raw data in the repository; no personal rows in the public sample.</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3"/>
                </a:solidFill>
              </a:rPr>
              <a:t>SYNTHETIC ERRORS</a:t>
            </a:r>
            <a:endParaRPr lang="en-US" sz="1100" dirty="0"/>
          </a:p>
        </p:txBody>
      </p:sp>
      <p:sp>
        <p:nvSpPr>
          <p:cNvPr id="3" name="Text 2"/>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2600" b="1" dirty="0">
                <a:solidFill>
                  <a:schemeClr val="tx1"/>
                </a:solidFill>
              </a:rPr>
              <a:t>No outlier errors in the core tables, so we create them</a:t>
            </a:r>
            <a:endParaRPr lang="en-US" sz="2600" dirty="0"/>
          </a:p>
        </p:txBody>
      </p:sp>
      <p:sp>
        <p:nvSpPr>
          <p:cNvPr id="5" name="Text 3"/>
          <p:cNvSpPr txBox="1"/>
          <p:nvPr/>
        </p:nvSpPr>
        <p:spPr>
          <a:xfrm>
            <a:off x="548640" y="1417320"/>
            <a:ext cx="365760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FOUR RECIPES · CLEAN TO CORRUPTED</a:t>
            </a:r>
            <a:endParaRPr lang="en-US" sz="1100" dirty="0"/>
          </a:p>
        </p:txBody>
      </p:sp>
      <p:sp>
        <p:nvSpPr>
          <p:cNvPr id="6" name="Recipe card Missing"/>
          <p:cNvSpPr/>
          <p:nvPr/>
        </p:nvSpPr>
        <p:spPr>
          <a:xfrm>
            <a:off x="548640" y="1737360"/>
            <a:ext cx="3657600" cy="948690"/>
          </a:xfrm>
          <a:prstGeom prst="roundRect">
            <a:avLst>
              <a:gd name="adj" fmla="val 7711"/>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7" name="Text 5"/>
          <p:cNvSpPr txBox="1"/>
          <p:nvPr/>
        </p:nvSpPr>
        <p:spPr>
          <a:xfrm>
            <a:off x="731520" y="1828800"/>
            <a:ext cx="1097280" cy="274320"/>
          </a:xfrm>
          <a:prstGeom prst="rect">
            <a:avLst/>
          </a:prstGeom>
          <a:noFill/>
          <a:ln/>
        </p:spPr>
        <p:txBody>
          <a:bodyPr wrap="square" lIns="0" tIns="0" rIns="0" bIns="0" rtlCol="0" anchor="ctr"/>
          <a:lstStyle/>
          <a:p>
            <a:pPr indent="0" marL="0">
              <a:buNone/>
            </a:pPr>
            <a:r>
              <a:rPr lang="en-US" sz="1400" b="1" dirty="0">
                <a:solidFill>
                  <a:schemeClr val="accent3"/>
                </a:solidFill>
              </a:rPr>
              <a:t>Missing</a:t>
            </a:r>
            <a:endParaRPr lang="en-US" sz="1400" dirty="0"/>
          </a:p>
        </p:txBody>
      </p:sp>
      <p:sp>
        <p:nvSpPr>
          <p:cNvPr id="8" name="Text 6"/>
          <p:cNvSpPr txBox="1"/>
          <p:nvPr/>
        </p:nvSpPr>
        <p:spPr>
          <a:xfrm>
            <a:off x="1737360" y="1828800"/>
            <a:ext cx="2286000" cy="274320"/>
          </a:xfrm>
          <a:prstGeom prst="rect">
            <a:avLst/>
          </a:prstGeom>
          <a:noFill/>
          <a:ln/>
        </p:spPr>
        <p:txBody>
          <a:bodyPr wrap="square" lIns="0" tIns="0" rIns="0" bIns="0" rtlCol="0" anchor="ctr"/>
          <a:lstStyle/>
          <a:p>
            <a:pPr algn="r" indent="0" marL="0">
              <a:buNone/>
            </a:pPr>
            <a:r>
              <a:rPr lang="en-US" sz="1050" dirty="0">
                <a:solidFill>
                  <a:schemeClr val="accent6"/>
                </a:solidFill>
              </a:rPr>
              <a:t>placeholder replaces a value</a:t>
            </a:r>
            <a:endParaRPr lang="en-US" sz="1050" dirty="0"/>
          </a:p>
        </p:txBody>
      </p:sp>
      <p:sp>
        <p:nvSpPr>
          <p:cNvPr id="9" name="Clean chip Missing"/>
          <p:cNvSpPr/>
          <p:nvPr/>
        </p:nvSpPr>
        <p:spPr>
          <a:xfrm>
            <a:off x="731520" y="2194560"/>
            <a:ext cx="1463040" cy="329184"/>
          </a:xfrm>
          <a:prstGeom prst="roundRect">
            <a:avLst>
              <a:gd name="adj" fmla="val 22222"/>
            </a:avLst>
          </a:prstGeom>
          <a:solidFill>
            <a:schemeClr val="accent4"/>
          </a:solidFill>
          <a:ln/>
        </p:spPr>
        <p:txBody>
          <a:bodyPr/>
          <a:p/>
        </p:txBody>
      </p:sp>
      <p:sp>
        <p:nvSpPr>
          <p:cNvPr id="10" name="Text 8"/>
          <p:cNvSpPr txBox="1"/>
          <p:nvPr/>
        </p:nvSpPr>
        <p:spPr>
          <a:xfrm>
            <a:off x="731520" y="2194560"/>
            <a:ext cx="1463040" cy="329184"/>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Male</a:t>
            </a:r>
            <a:endParaRPr lang="en-US" sz="1000" dirty="0"/>
          </a:p>
        </p:txBody>
      </p:sp>
      <p:sp>
        <p:nvSpPr>
          <p:cNvPr id="11" name="Text 9"/>
          <p:cNvSpPr txBox="1"/>
          <p:nvPr/>
        </p:nvSpPr>
        <p:spPr>
          <a:xfrm>
            <a:off x="2194560" y="2194560"/>
            <a:ext cx="365760" cy="329184"/>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2" name="Corrupted chip Missing"/>
          <p:cNvSpPr/>
          <p:nvPr/>
        </p:nvSpPr>
        <p:spPr>
          <a:xfrm>
            <a:off x="2560320" y="2194560"/>
            <a:ext cx="1463040" cy="329184"/>
          </a:xfrm>
          <a:prstGeom prst="roundRect">
            <a:avLst>
              <a:gd name="adj" fmla="val 22222"/>
            </a:avLst>
          </a:prstGeom>
          <a:solidFill>
            <a:schemeClr val="accent2"/>
          </a:solidFill>
          <a:ln/>
        </p:spPr>
        <p:txBody>
          <a:bodyPr/>
          <a:p/>
        </p:txBody>
      </p:sp>
      <p:sp>
        <p:nvSpPr>
          <p:cNvPr id="13" name="Text 11"/>
          <p:cNvSpPr txBox="1"/>
          <p:nvPr/>
        </p:nvSpPr>
        <p:spPr>
          <a:xfrm>
            <a:off x="2560320" y="2194560"/>
            <a:ext cx="1463040" cy="329184"/>
          </a:xfrm>
          <a:prstGeom prst="rect">
            <a:avLst/>
          </a:prstGeom>
          <a:no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a:t>
            </a:r>
            <a:endParaRPr lang="en-US" sz="1000" dirty="0"/>
          </a:p>
        </p:txBody>
      </p:sp>
      <p:sp>
        <p:nvSpPr>
          <p:cNvPr id="14" name="Recipe card Pattern"/>
          <p:cNvSpPr/>
          <p:nvPr/>
        </p:nvSpPr>
        <p:spPr>
          <a:xfrm>
            <a:off x="548640" y="2868930"/>
            <a:ext cx="3657600" cy="948690"/>
          </a:xfrm>
          <a:prstGeom prst="roundRect">
            <a:avLst>
              <a:gd name="adj" fmla="val 7711"/>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15" name="Text 13"/>
          <p:cNvSpPr txBox="1"/>
          <p:nvPr/>
        </p:nvSpPr>
        <p:spPr>
          <a:xfrm>
            <a:off x="731520" y="2960370"/>
            <a:ext cx="1097280" cy="274320"/>
          </a:xfrm>
          <a:prstGeom prst="rect">
            <a:avLst/>
          </a:prstGeom>
          <a:noFill/>
          <a:ln/>
        </p:spPr>
        <p:txBody>
          <a:bodyPr wrap="square" lIns="0" tIns="0" rIns="0" bIns="0" rtlCol="0" anchor="ctr"/>
          <a:lstStyle/>
          <a:p>
            <a:pPr indent="0" marL="0">
              <a:buNone/>
            </a:pPr>
            <a:r>
              <a:rPr lang="en-US" sz="1400" b="1" dirty="0">
                <a:solidFill>
                  <a:schemeClr val="accent3"/>
                </a:solidFill>
              </a:rPr>
              <a:t>Pattern</a:t>
            </a:r>
            <a:endParaRPr lang="en-US" sz="1400" dirty="0"/>
          </a:p>
        </p:txBody>
      </p:sp>
      <p:sp>
        <p:nvSpPr>
          <p:cNvPr id="16" name="Text 14"/>
          <p:cNvSpPr txBox="1"/>
          <p:nvPr/>
        </p:nvSpPr>
        <p:spPr>
          <a:xfrm>
            <a:off x="1737360" y="2960370"/>
            <a:ext cx="2286000" cy="274320"/>
          </a:xfrm>
          <a:prstGeom prst="rect">
            <a:avLst/>
          </a:prstGeom>
          <a:noFill/>
          <a:ln/>
        </p:spPr>
        <p:txBody>
          <a:bodyPr wrap="square" lIns="0" tIns="0" rIns="0" bIns="0" rtlCol="0" anchor="ctr"/>
          <a:lstStyle/>
          <a:p>
            <a:pPr algn="r" indent="0" marL="0">
              <a:buNone/>
            </a:pPr>
            <a:r>
              <a:rPr lang="en-US" sz="1050" dirty="0">
                <a:solidFill>
                  <a:schemeClr val="accent6"/>
                </a:solidFill>
              </a:rPr>
              <a:t>typo or format change</a:t>
            </a:r>
            <a:endParaRPr lang="en-US" sz="1050" dirty="0"/>
          </a:p>
        </p:txBody>
      </p:sp>
      <p:sp>
        <p:nvSpPr>
          <p:cNvPr id="17" name="Clean chip Pattern"/>
          <p:cNvSpPr/>
          <p:nvPr/>
        </p:nvSpPr>
        <p:spPr>
          <a:xfrm>
            <a:off x="731520" y="3326130"/>
            <a:ext cx="1463040" cy="329184"/>
          </a:xfrm>
          <a:prstGeom prst="roundRect">
            <a:avLst>
              <a:gd name="adj" fmla="val 22222"/>
            </a:avLst>
          </a:prstGeom>
          <a:solidFill>
            <a:schemeClr val="accent4"/>
          </a:solidFill>
          <a:ln/>
        </p:spPr>
        <p:txBody>
          <a:bodyPr/>
          <a:p/>
        </p:txBody>
      </p:sp>
      <p:sp>
        <p:nvSpPr>
          <p:cNvPr id="18" name="Text 16"/>
          <p:cNvSpPr txBox="1"/>
          <p:nvPr/>
        </p:nvSpPr>
        <p:spPr>
          <a:xfrm>
            <a:off x="731520" y="3326130"/>
            <a:ext cx="1463040" cy="329184"/>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Married-civ-spouse</a:t>
            </a:r>
            <a:endParaRPr lang="en-US" sz="1000" dirty="0"/>
          </a:p>
        </p:txBody>
      </p:sp>
      <p:sp>
        <p:nvSpPr>
          <p:cNvPr id="19" name="Text 17"/>
          <p:cNvSpPr txBox="1"/>
          <p:nvPr/>
        </p:nvSpPr>
        <p:spPr>
          <a:xfrm>
            <a:off x="2194560" y="3326130"/>
            <a:ext cx="365760" cy="329184"/>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20" name="Corrupted chip Pattern"/>
          <p:cNvSpPr/>
          <p:nvPr/>
        </p:nvSpPr>
        <p:spPr>
          <a:xfrm>
            <a:off x="2560320" y="3326130"/>
            <a:ext cx="1463040" cy="329184"/>
          </a:xfrm>
          <a:prstGeom prst="roundRect">
            <a:avLst>
              <a:gd name="adj" fmla="val 22222"/>
            </a:avLst>
          </a:prstGeom>
          <a:solidFill>
            <a:schemeClr val="accent2"/>
          </a:solidFill>
          <a:ln/>
        </p:spPr>
        <p:txBody>
          <a:bodyPr/>
          <a:p/>
        </p:txBody>
      </p:sp>
      <p:sp>
        <p:nvSpPr>
          <p:cNvPr id="21" name="Text 19"/>
          <p:cNvSpPr txBox="1"/>
          <p:nvPr/>
        </p:nvSpPr>
        <p:spPr>
          <a:xfrm>
            <a:off x="2560320" y="3326130"/>
            <a:ext cx="1463040" cy="329184"/>
          </a:xfrm>
          <a:prstGeom prst="rect">
            <a:avLst/>
          </a:prstGeom>
          <a:no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Marred-civ-spouse</a:t>
            </a:r>
            <a:endParaRPr lang="en-US" sz="1000" dirty="0"/>
          </a:p>
        </p:txBody>
      </p:sp>
      <p:sp>
        <p:nvSpPr>
          <p:cNvPr id="22" name="Recipe card Rule"/>
          <p:cNvSpPr/>
          <p:nvPr/>
        </p:nvSpPr>
        <p:spPr>
          <a:xfrm>
            <a:off x="548640" y="4000500"/>
            <a:ext cx="3657600" cy="948690"/>
          </a:xfrm>
          <a:prstGeom prst="roundRect">
            <a:avLst>
              <a:gd name="adj" fmla="val 7711"/>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23" name="Text 21"/>
          <p:cNvSpPr txBox="1"/>
          <p:nvPr/>
        </p:nvSpPr>
        <p:spPr>
          <a:xfrm>
            <a:off x="731520" y="4091940"/>
            <a:ext cx="1097280" cy="274320"/>
          </a:xfrm>
          <a:prstGeom prst="rect">
            <a:avLst/>
          </a:prstGeom>
          <a:noFill/>
          <a:ln/>
        </p:spPr>
        <p:txBody>
          <a:bodyPr wrap="square" lIns="0" tIns="0" rIns="0" bIns="0" rtlCol="0" anchor="ctr"/>
          <a:lstStyle/>
          <a:p>
            <a:pPr indent="0" marL="0">
              <a:buNone/>
            </a:pPr>
            <a:r>
              <a:rPr lang="en-US" sz="1400" b="1" dirty="0">
                <a:solidFill>
                  <a:schemeClr val="accent3"/>
                </a:solidFill>
              </a:rPr>
              <a:t>Rule</a:t>
            </a:r>
            <a:endParaRPr lang="en-US" sz="1400" dirty="0"/>
          </a:p>
        </p:txBody>
      </p:sp>
      <p:sp>
        <p:nvSpPr>
          <p:cNvPr id="24" name="Text 22"/>
          <p:cNvSpPr txBox="1"/>
          <p:nvPr/>
        </p:nvSpPr>
        <p:spPr>
          <a:xfrm>
            <a:off x="1737360" y="4091940"/>
            <a:ext cx="2286000" cy="274320"/>
          </a:xfrm>
          <a:prstGeom prst="rect">
            <a:avLst/>
          </a:prstGeom>
          <a:noFill/>
          <a:ln/>
        </p:spPr>
        <p:txBody>
          <a:bodyPr wrap="square" lIns="0" tIns="0" rIns="0" bIns="0" rtlCol="0" anchor="ctr"/>
          <a:lstStyle/>
          <a:p>
            <a:pPr algn="r" indent="0" marL="0">
              <a:buNone/>
            </a:pPr>
            <a:r>
              <a:rPr lang="en-US" sz="1050" dirty="0">
                <a:solidFill>
                  <a:schemeClr val="accent6"/>
                </a:solidFill>
              </a:rPr>
              <a:t>break a found dependency</a:t>
            </a:r>
            <a:endParaRPr lang="en-US" sz="1050" dirty="0"/>
          </a:p>
        </p:txBody>
      </p:sp>
      <p:sp>
        <p:nvSpPr>
          <p:cNvPr id="25" name="Clean chip Rule"/>
          <p:cNvSpPr/>
          <p:nvPr/>
        </p:nvSpPr>
        <p:spPr>
          <a:xfrm>
            <a:off x="731520" y="4457700"/>
            <a:ext cx="1463040" cy="329184"/>
          </a:xfrm>
          <a:prstGeom prst="roundRect">
            <a:avLst>
              <a:gd name="adj" fmla="val 22222"/>
            </a:avLst>
          </a:prstGeom>
          <a:solidFill>
            <a:schemeClr val="accent4"/>
          </a:solidFill>
          <a:ln/>
        </p:spPr>
        <p:txBody>
          <a:bodyPr/>
          <a:p/>
        </p:txBody>
      </p:sp>
      <p:sp>
        <p:nvSpPr>
          <p:cNvPr id="26" name="Text 24"/>
          <p:cNvSpPr txBox="1"/>
          <p:nvPr/>
        </p:nvSpPr>
        <p:spPr>
          <a:xfrm>
            <a:off x="731520" y="4457700"/>
            <a:ext cx="1463040" cy="329184"/>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Bachelors</a:t>
            </a:r>
            <a:endParaRPr lang="en-US" sz="1000" dirty="0"/>
          </a:p>
        </p:txBody>
      </p:sp>
      <p:sp>
        <p:nvSpPr>
          <p:cNvPr id="27" name="Text 25"/>
          <p:cNvSpPr txBox="1"/>
          <p:nvPr/>
        </p:nvSpPr>
        <p:spPr>
          <a:xfrm>
            <a:off x="2194560" y="4457700"/>
            <a:ext cx="365760" cy="329184"/>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28" name="Corrupted chip Rule"/>
          <p:cNvSpPr/>
          <p:nvPr/>
        </p:nvSpPr>
        <p:spPr>
          <a:xfrm>
            <a:off x="2560320" y="4457700"/>
            <a:ext cx="1463040" cy="329184"/>
          </a:xfrm>
          <a:prstGeom prst="roundRect">
            <a:avLst>
              <a:gd name="adj" fmla="val 22222"/>
            </a:avLst>
          </a:prstGeom>
          <a:solidFill>
            <a:schemeClr val="accent2"/>
          </a:solidFill>
          <a:ln/>
        </p:spPr>
        <p:txBody>
          <a:bodyPr/>
          <a:p/>
        </p:txBody>
      </p:sp>
      <p:sp>
        <p:nvSpPr>
          <p:cNvPr id="29" name="Text 27"/>
          <p:cNvSpPr txBox="1"/>
          <p:nvPr/>
        </p:nvSpPr>
        <p:spPr>
          <a:xfrm>
            <a:off x="2560320" y="4457700"/>
            <a:ext cx="1463040" cy="329184"/>
          </a:xfrm>
          <a:prstGeom prst="rect">
            <a:avLst/>
          </a:prstGeom>
          <a:no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7th-8th</a:t>
            </a:r>
            <a:endParaRPr lang="en-US" sz="1000" dirty="0"/>
          </a:p>
        </p:txBody>
      </p:sp>
      <p:sp>
        <p:nvSpPr>
          <p:cNvPr id="30" name="Recipe card Outlier"/>
          <p:cNvSpPr/>
          <p:nvPr/>
        </p:nvSpPr>
        <p:spPr>
          <a:xfrm>
            <a:off x="548640" y="5132070"/>
            <a:ext cx="3657600" cy="948690"/>
          </a:xfrm>
          <a:prstGeom prst="roundRect">
            <a:avLst>
              <a:gd name="adj" fmla="val 7711"/>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31" name="Text 29"/>
          <p:cNvSpPr txBox="1"/>
          <p:nvPr/>
        </p:nvSpPr>
        <p:spPr>
          <a:xfrm>
            <a:off x="731520" y="5223510"/>
            <a:ext cx="1097280" cy="274320"/>
          </a:xfrm>
          <a:prstGeom prst="rect">
            <a:avLst/>
          </a:prstGeom>
          <a:noFill/>
          <a:ln/>
        </p:spPr>
        <p:txBody>
          <a:bodyPr wrap="square" lIns="0" tIns="0" rIns="0" bIns="0" rtlCol="0" anchor="ctr"/>
          <a:lstStyle/>
          <a:p>
            <a:pPr indent="0" marL="0">
              <a:buNone/>
            </a:pPr>
            <a:r>
              <a:rPr lang="en-US" sz="1400" b="1" dirty="0">
                <a:solidFill>
                  <a:schemeClr val="accent3"/>
                </a:solidFill>
              </a:rPr>
              <a:t>Outlier</a:t>
            </a:r>
            <a:endParaRPr lang="en-US" sz="1400" dirty="0"/>
          </a:p>
        </p:txBody>
      </p:sp>
      <p:sp>
        <p:nvSpPr>
          <p:cNvPr id="32" name="Text 30"/>
          <p:cNvSpPr txBox="1"/>
          <p:nvPr/>
        </p:nvSpPr>
        <p:spPr>
          <a:xfrm>
            <a:off x="1737360" y="5223510"/>
            <a:ext cx="2286000" cy="274320"/>
          </a:xfrm>
          <a:prstGeom prst="rect">
            <a:avLst/>
          </a:prstGeom>
          <a:noFill/>
          <a:ln/>
        </p:spPr>
        <p:txBody>
          <a:bodyPr wrap="square" lIns="0" tIns="0" rIns="0" bIns="0" rtlCol="0" anchor="ctr"/>
          <a:lstStyle/>
          <a:p>
            <a:pPr algn="r" indent="0" marL="0">
              <a:buNone/>
            </a:pPr>
            <a:r>
              <a:rPr lang="en-US" sz="1050" dirty="0">
                <a:solidFill>
                  <a:schemeClr val="accent6"/>
                </a:solidFill>
              </a:rPr>
              <a:t>hours_per_week out of range</a:t>
            </a:r>
            <a:endParaRPr lang="en-US" sz="1050" dirty="0"/>
          </a:p>
        </p:txBody>
      </p:sp>
      <p:sp>
        <p:nvSpPr>
          <p:cNvPr id="33" name="Clean chip Outlier"/>
          <p:cNvSpPr/>
          <p:nvPr/>
        </p:nvSpPr>
        <p:spPr>
          <a:xfrm>
            <a:off x="731520" y="5589270"/>
            <a:ext cx="1463040" cy="329184"/>
          </a:xfrm>
          <a:prstGeom prst="roundRect">
            <a:avLst>
              <a:gd name="adj" fmla="val 22222"/>
            </a:avLst>
          </a:prstGeom>
          <a:solidFill>
            <a:schemeClr val="accent4"/>
          </a:solidFill>
          <a:ln/>
        </p:spPr>
        <p:txBody>
          <a:bodyPr/>
          <a:p/>
        </p:txBody>
      </p:sp>
      <p:sp>
        <p:nvSpPr>
          <p:cNvPr id="34" name="Text 32"/>
          <p:cNvSpPr txBox="1"/>
          <p:nvPr/>
        </p:nvSpPr>
        <p:spPr>
          <a:xfrm>
            <a:off x="731520" y="5589270"/>
            <a:ext cx="1463040" cy="329184"/>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40</a:t>
            </a:r>
            <a:endParaRPr lang="en-US" sz="1000" dirty="0"/>
          </a:p>
        </p:txBody>
      </p:sp>
      <p:sp>
        <p:nvSpPr>
          <p:cNvPr id="35" name="Text 33"/>
          <p:cNvSpPr txBox="1"/>
          <p:nvPr/>
        </p:nvSpPr>
        <p:spPr>
          <a:xfrm>
            <a:off x="2194560" y="5589270"/>
            <a:ext cx="365760" cy="329184"/>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36" name="Corrupted chip Outlier"/>
          <p:cNvSpPr/>
          <p:nvPr/>
        </p:nvSpPr>
        <p:spPr>
          <a:xfrm>
            <a:off x="2560320" y="5589270"/>
            <a:ext cx="1463040" cy="329184"/>
          </a:xfrm>
          <a:prstGeom prst="roundRect">
            <a:avLst>
              <a:gd name="adj" fmla="val 22222"/>
            </a:avLst>
          </a:prstGeom>
          <a:solidFill>
            <a:schemeClr val="accent2"/>
          </a:solidFill>
          <a:ln/>
        </p:spPr>
        <p:txBody>
          <a:bodyPr/>
          <a:p/>
        </p:txBody>
      </p:sp>
      <p:sp>
        <p:nvSpPr>
          <p:cNvPr id="37" name="Text 35"/>
          <p:cNvSpPr txBox="1"/>
          <p:nvPr/>
        </p:nvSpPr>
        <p:spPr>
          <a:xfrm>
            <a:off x="2560320" y="5589270"/>
            <a:ext cx="1463040" cy="329184"/>
          </a:xfrm>
          <a:prstGeom prst="rect">
            <a:avLst/>
          </a:prstGeom>
          <a:no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140</a:t>
            </a:r>
            <a:endParaRPr lang="en-US" sz="1000" dirty="0"/>
          </a:p>
        </p:txBody>
      </p:sp>
      <p:sp>
        <p:nvSpPr>
          <p:cNvPr id="38" name="Text 36"/>
          <p:cNvSpPr txBox="1"/>
          <p:nvPr/>
        </p:nvSpPr>
        <p:spPr>
          <a:xfrm>
            <a:off x="4389120" y="1417320"/>
            <a:ext cx="374904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THE NUMBERS</a:t>
            </a:r>
            <a:endParaRPr lang="en-US" sz="1100" dirty="0"/>
          </a:p>
        </p:txBody>
      </p:sp>
      <p:sp>
        <p:nvSpPr>
          <p:cNvPr id="39" name="Corrupted cells card"/>
          <p:cNvSpPr/>
          <p:nvPr/>
        </p:nvSpPr>
        <p:spPr>
          <a:xfrm>
            <a:off x="4389120" y="1737360"/>
            <a:ext cx="3749040" cy="1645920"/>
          </a:xfrm>
          <a:prstGeom prst="roundRect">
            <a:avLst>
              <a:gd name="adj" fmla="val 4444"/>
            </a:avLst>
          </a:prstGeom>
          <a:solidFill>
            <a:schemeClr val="tx1"/>
          </a:solidFill>
          <a:ln/>
        </p:spPr>
        <p:txBody>
          <a:bodyPr/>
          <a:p/>
        </p:txBody>
      </p:sp>
      <p:sp>
        <p:nvSpPr>
          <p:cNvPr id="40" name="Text 38"/>
          <p:cNvSpPr txBox="1"/>
          <p:nvPr/>
        </p:nvSpPr>
        <p:spPr>
          <a:xfrm>
            <a:off x="4617720" y="1810512"/>
            <a:ext cx="2011680" cy="502920"/>
          </a:xfrm>
          <a:prstGeom prst="rect">
            <a:avLst/>
          </a:prstGeom>
          <a:noFill/>
          <a:ln/>
        </p:spPr>
        <p:txBody>
          <a:bodyPr wrap="square" lIns="0" tIns="0" rIns="0" bIns="0" rtlCol="0" anchor="ctr"/>
          <a:lstStyle/>
          <a:p>
            <a:pPr indent="0" marL="0">
              <a:buNone/>
            </a:pPr>
            <a:r>
              <a:rPr lang="en-US" sz="3400" b="1" dirty="0">
                <a:solidFill>
                  <a:schemeClr val="accent1"/>
                </a:solidFill>
              </a:rPr>
              <a:t>40,132</a:t>
            </a:r>
            <a:endParaRPr lang="en-US" sz="3400" dirty="0"/>
          </a:p>
        </p:txBody>
      </p:sp>
      <p:sp>
        <p:nvSpPr>
          <p:cNvPr id="41" name="Text 39"/>
          <p:cNvSpPr txBox="1"/>
          <p:nvPr/>
        </p:nvSpPr>
        <p:spPr>
          <a:xfrm>
            <a:off x="6172200" y="1810512"/>
            <a:ext cx="1783080" cy="502920"/>
          </a:xfrm>
          <a:prstGeom prst="rect">
            <a:avLst/>
          </a:prstGeom>
          <a:noFill/>
          <a:ln/>
        </p:spPr>
        <p:txBody>
          <a:bodyPr wrap="square" lIns="0" tIns="0" rIns="0" bIns="0" rtlCol="0" anchor="ctr"/>
          <a:lstStyle/>
          <a:p>
            <a:pPr algn="r" indent="0" marL="0">
              <a:buNone/>
            </a:pPr>
            <a:r>
              <a:rPr lang="en-US" sz="1150" b="1" dirty="0">
                <a:solidFill>
                  <a:schemeClr val="bg2"/>
                </a:solidFill>
              </a:rPr>
              <a:t>corrupted cells in 5 clean tables</a:t>
            </a:r>
            <a:endParaRPr lang="en-US" sz="1150" dirty="0"/>
          </a:p>
        </p:txBody>
      </p:sp>
      <p:sp>
        <p:nvSpPr>
          <p:cNvPr id="42" name="Type segment Missing"/>
          <p:cNvSpPr/>
          <p:nvPr/>
        </p:nvSpPr>
        <p:spPr>
          <a:xfrm>
            <a:off x="4617720" y="2487168"/>
            <a:ext cx="1059931" cy="219456"/>
          </a:xfrm>
          <a:prstGeom prst="rect">
            <a:avLst/>
          </a:prstGeom>
          <a:solidFill>
            <a:schemeClr val="accent1"/>
          </a:solidFill>
          <a:ln w="12700">
            <a:solidFill>
              <a:schemeClr val="tx1"/>
            </a:solidFill>
            <a:prstDash val="solid"/>
          </a:ln>
        </p:spPr>
        <p:txBody>
          <a:bodyPr/>
          <a:p/>
        </p:txBody>
      </p:sp>
      <p:sp>
        <p:nvSpPr>
          <p:cNvPr id="43" name="Type segment Pattern"/>
          <p:cNvSpPr/>
          <p:nvPr/>
        </p:nvSpPr>
        <p:spPr>
          <a:xfrm>
            <a:off x="5677651" y="2487168"/>
            <a:ext cx="1400664" cy="219456"/>
          </a:xfrm>
          <a:prstGeom prst="rect">
            <a:avLst/>
          </a:prstGeom>
          <a:solidFill>
            <a:schemeClr val="accent2"/>
          </a:solidFill>
          <a:ln w="12700">
            <a:solidFill>
              <a:schemeClr val="tx1"/>
            </a:solidFill>
            <a:prstDash val="solid"/>
          </a:ln>
        </p:spPr>
        <p:txBody>
          <a:bodyPr/>
          <a:p/>
        </p:txBody>
      </p:sp>
      <p:sp>
        <p:nvSpPr>
          <p:cNvPr id="44" name="Type segment Rule"/>
          <p:cNvSpPr/>
          <p:nvPr/>
        </p:nvSpPr>
        <p:spPr>
          <a:xfrm>
            <a:off x="7078315" y="2487168"/>
            <a:ext cx="202931" cy="219456"/>
          </a:xfrm>
          <a:prstGeom prst="rect">
            <a:avLst/>
          </a:prstGeom>
          <a:solidFill>
            <a:schemeClr val="accent4"/>
          </a:solidFill>
          <a:ln w="12700">
            <a:solidFill>
              <a:schemeClr val="tx1"/>
            </a:solidFill>
            <a:prstDash val="solid"/>
          </a:ln>
        </p:spPr>
        <p:txBody>
          <a:bodyPr/>
          <a:p/>
        </p:txBody>
      </p:sp>
      <p:sp>
        <p:nvSpPr>
          <p:cNvPr id="45" name="Type segment Outlier"/>
          <p:cNvSpPr/>
          <p:nvPr/>
        </p:nvSpPr>
        <p:spPr>
          <a:xfrm>
            <a:off x="7281246" y="2487168"/>
            <a:ext cx="628314" cy="219456"/>
          </a:xfrm>
          <a:prstGeom prst="rect">
            <a:avLst/>
          </a:prstGeom>
          <a:solidFill>
            <a:schemeClr val="accent6"/>
          </a:solidFill>
          <a:ln w="12700">
            <a:solidFill>
              <a:schemeClr val="tx1"/>
            </a:solidFill>
            <a:prstDash val="solid"/>
          </a:ln>
        </p:spPr>
        <p:txBody>
          <a:bodyPr/>
          <a:p/>
        </p:txBody>
      </p:sp>
      <p:sp>
        <p:nvSpPr>
          <p:cNvPr id="46" name="Legend Missing"/>
          <p:cNvSpPr/>
          <p:nvPr/>
        </p:nvSpPr>
        <p:spPr>
          <a:xfrm>
            <a:off x="4617720" y="2889504"/>
            <a:ext cx="109728" cy="109728"/>
          </a:xfrm>
          <a:prstGeom prst="rect">
            <a:avLst/>
          </a:prstGeom>
          <a:solidFill>
            <a:schemeClr val="accent1"/>
          </a:solidFill>
          <a:ln/>
        </p:spPr>
        <p:txBody>
          <a:bodyPr/>
          <a:p/>
        </p:txBody>
      </p:sp>
      <p:sp>
        <p:nvSpPr>
          <p:cNvPr id="47" name="Text 45"/>
          <p:cNvSpPr txBox="1"/>
          <p:nvPr/>
        </p:nvSpPr>
        <p:spPr>
          <a:xfrm>
            <a:off x="4800600" y="2834640"/>
            <a:ext cx="1463040" cy="219456"/>
          </a:xfrm>
          <a:prstGeom prst="rect">
            <a:avLst/>
          </a:prstGeom>
          <a:noFill/>
          <a:ln/>
        </p:spPr>
        <p:txBody>
          <a:bodyPr wrap="square" lIns="0" tIns="0" rIns="0" bIns="0" rtlCol="0" anchor="ctr"/>
          <a:lstStyle/>
          <a:p>
            <a:pPr indent="0" marL="0">
              <a:buNone/>
            </a:pPr>
            <a:r>
              <a:rPr lang="en-US" sz="1050" dirty="0">
                <a:solidFill>
                  <a:schemeClr val="bg2"/>
                </a:solidFill>
              </a:rPr>
              <a:t>Missing 12,922</a:t>
            </a:r>
            <a:endParaRPr lang="en-US" sz="1050" dirty="0"/>
          </a:p>
        </p:txBody>
      </p:sp>
      <p:sp>
        <p:nvSpPr>
          <p:cNvPr id="48" name="Legend Pattern"/>
          <p:cNvSpPr/>
          <p:nvPr/>
        </p:nvSpPr>
        <p:spPr>
          <a:xfrm>
            <a:off x="6263640" y="2889504"/>
            <a:ext cx="109728" cy="109728"/>
          </a:xfrm>
          <a:prstGeom prst="rect">
            <a:avLst/>
          </a:prstGeom>
          <a:solidFill>
            <a:schemeClr val="accent2"/>
          </a:solidFill>
          <a:ln/>
        </p:spPr>
        <p:txBody>
          <a:bodyPr/>
          <a:p/>
        </p:txBody>
      </p:sp>
      <p:sp>
        <p:nvSpPr>
          <p:cNvPr id="49" name="Text 47"/>
          <p:cNvSpPr txBox="1"/>
          <p:nvPr/>
        </p:nvSpPr>
        <p:spPr>
          <a:xfrm>
            <a:off x="6446520" y="2834640"/>
            <a:ext cx="1463040" cy="219456"/>
          </a:xfrm>
          <a:prstGeom prst="rect">
            <a:avLst/>
          </a:prstGeom>
          <a:noFill/>
          <a:ln/>
        </p:spPr>
        <p:txBody>
          <a:bodyPr wrap="square" lIns="0" tIns="0" rIns="0" bIns="0" rtlCol="0" anchor="ctr"/>
          <a:lstStyle/>
          <a:p>
            <a:pPr indent="0" marL="0">
              <a:buNone/>
            </a:pPr>
            <a:r>
              <a:rPr lang="en-US" sz="1050" dirty="0">
                <a:solidFill>
                  <a:schemeClr val="bg2"/>
                </a:solidFill>
              </a:rPr>
              <a:t>Pattern 17,076</a:t>
            </a:r>
            <a:endParaRPr lang="en-US" sz="1050" dirty="0"/>
          </a:p>
        </p:txBody>
      </p:sp>
      <p:sp>
        <p:nvSpPr>
          <p:cNvPr id="50" name="Legend Rule"/>
          <p:cNvSpPr/>
          <p:nvPr/>
        </p:nvSpPr>
        <p:spPr>
          <a:xfrm>
            <a:off x="4617720" y="3136392"/>
            <a:ext cx="109728" cy="109728"/>
          </a:xfrm>
          <a:prstGeom prst="rect">
            <a:avLst/>
          </a:prstGeom>
          <a:solidFill>
            <a:schemeClr val="accent4"/>
          </a:solidFill>
          <a:ln/>
        </p:spPr>
        <p:txBody>
          <a:bodyPr/>
          <a:p/>
        </p:txBody>
      </p:sp>
      <p:sp>
        <p:nvSpPr>
          <p:cNvPr id="51" name="Text 49"/>
          <p:cNvSpPr txBox="1"/>
          <p:nvPr/>
        </p:nvSpPr>
        <p:spPr>
          <a:xfrm>
            <a:off x="4800600" y="3081528"/>
            <a:ext cx="1463040" cy="219456"/>
          </a:xfrm>
          <a:prstGeom prst="rect">
            <a:avLst/>
          </a:prstGeom>
          <a:noFill/>
          <a:ln/>
        </p:spPr>
        <p:txBody>
          <a:bodyPr wrap="square" lIns="0" tIns="0" rIns="0" bIns="0" rtlCol="0" anchor="ctr"/>
          <a:lstStyle/>
          <a:p>
            <a:pPr indent="0" marL="0">
              <a:buNone/>
            </a:pPr>
            <a:r>
              <a:rPr lang="en-US" sz="1050" dirty="0">
                <a:solidFill>
                  <a:schemeClr val="bg2"/>
                </a:solidFill>
              </a:rPr>
              <a:t>Rule 2,474</a:t>
            </a:r>
            <a:endParaRPr lang="en-US" sz="1050" dirty="0"/>
          </a:p>
        </p:txBody>
      </p:sp>
      <p:sp>
        <p:nvSpPr>
          <p:cNvPr id="52" name="Legend Outlier"/>
          <p:cNvSpPr/>
          <p:nvPr/>
        </p:nvSpPr>
        <p:spPr>
          <a:xfrm>
            <a:off x="6263640" y="3136392"/>
            <a:ext cx="109728" cy="109728"/>
          </a:xfrm>
          <a:prstGeom prst="rect">
            <a:avLst/>
          </a:prstGeom>
          <a:solidFill>
            <a:schemeClr val="accent6"/>
          </a:solidFill>
          <a:ln/>
        </p:spPr>
        <p:txBody>
          <a:bodyPr/>
          <a:p/>
        </p:txBody>
      </p:sp>
      <p:sp>
        <p:nvSpPr>
          <p:cNvPr id="53" name="Text 51"/>
          <p:cNvSpPr txBox="1"/>
          <p:nvPr/>
        </p:nvSpPr>
        <p:spPr>
          <a:xfrm>
            <a:off x="6446520" y="3081528"/>
            <a:ext cx="1463040" cy="219456"/>
          </a:xfrm>
          <a:prstGeom prst="rect">
            <a:avLst/>
          </a:prstGeom>
          <a:noFill/>
          <a:ln/>
        </p:spPr>
        <p:txBody>
          <a:bodyPr wrap="square" lIns="0" tIns="0" rIns="0" bIns="0" rtlCol="0" anchor="ctr"/>
          <a:lstStyle/>
          <a:p>
            <a:pPr indent="0" marL="0">
              <a:buNone/>
            </a:pPr>
            <a:r>
              <a:rPr lang="en-US" sz="1050" dirty="0">
                <a:solidFill>
                  <a:schemeClr val="bg2"/>
                </a:solidFill>
              </a:rPr>
              <a:t>Outlier 7,660</a:t>
            </a:r>
            <a:endParaRPr lang="en-US" sz="1050" dirty="0"/>
          </a:p>
        </p:txBody>
      </p:sp>
      <p:sp>
        <p:nvSpPr>
          <p:cNvPr id="54" name="Used examples card"/>
          <p:cNvSpPr/>
          <p:nvPr/>
        </p:nvSpPr>
        <p:spPr>
          <a:xfrm>
            <a:off x="4389120" y="3566160"/>
            <a:ext cx="3749040" cy="1051560"/>
          </a:xfrm>
          <a:prstGeom prst="roundRect">
            <a:avLst>
              <a:gd name="adj" fmla="val 6957"/>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55" name="Text 53"/>
          <p:cNvSpPr txBox="1"/>
          <p:nvPr/>
        </p:nvSpPr>
        <p:spPr>
          <a:xfrm>
            <a:off x="4617720" y="3657600"/>
            <a:ext cx="1554480" cy="457200"/>
          </a:xfrm>
          <a:prstGeom prst="rect">
            <a:avLst/>
          </a:prstGeom>
          <a:noFill/>
          <a:ln/>
        </p:spPr>
        <p:txBody>
          <a:bodyPr wrap="square" lIns="0" tIns="0" rIns="0" bIns="0" rtlCol="0" anchor="ctr"/>
          <a:lstStyle/>
          <a:p>
            <a:pPr indent="0" marL="0">
              <a:buNone/>
            </a:pPr>
            <a:r>
              <a:rPr lang="en-US" sz="2800" b="1" dirty="0">
                <a:solidFill>
                  <a:schemeClr val="accent3"/>
                </a:solidFill>
              </a:rPr>
              <a:t>11,014</a:t>
            </a:r>
            <a:endParaRPr lang="en-US" sz="2800" dirty="0"/>
          </a:p>
        </p:txBody>
      </p:sp>
      <p:sp>
        <p:nvSpPr>
          <p:cNvPr id="56" name="Text 54"/>
          <p:cNvSpPr txBox="1"/>
          <p:nvPr/>
        </p:nvSpPr>
        <p:spPr>
          <a:xfrm>
            <a:off x="6080760" y="3657600"/>
            <a:ext cx="1874520" cy="457200"/>
          </a:xfrm>
          <a:prstGeom prst="rect">
            <a:avLst/>
          </a:prstGeom>
          <a:noFill/>
          <a:ln/>
        </p:spPr>
        <p:txBody>
          <a:bodyPr wrap="square" lIns="0" tIns="0" rIns="0" bIns="0" rtlCol="0" anchor="ctr"/>
          <a:lstStyle/>
          <a:p>
            <a:pPr indent="0" marL="0">
              <a:buNone/>
            </a:pPr>
            <a:r>
              <a:rPr lang="en-US" sz="1050" dirty="0">
                <a:solidFill>
                  <a:schemeClr val="accent6"/>
                </a:solidFill>
              </a:rPr>
              <a:t>synthetic examples used, 19.99% of the 55,091 training examples (cap 20%)</a:t>
            </a:r>
            <a:endParaRPr lang="en-US" sz="1050" dirty="0"/>
          </a:p>
        </p:txBody>
      </p:sp>
      <p:sp>
        <p:nvSpPr>
          <p:cNvPr id="57" name="Synthetic share"/>
          <p:cNvSpPr/>
          <p:nvPr/>
        </p:nvSpPr>
        <p:spPr>
          <a:xfrm>
            <a:off x="4617720" y="4242816"/>
            <a:ext cx="658117" cy="256032"/>
          </a:xfrm>
          <a:prstGeom prst="rect">
            <a:avLst/>
          </a:prstGeom>
          <a:solidFill>
            <a:schemeClr val="accent2"/>
          </a:solidFill>
          <a:ln/>
        </p:spPr>
        <p:txBody>
          <a:bodyPr/>
          <a:p/>
        </p:txBody>
      </p:sp>
      <p:sp>
        <p:nvSpPr>
          <p:cNvPr id="58" name="Other examples share"/>
          <p:cNvSpPr/>
          <p:nvPr/>
        </p:nvSpPr>
        <p:spPr>
          <a:xfrm>
            <a:off x="5275837" y="4242816"/>
            <a:ext cx="2633723" cy="256032"/>
          </a:xfrm>
          <a:prstGeom prst="rect">
            <a:avLst/>
          </a:prstGeom>
          <a:solidFill>
            <a:schemeClr val="accent3"/>
          </a:solidFill>
          <a:ln/>
        </p:spPr>
        <p:txBody>
          <a:bodyPr/>
          <a:p/>
        </p:txBody>
      </p:sp>
      <p:sp>
        <p:nvSpPr>
          <p:cNvPr id="59" name="Text 57"/>
          <p:cNvSpPr txBox="1"/>
          <p:nvPr/>
        </p:nvSpPr>
        <p:spPr>
          <a:xfrm>
            <a:off x="4617720" y="4242816"/>
            <a:ext cx="658117" cy="256032"/>
          </a:xfrm>
          <a:prstGeom prst="rect">
            <a:avLst/>
          </a:prstGeom>
          <a:noFill/>
          <a:ln/>
        </p:spPr>
        <p:txBody>
          <a:bodyPr wrap="square" lIns="0" tIns="0" rIns="0" bIns="0" rtlCol="0" anchor="ctr"/>
          <a:lstStyle/>
          <a:p>
            <a:pPr algn="ctr" indent="0" marL="0">
              <a:buNone/>
            </a:pPr>
            <a:r>
              <a:rPr lang="en-US" sz="950" b="1" dirty="0">
                <a:solidFill>
                  <a:schemeClr val="tx1"/>
                </a:solidFill>
              </a:rPr>
              <a:t>synthetic</a:t>
            </a:r>
            <a:endParaRPr lang="en-US" sz="950" dirty="0"/>
          </a:p>
        </p:txBody>
      </p:sp>
      <p:sp>
        <p:nvSpPr>
          <p:cNvPr id="60" name="Text 58"/>
          <p:cNvSpPr txBox="1"/>
          <p:nvPr/>
        </p:nvSpPr>
        <p:spPr>
          <a:xfrm>
            <a:off x="5275837" y="4242816"/>
            <a:ext cx="2633723" cy="256032"/>
          </a:xfrm>
          <a:prstGeom prst="rect">
            <a:avLst/>
          </a:prstGeom>
          <a:noFill/>
          <a:ln/>
        </p:spPr>
        <p:txBody>
          <a:bodyPr wrap="square" lIns="0" tIns="0" rIns="0" bIns="0" rtlCol="0" anchor="ctr"/>
          <a:lstStyle/>
          <a:p>
            <a:pPr algn="ctr" indent="0" marL="0">
              <a:buNone/>
            </a:pPr>
            <a:r>
              <a:rPr lang="en-US" sz="1000" b="1" dirty="0">
                <a:solidFill>
                  <a:schemeClr val="bg1"/>
                </a:solidFill>
              </a:rPr>
              <a:t>all other training examples</a:t>
            </a:r>
            <a:endParaRPr lang="en-US" sz="1000" dirty="0"/>
          </a:p>
        </p:txBody>
      </p:sp>
      <p:sp>
        <p:nvSpPr>
          <p:cNvPr id="61" name="Mix chart card"/>
          <p:cNvSpPr/>
          <p:nvPr/>
        </p:nvSpPr>
        <p:spPr>
          <a:xfrm>
            <a:off x="4389120" y="4800600"/>
            <a:ext cx="3749040" cy="1280160"/>
          </a:xfrm>
          <a:prstGeom prst="roundRect">
            <a:avLst>
              <a:gd name="adj" fmla="val 5714"/>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62" name="Text 60"/>
          <p:cNvSpPr txBox="1"/>
          <p:nvPr/>
        </p:nvSpPr>
        <p:spPr>
          <a:xfrm>
            <a:off x="4617720" y="4892040"/>
            <a:ext cx="329184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USED ERRORS BY TYPE</a:t>
            </a:r>
            <a:endParaRPr lang="en-US" sz="1100" dirty="0"/>
          </a:p>
        </p:txBody>
      </p:sp>
      <p:sp>
        <p:nvSpPr>
          <p:cNvPr id="64" name="Text 61"/>
          <p:cNvSpPr txBox="1"/>
          <p:nvPr/>
        </p:nvSpPr>
        <p:spPr>
          <a:xfrm>
            <a:off x="8321040" y="1417320"/>
            <a:ext cx="3322015"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CONTROLS AND LIMITS</a:t>
            </a:r>
            <a:endParaRPr lang="en-US" sz="1100" dirty="0"/>
          </a:p>
        </p:txBody>
      </p:sp>
      <p:sp>
        <p:nvSpPr>
          <p:cNvPr id="65" name="Controls card"/>
          <p:cNvSpPr/>
          <p:nvPr/>
        </p:nvSpPr>
        <p:spPr>
          <a:xfrm>
            <a:off x="8321040" y="1737360"/>
            <a:ext cx="3322015" cy="4343400"/>
          </a:xfrm>
          <a:prstGeom prst="roundRect">
            <a:avLst>
              <a:gd name="adj" fmla="val 2202"/>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66" name="Icon badge Seedling"/>
          <p:cNvSpPr/>
          <p:nvPr/>
        </p:nvSpPr>
        <p:spPr>
          <a:xfrm>
            <a:off x="8503920" y="2079117"/>
            <a:ext cx="402336" cy="402336"/>
          </a:xfrm>
          <a:prstGeom prst="ellipse">
            <a:avLst/>
          </a:prstGeom>
          <a:solidFill>
            <a:schemeClr val="accent3"/>
          </a:solidFill>
          <a:ln/>
        </p:spPr>
        <p:txBody>
          <a:bodyPr/>
          <a:p/>
        </p:txBody>
      </p:sp>
      <p:pic>
        <p:nvPicPr>
          <p:cNvPr id="67" name="Image 0" descr="Seedling">    </p:cNvPr>
          <p:cNvPicPr>
            <a:picLocks noChangeAspect="1"/>
          </p:cNvPicPr>
          <p:nvPr/>
        </p:nvPicPr>
        <p:blipFill>
          <a:blip r:embed="rId2"/>
          <a:stretch>
            <a:fillRect/>
          </a:stretch>
        </p:blipFill>
        <p:spPr>
          <a:xfrm>
            <a:off x="8612551" y="2187748"/>
            <a:ext cx="185075" cy="185075"/>
          </a:xfrm>
          <a:prstGeom prst="rect">
            <a:avLst/>
          </a:prstGeom>
        </p:spPr>
      </p:pic>
      <p:sp>
        <p:nvSpPr>
          <p:cNvPr id="68" name="Text 64"/>
          <p:cNvSpPr txBox="1"/>
          <p:nvPr/>
        </p:nvSpPr>
        <p:spPr>
          <a:xfrm>
            <a:off x="9098280" y="1737360"/>
            <a:ext cx="2361895" cy="1085850"/>
          </a:xfrm>
          <a:prstGeom prst="rect">
            <a:avLst/>
          </a:prstGeom>
          <a:noFill/>
          <a:ln/>
        </p:spPr>
        <p:txBody>
          <a:bodyPr wrap="square" lIns="0" tIns="0" rIns="0" bIns="0" rtlCol="0" anchor="ctr"/>
          <a:lstStyle/>
          <a:p>
            <a:pPr indent="0" marL="0">
              <a:buNone/>
            </a:pPr>
            <a:r>
              <a:rPr lang="en-US" sz="1200" dirty="0">
                <a:solidFill>
                  <a:schemeClr val="tx1"/>
                </a:solidFill>
              </a:rPr>
              <a:t>Seed 42; every record tagged source=synthetic</a:t>
            </a:r>
            <a:endParaRPr lang="en-US" sz="1200" dirty="0"/>
          </a:p>
        </p:txBody>
      </p:sp>
      <p:sp>
        <p:nvSpPr>
          <p:cNvPr id="69" name="Divider"/>
          <p:cNvSpPr/>
          <p:nvPr/>
        </p:nvSpPr>
        <p:spPr>
          <a:xfrm>
            <a:off x="8503920" y="2823210"/>
            <a:ext cx="2956255" cy="0"/>
          </a:xfrm>
          <a:prstGeom prst="line">
            <a:avLst/>
          </a:prstGeom>
          <a:noFill/>
          <a:ln w="9525">
            <a:solidFill>
              <a:schemeClr val="accent4"/>
            </a:solidFill>
            <a:prstDash val="solid"/>
          </a:ln>
        </p:spPr>
        <p:txBody>
          <a:bodyPr/>
          <a:p/>
        </p:txBody>
      </p:sp>
      <p:sp>
        <p:nvSpPr>
          <p:cNvPr id="70" name="Icon badge Tag"/>
          <p:cNvSpPr/>
          <p:nvPr/>
        </p:nvSpPr>
        <p:spPr>
          <a:xfrm>
            <a:off x="8503920" y="3164967"/>
            <a:ext cx="402336" cy="402336"/>
          </a:xfrm>
          <a:prstGeom prst="ellipse">
            <a:avLst/>
          </a:prstGeom>
          <a:solidFill>
            <a:schemeClr val="accent3"/>
          </a:solidFill>
          <a:ln/>
        </p:spPr>
        <p:txBody>
          <a:bodyPr/>
          <a:p/>
        </p:txBody>
      </p:sp>
      <p:pic>
        <p:nvPicPr>
          <p:cNvPr id="71" name="Image 1" descr="Tag">    </p:cNvPr>
          <p:cNvPicPr>
            <a:picLocks noChangeAspect="1"/>
          </p:cNvPicPr>
          <p:nvPr/>
        </p:nvPicPr>
        <p:blipFill>
          <a:blip r:embed="rId3"/>
          <a:stretch>
            <a:fillRect/>
          </a:stretch>
        </p:blipFill>
        <p:spPr>
          <a:xfrm>
            <a:off x="8612551" y="3273598"/>
            <a:ext cx="185075" cy="185075"/>
          </a:xfrm>
          <a:prstGeom prst="rect">
            <a:avLst/>
          </a:prstGeom>
        </p:spPr>
      </p:pic>
      <p:sp>
        <p:nvSpPr>
          <p:cNvPr id="72" name="Text 67"/>
          <p:cNvSpPr txBox="1"/>
          <p:nvPr/>
        </p:nvSpPr>
        <p:spPr>
          <a:xfrm>
            <a:off x="9098280" y="2823210"/>
            <a:ext cx="2361895" cy="1085850"/>
          </a:xfrm>
          <a:prstGeom prst="rect">
            <a:avLst/>
          </a:prstGeom>
          <a:noFill/>
          <a:ln/>
        </p:spPr>
        <p:txBody>
          <a:bodyPr wrap="square" lIns="0" tIns="0" rIns="0" bIns="0" rtlCol="0" anchor="ctr"/>
          <a:lstStyle/>
          <a:p>
            <a:pPr indent="0" marL="0">
              <a:buNone/>
            </a:pPr>
            <a:r>
              <a:rPr lang="en-US" sz="1200" dirty="0">
                <a:solidFill>
                  <a:schemeClr val="tx1"/>
                </a:solidFill>
              </a:rPr>
              <a:t>adult.test never read; unseen tables never used</a:t>
            </a:r>
            <a:endParaRPr lang="en-US" sz="1200" dirty="0"/>
          </a:p>
        </p:txBody>
      </p:sp>
      <p:sp>
        <p:nvSpPr>
          <p:cNvPr id="73" name="Divider"/>
          <p:cNvSpPr/>
          <p:nvPr/>
        </p:nvSpPr>
        <p:spPr>
          <a:xfrm>
            <a:off x="8503920" y="3909060"/>
            <a:ext cx="2956255" cy="0"/>
          </a:xfrm>
          <a:prstGeom prst="line">
            <a:avLst/>
          </a:prstGeom>
          <a:noFill/>
          <a:ln w="9525">
            <a:solidFill>
              <a:schemeClr val="accent4"/>
            </a:solidFill>
            <a:prstDash val="solid"/>
          </a:ln>
        </p:spPr>
        <p:txBody>
          <a:bodyPr/>
          <a:p/>
        </p:txBody>
      </p:sp>
      <p:sp>
        <p:nvSpPr>
          <p:cNvPr id="74" name="Icon badge ProjectDiagram"/>
          <p:cNvSpPr/>
          <p:nvPr/>
        </p:nvSpPr>
        <p:spPr>
          <a:xfrm>
            <a:off x="8503920" y="4250817"/>
            <a:ext cx="402336" cy="402336"/>
          </a:xfrm>
          <a:prstGeom prst="ellipse">
            <a:avLst/>
          </a:prstGeom>
          <a:solidFill>
            <a:schemeClr val="accent3"/>
          </a:solidFill>
          <a:ln/>
        </p:spPr>
        <p:txBody>
          <a:bodyPr/>
          <a:p/>
        </p:txBody>
      </p:sp>
      <p:pic>
        <p:nvPicPr>
          <p:cNvPr id="75" name="Image 2" descr="ProjectDiagram">    </p:cNvPr>
          <p:cNvPicPr>
            <a:picLocks noChangeAspect="1"/>
          </p:cNvPicPr>
          <p:nvPr/>
        </p:nvPicPr>
        <p:blipFill>
          <a:blip r:embed="rId4"/>
          <a:stretch>
            <a:fillRect/>
          </a:stretch>
        </p:blipFill>
        <p:spPr>
          <a:xfrm>
            <a:off x="8612551" y="4359448"/>
            <a:ext cx="185075" cy="185075"/>
          </a:xfrm>
          <a:prstGeom prst="rect">
            <a:avLst/>
          </a:prstGeom>
        </p:spPr>
      </p:pic>
      <p:sp>
        <p:nvSpPr>
          <p:cNvPr id="76" name="Text 70"/>
          <p:cNvSpPr txBox="1"/>
          <p:nvPr/>
        </p:nvSpPr>
        <p:spPr>
          <a:xfrm>
            <a:off x="9098280" y="3909060"/>
            <a:ext cx="2361895" cy="1085850"/>
          </a:xfrm>
          <a:prstGeom prst="rect">
            <a:avLst/>
          </a:prstGeom>
          <a:noFill/>
          <a:ln/>
        </p:spPr>
        <p:txBody>
          <a:bodyPr wrap="square" lIns="0" tIns="0" rIns="0" bIns="0" rtlCol="0" anchor="ctr"/>
          <a:lstStyle/>
          <a:p>
            <a:pPr indent="0" marL="0">
              <a:buNone/>
            </a:pPr>
            <a:r>
              <a:rPr lang="en-US" sz="1200" dirty="0">
                <a:solidFill>
                  <a:schemeClr val="tx1"/>
                </a:solidFill>
              </a:rPr>
              <a:t>Dependencies are discovered, not hard-coded (Adult 2, Bike hour 6, Wine none)</a:t>
            </a:r>
            <a:endParaRPr lang="en-US" sz="1200" dirty="0"/>
          </a:p>
        </p:txBody>
      </p:sp>
      <p:sp>
        <p:nvSpPr>
          <p:cNvPr id="77" name="Divider"/>
          <p:cNvSpPr/>
          <p:nvPr/>
        </p:nvSpPr>
        <p:spPr>
          <a:xfrm>
            <a:off x="8503920" y="4994910"/>
            <a:ext cx="2956255" cy="0"/>
          </a:xfrm>
          <a:prstGeom prst="line">
            <a:avLst/>
          </a:prstGeom>
          <a:noFill/>
          <a:ln w="9525">
            <a:solidFill>
              <a:schemeClr val="accent4"/>
            </a:solidFill>
            <a:prstDash val="solid"/>
          </a:ln>
        </p:spPr>
        <p:txBody>
          <a:bodyPr/>
          <a:p/>
        </p:txBody>
      </p:sp>
      <p:sp>
        <p:nvSpPr>
          <p:cNvPr id="78" name="Icon badge ExclamationTriangle"/>
          <p:cNvSpPr/>
          <p:nvPr/>
        </p:nvSpPr>
        <p:spPr>
          <a:xfrm>
            <a:off x="8503920" y="5336667"/>
            <a:ext cx="402336" cy="402336"/>
          </a:xfrm>
          <a:prstGeom prst="ellipse">
            <a:avLst/>
          </a:prstGeom>
          <a:solidFill>
            <a:schemeClr val="accent2"/>
          </a:solidFill>
          <a:ln/>
        </p:spPr>
        <p:txBody>
          <a:bodyPr/>
          <a:p/>
        </p:txBody>
      </p:sp>
      <p:pic>
        <p:nvPicPr>
          <p:cNvPr id="79" name="Image 3" descr="ExclamationTriangle">    </p:cNvPr>
          <p:cNvPicPr>
            <a:picLocks noChangeAspect="1"/>
          </p:cNvPicPr>
          <p:nvPr/>
        </p:nvPicPr>
        <p:blipFill>
          <a:blip r:embed="rId5"/>
          <a:stretch>
            <a:fillRect/>
          </a:stretch>
        </p:blipFill>
        <p:spPr>
          <a:xfrm>
            <a:off x="8612551" y="5445298"/>
            <a:ext cx="185075" cy="185075"/>
          </a:xfrm>
          <a:prstGeom prst="rect">
            <a:avLst/>
          </a:prstGeom>
        </p:spPr>
      </p:pic>
      <p:sp>
        <p:nvSpPr>
          <p:cNvPr id="80" name="Text 73"/>
          <p:cNvSpPr txBox="1"/>
          <p:nvPr/>
        </p:nvSpPr>
        <p:spPr>
          <a:xfrm>
            <a:off x="9098280" y="4994910"/>
            <a:ext cx="2361895" cy="1085850"/>
          </a:xfrm>
          <a:prstGeom prst="rect">
            <a:avLst/>
          </a:prstGeom>
          <a:noFill/>
          <a:ln/>
        </p:spPr>
        <p:txBody>
          <a:bodyPr wrap="square" lIns="0" tIns="0" rIns="0" bIns="0" rtlCol="0" anchor="ctr"/>
          <a:lstStyle/>
          <a:p>
            <a:pPr indent="0" marL="0">
              <a:buNone/>
            </a:pPr>
            <a:r>
              <a:rPr lang="en-US" sz="1200" dirty="0">
                <a:solidFill>
                  <a:schemeClr val="tx1"/>
                </a:solidFill>
              </a:rPr>
              <a:t>Simple recipes are easier than real errors, so real-world results come from the unseen tables</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5</a:t>
            </a:fld>
            <a:endParaRPr lang="en-US"/>
          </a:p>
        </p:txBody>
      </p:sp>
      <p:sp>
        <p:nvSpPr>
          <p:cNvPr id="81" name="TextBox 80"/>
          <p:cNvSpPr txBox="1"/>
          <p:nvPr/>
        </p:nvSpPr>
        <p:spPr>
          <a:xfrm>
            <a:off x="4617720" y="5157216"/>
            <a:ext cx="685800" cy="219456"/>
          </a:xfrm>
          <a:prstGeom prst="rect">
            <a:avLst/>
          </a:prstGeom>
          <a:noFill/>
        </p:spPr>
        <p:txBody>
          <a:bodyPr wrap="none" lIns="0" rIns="0" tIns="0" bIns="0" anchor="ctr">
            <a:spAutoFit/>
          </a:bodyPr>
          <a:lstStyle/>
          <a:p>
            <a:pPr algn="l"/>
            <a:r>
              <a:rPr sz="1050" b="0">
                <a:solidFill>
                  <a:srgbClr val="1E293B"/>
                </a:solidFill>
              </a:rPr>
              <a:t>Missing</a:t>
            </a:r>
          </a:p>
        </p:txBody>
      </p:sp>
      <p:sp>
        <p:nvSpPr>
          <p:cNvPr id="82" name="Used errors bar Missing"/>
          <p:cNvSpPr/>
          <p:nvPr/>
        </p:nvSpPr>
        <p:spPr>
          <a:xfrm>
            <a:off x="5303520" y="5193792"/>
            <a:ext cx="1310243" cy="14630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686915" y="5157216"/>
            <a:ext cx="548640" cy="219456"/>
          </a:xfrm>
          <a:prstGeom prst="rect">
            <a:avLst/>
          </a:prstGeom>
          <a:noFill/>
        </p:spPr>
        <p:txBody>
          <a:bodyPr wrap="none" lIns="0" rIns="0" tIns="0" bIns="0" anchor="ctr">
            <a:spAutoFit/>
          </a:bodyPr>
          <a:lstStyle/>
          <a:p>
            <a:pPr algn="l"/>
            <a:r>
              <a:rPr sz="1050" b="1">
                <a:solidFill>
                  <a:srgbClr val="1E293B"/>
                </a:solidFill>
              </a:rPr>
              <a:t>1,101</a:t>
            </a:r>
          </a:p>
        </p:txBody>
      </p:sp>
      <p:sp>
        <p:nvSpPr>
          <p:cNvPr id="84" name="TextBox 83"/>
          <p:cNvSpPr txBox="1"/>
          <p:nvPr/>
        </p:nvSpPr>
        <p:spPr>
          <a:xfrm>
            <a:off x="4617720" y="5376672"/>
            <a:ext cx="685800" cy="219456"/>
          </a:xfrm>
          <a:prstGeom prst="rect">
            <a:avLst/>
          </a:prstGeom>
          <a:noFill/>
        </p:spPr>
        <p:txBody>
          <a:bodyPr wrap="none" lIns="0" rIns="0" tIns="0" bIns="0" anchor="ctr">
            <a:spAutoFit/>
          </a:bodyPr>
          <a:lstStyle/>
          <a:p>
            <a:pPr algn="l"/>
            <a:r>
              <a:rPr sz="1050" b="0">
                <a:solidFill>
                  <a:srgbClr val="1E293B"/>
                </a:solidFill>
              </a:rPr>
              <a:t>Pattern</a:t>
            </a:r>
          </a:p>
        </p:txBody>
      </p:sp>
      <p:sp>
        <p:nvSpPr>
          <p:cNvPr id="85" name="Used errors bar Pattern"/>
          <p:cNvSpPr/>
          <p:nvPr/>
        </p:nvSpPr>
        <p:spPr>
          <a:xfrm>
            <a:off x="5303520" y="5413248"/>
            <a:ext cx="1638696" cy="146304"/>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015368" y="5376672"/>
            <a:ext cx="548640" cy="219456"/>
          </a:xfrm>
          <a:prstGeom prst="rect">
            <a:avLst/>
          </a:prstGeom>
          <a:noFill/>
        </p:spPr>
        <p:txBody>
          <a:bodyPr wrap="none" lIns="0" rIns="0" tIns="0" bIns="0" anchor="ctr">
            <a:spAutoFit/>
          </a:bodyPr>
          <a:lstStyle/>
          <a:p>
            <a:pPr algn="l"/>
            <a:r>
              <a:rPr sz="1050" b="1">
                <a:solidFill>
                  <a:srgbClr val="1E293B"/>
                </a:solidFill>
              </a:rPr>
              <a:t>1,377</a:t>
            </a:r>
          </a:p>
        </p:txBody>
      </p:sp>
      <p:sp>
        <p:nvSpPr>
          <p:cNvPr id="87" name="TextBox 86"/>
          <p:cNvSpPr txBox="1"/>
          <p:nvPr/>
        </p:nvSpPr>
        <p:spPr>
          <a:xfrm>
            <a:off x="4617720" y="5596128"/>
            <a:ext cx="685800" cy="219456"/>
          </a:xfrm>
          <a:prstGeom prst="rect">
            <a:avLst/>
          </a:prstGeom>
          <a:noFill/>
        </p:spPr>
        <p:txBody>
          <a:bodyPr wrap="none" lIns="0" rIns="0" tIns="0" bIns="0" anchor="ctr">
            <a:spAutoFit/>
          </a:bodyPr>
          <a:lstStyle/>
          <a:p>
            <a:pPr algn="l"/>
            <a:r>
              <a:rPr sz="1050" b="0">
                <a:solidFill>
                  <a:srgbClr val="1E293B"/>
                </a:solidFill>
              </a:rPr>
              <a:t>Rule</a:t>
            </a:r>
          </a:p>
        </p:txBody>
      </p:sp>
      <p:sp>
        <p:nvSpPr>
          <p:cNvPr id="88" name="Used errors bar Rule"/>
          <p:cNvSpPr/>
          <p:nvPr/>
        </p:nvSpPr>
        <p:spPr>
          <a:xfrm>
            <a:off x="5303520" y="5632704"/>
            <a:ext cx="1638696" cy="146304"/>
          </a:xfrm>
          <a:prstGeom prst="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15368" y="5596128"/>
            <a:ext cx="548640" cy="219456"/>
          </a:xfrm>
          <a:prstGeom prst="rect">
            <a:avLst/>
          </a:prstGeom>
          <a:noFill/>
        </p:spPr>
        <p:txBody>
          <a:bodyPr wrap="none" lIns="0" rIns="0" tIns="0" bIns="0" anchor="ctr">
            <a:spAutoFit/>
          </a:bodyPr>
          <a:lstStyle/>
          <a:p>
            <a:pPr algn="l"/>
            <a:r>
              <a:rPr sz="1050" b="1">
                <a:solidFill>
                  <a:srgbClr val="1E293B"/>
                </a:solidFill>
              </a:rPr>
              <a:t>1,377</a:t>
            </a:r>
          </a:p>
        </p:txBody>
      </p:sp>
      <p:sp>
        <p:nvSpPr>
          <p:cNvPr id="90" name="TextBox 89"/>
          <p:cNvSpPr txBox="1"/>
          <p:nvPr/>
        </p:nvSpPr>
        <p:spPr>
          <a:xfrm>
            <a:off x="4617720" y="5815584"/>
            <a:ext cx="685800" cy="219456"/>
          </a:xfrm>
          <a:prstGeom prst="rect">
            <a:avLst/>
          </a:prstGeom>
          <a:noFill/>
        </p:spPr>
        <p:txBody>
          <a:bodyPr wrap="none" lIns="0" rIns="0" tIns="0" bIns="0" anchor="ctr">
            <a:spAutoFit/>
          </a:bodyPr>
          <a:lstStyle/>
          <a:p>
            <a:pPr algn="l"/>
            <a:r>
              <a:rPr sz="1050" b="0">
                <a:solidFill>
                  <a:srgbClr val="1E293B"/>
                </a:solidFill>
              </a:rPr>
              <a:t>Outlier</a:t>
            </a:r>
          </a:p>
        </p:txBody>
      </p:sp>
      <p:sp>
        <p:nvSpPr>
          <p:cNvPr id="91" name="Used errors bar Outlier"/>
          <p:cNvSpPr/>
          <p:nvPr/>
        </p:nvSpPr>
        <p:spPr>
          <a:xfrm>
            <a:off x="5303520" y="5852160"/>
            <a:ext cx="1965960" cy="146304"/>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342632" y="5815584"/>
            <a:ext cx="548640" cy="219456"/>
          </a:xfrm>
          <a:prstGeom prst="rect">
            <a:avLst/>
          </a:prstGeom>
          <a:noFill/>
        </p:spPr>
        <p:txBody>
          <a:bodyPr wrap="none" lIns="0" rIns="0" tIns="0" bIns="0" anchor="ctr">
            <a:spAutoFit/>
          </a:bodyPr>
          <a:lstStyle/>
          <a:p>
            <a:pPr algn="l"/>
            <a:r>
              <a:rPr sz="1050" b="1">
                <a:solidFill>
                  <a:srgbClr val="1E293B"/>
                </a:solidFill>
              </a:rPr>
              <a:t>1,652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3"/>
                </a:solidFill>
              </a:rPr>
              <a:t>WHAT CHEAP DETECTORS CAN AND CANNOT SEE</a:t>
            </a:r>
            <a:endParaRPr lang="en-US" sz="1100" dirty="0"/>
          </a:p>
        </p:txBody>
      </p:sp>
      <p:sp>
        <p:nvSpPr>
          <p:cNvPr id="3" name="Text 2"/>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2600" b="1" dirty="0">
                <a:solidFill>
                  <a:schemeClr val="tx1"/>
                </a:solidFill>
              </a:rPr>
              <a:t>Cheap detectors: outliers rarely help, dependencies do</a:t>
            </a:r>
            <a:endParaRPr lang="en-US" sz="2600" dirty="0"/>
          </a:p>
        </p:txBody>
      </p:sp>
      <p:sp>
        <p:nvSpPr>
          <p:cNvPr id="5" name="Outliers panel"/>
          <p:cNvSpPr/>
          <p:nvPr/>
        </p:nvSpPr>
        <p:spPr>
          <a:xfrm>
            <a:off x="548640" y="1417320"/>
            <a:ext cx="5455768" cy="4069080"/>
          </a:xfrm>
          <a:prstGeom prst="roundRect">
            <a:avLst>
              <a:gd name="adj" fmla="val 1798"/>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6" name="Text 4"/>
          <p:cNvSpPr txBox="1"/>
          <p:nvPr/>
        </p:nvSpPr>
        <p:spPr>
          <a:xfrm>
            <a:off x="822960" y="1600200"/>
            <a:ext cx="4907128"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OUTLIERS</a:t>
            </a:r>
            <a:endParaRPr lang="en-US" sz="1100" dirty="0"/>
          </a:p>
        </p:txBody>
      </p:sp>
      <p:sp>
        <p:nvSpPr>
          <p:cNvPr id="7" name="Text 5"/>
          <p:cNvSpPr txBox="1"/>
          <p:nvPr/>
        </p:nvSpPr>
        <p:spPr>
          <a:xfrm>
            <a:off x="822960" y="1874520"/>
            <a:ext cx="4907128" cy="256032"/>
          </a:xfrm>
          <a:prstGeom prst="rect">
            <a:avLst/>
          </a:prstGeom>
          <a:noFill/>
          <a:ln/>
        </p:spPr>
        <p:txBody>
          <a:bodyPr wrap="square" lIns="0" tIns="0" rIns="0" bIns="0" rtlCol="0" anchor="ctr"/>
          <a:lstStyle/>
          <a:p>
            <a:pPr indent="0" marL="0">
              <a:buNone/>
            </a:pPr>
            <a:r>
              <a:rPr lang="en-US" sz="1200" dirty="0">
                <a:solidFill>
                  <a:schemeClr val="accent6"/>
                </a:solidFill>
              </a:rPr>
              <a:t>Robust z-score and Isolation Forest on 11 measure columns</a:t>
            </a:r>
            <a:endParaRPr lang="en-US" sz="1200" dirty="0"/>
          </a:p>
        </p:txBody>
      </p:sp>
      <p:sp>
        <p:nvSpPr>
          <p:cNvPr id="8" name="Text 6"/>
          <p:cNvSpPr txBox="1"/>
          <p:nvPr/>
        </p:nvSpPr>
        <p:spPr>
          <a:xfrm>
            <a:off x="822960" y="2331720"/>
            <a:ext cx="4907128" cy="228600"/>
          </a:xfrm>
          <a:prstGeom prst="rect">
            <a:avLst/>
          </a:prstGeom>
          <a:noFill/>
          <a:ln/>
        </p:spPr>
        <p:txBody>
          <a:bodyPr wrap="square" lIns="0" tIns="0" rIns="0" bIns="0" rtlCol="0" anchor="ctr"/>
          <a:lstStyle/>
          <a:p>
            <a:pPr indent="0" marL="0">
              <a:buNone/>
            </a:pPr>
            <a:r>
              <a:rPr lang="en-US" sz="1000" b="1" spc="100" kern="0" dirty="0">
                <a:solidFill>
                  <a:schemeClr val="accent6"/>
                </a:solidFill>
              </a:rPr>
              <a:t>MOVIES RATING_VALUE · THE ONLY COLUMN WITH NUMERIC ERRORS</a:t>
            </a:r>
            <a:endParaRPr lang="en-US" sz="1000" dirty="0"/>
          </a:p>
        </p:txBody>
      </p:sp>
      <p:sp>
        <p:nvSpPr>
          <p:cNvPr id="9" name="Text 7"/>
          <p:cNvSpPr txBox="1"/>
          <p:nvPr/>
        </p:nvSpPr>
        <p:spPr>
          <a:xfrm>
            <a:off x="822960" y="2560320"/>
            <a:ext cx="4907128" cy="201168"/>
          </a:xfrm>
          <a:prstGeom prst="rect">
            <a:avLst/>
          </a:prstGeom>
          <a:noFill/>
          <a:ln/>
        </p:spPr>
        <p:txBody>
          <a:bodyPr wrap="square" lIns="0" tIns="0" rIns="0" bIns="0" rtlCol="0" anchor="ctr"/>
          <a:lstStyle/>
          <a:p>
            <a:pPr indent="0" marL="0">
              <a:buNone/>
            </a:pPr>
            <a:r>
              <a:rPr lang="en-US" sz="1050" dirty="0">
                <a:solidFill>
                  <a:schemeClr val="accent6"/>
                </a:solidFill>
              </a:rPr>
              <a:t>errors found, out of 615</a:t>
            </a:r>
            <a:endParaRPr lang="en-US" sz="1050" dirty="0"/>
          </a:p>
        </p:txBody>
      </p:sp>
      <p:sp>
        <p:nvSpPr>
          <p:cNvPr id="10" name="Text 8"/>
          <p:cNvSpPr txBox="1"/>
          <p:nvPr/>
        </p:nvSpPr>
        <p:spPr>
          <a:xfrm>
            <a:off x="822960" y="2834640"/>
            <a:ext cx="1737360" cy="274320"/>
          </a:xfrm>
          <a:prstGeom prst="rect">
            <a:avLst/>
          </a:prstGeom>
          <a:noFill/>
          <a:ln/>
        </p:spPr>
        <p:txBody>
          <a:bodyPr wrap="square" lIns="0" tIns="0" rIns="0" bIns="0" rtlCol="0" anchor="ctr"/>
          <a:lstStyle/>
          <a:p>
            <a:pPr indent="0" marL="0">
              <a:buNone/>
            </a:pPr>
            <a:r>
              <a:rPr lang="en-US" sz="1200" dirty="0">
                <a:solidFill>
                  <a:schemeClr val="tx1"/>
                </a:solidFill>
              </a:rPr>
              <a:t>Robust z-score</a:t>
            </a:r>
            <a:endParaRPr lang="en-US" sz="1200" dirty="0"/>
          </a:p>
        </p:txBody>
      </p:sp>
      <p:sp>
        <p:nvSpPr>
          <p:cNvPr id="11" name="Meter Robust z-score track"/>
          <p:cNvSpPr/>
          <p:nvPr/>
        </p:nvSpPr>
        <p:spPr>
          <a:xfrm>
            <a:off x="2377440" y="2898648"/>
            <a:ext cx="2103120" cy="146304"/>
          </a:xfrm>
          <a:prstGeom prst="rect">
            <a:avLst/>
          </a:prstGeom>
          <a:solidFill>
            <a:schemeClr val="bg2"/>
          </a:solidFill>
          <a:ln/>
        </p:spPr>
        <p:txBody>
          <a:bodyPr/>
          <a:p/>
        </p:txBody>
      </p:sp>
      <p:sp>
        <p:nvSpPr>
          <p:cNvPr id="12" name="Meter Robust z-score fill"/>
          <p:cNvSpPr/>
          <p:nvPr/>
        </p:nvSpPr>
        <p:spPr>
          <a:xfrm>
            <a:off x="2377440" y="2898648"/>
            <a:ext cx="36576" cy="146304"/>
          </a:xfrm>
          <a:prstGeom prst="rect">
            <a:avLst/>
          </a:prstGeom>
          <a:solidFill>
            <a:schemeClr val="accent3"/>
          </a:solidFill>
          <a:ln/>
        </p:spPr>
        <p:txBody>
          <a:bodyPr/>
          <a:p/>
        </p:txBody>
      </p:sp>
      <p:sp>
        <p:nvSpPr>
          <p:cNvPr id="13" name="Text 11"/>
          <p:cNvSpPr txBox="1"/>
          <p:nvPr/>
        </p:nvSpPr>
        <p:spPr>
          <a:xfrm>
            <a:off x="4572000" y="2834640"/>
            <a:ext cx="1161288" cy="274320"/>
          </a:xfrm>
          <a:prstGeom prst="rect">
            <a:avLst/>
          </a:prstGeom>
          <a:noFill/>
          <a:ln/>
        </p:spPr>
        <p:txBody>
          <a:bodyPr wrap="square" lIns="0" tIns="0" rIns="0" bIns="0" rtlCol="0" anchor="ctr"/>
          <a:lstStyle/>
          <a:p>
            <a:pPr algn="r" indent="0" marL="0">
              <a:buNone/>
            </a:pPr>
            <a:r>
              <a:rPr lang="en-US" sz="1250" b="1" dirty="0">
                <a:solidFill>
                  <a:schemeClr val="accent3"/>
                </a:solidFill>
              </a:rPr>
              <a:t>5 / 615</a:t>
            </a:r>
            <a:endParaRPr lang="en-US" sz="1250" dirty="0"/>
          </a:p>
        </p:txBody>
      </p:sp>
      <p:sp>
        <p:nvSpPr>
          <p:cNvPr id="14" name="Text 12"/>
          <p:cNvSpPr txBox="1"/>
          <p:nvPr/>
        </p:nvSpPr>
        <p:spPr>
          <a:xfrm>
            <a:off x="822960" y="3246120"/>
            <a:ext cx="1737360" cy="274320"/>
          </a:xfrm>
          <a:prstGeom prst="rect">
            <a:avLst/>
          </a:prstGeom>
          <a:noFill/>
          <a:ln/>
        </p:spPr>
        <p:txBody>
          <a:bodyPr wrap="square" lIns="0" tIns="0" rIns="0" bIns="0" rtlCol="0" anchor="ctr"/>
          <a:lstStyle/>
          <a:p>
            <a:pPr indent="0" marL="0">
              <a:buNone/>
            </a:pPr>
            <a:r>
              <a:rPr lang="en-US" sz="1200" dirty="0">
                <a:solidFill>
                  <a:schemeClr val="tx1"/>
                </a:solidFill>
              </a:rPr>
              <a:t>Isolation Forest</a:t>
            </a:r>
            <a:endParaRPr lang="en-US" sz="1200" dirty="0"/>
          </a:p>
        </p:txBody>
      </p:sp>
      <p:sp>
        <p:nvSpPr>
          <p:cNvPr id="15" name="Meter Isolation Forest track"/>
          <p:cNvSpPr/>
          <p:nvPr/>
        </p:nvSpPr>
        <p:spPr>
          <a:xfrm>
            <a:off x="2377440" y="3310128"/>
            <a:ext cx="2103120" cy="146304"/>
          </a:xfrm>
          <a:prstGeom prst="rect">
            <a:avLst/>
          </a:prstGeom>
          <a:solidFill>
            <a:schemeClr val="bg2"/>
          </a:solidFill>
          <a:ln/>
        </p:spPr>
        <p:txBody>
          <a:bodyPr/>
          <a:p/>
        </p:txBody>
      </p:sp>
      <p:sp>
        <p:nvSpPr>
          <p:cNvPr id="16" name="Meter Isolation Forest fill"/>
          <p:cNvSpPr/>
          <p:nvPr/>
        </p:nvSpPr>
        <p:spPr>
          <a:xfrm>
            <a:off x="2377440" y="3310128"/>
            <a:ext cx="54715" cy="146304"/>
          </a:xfrm>
          <a:prstGeom prst="rect">
            <a:avLst/>
          </a:prstGeom>
          <a:solidFill>
            <a:schemeClr val="accent3"/>
          </a:solidFill>
          <a:ln/>
        </p:spPr>
        <p:txBody>
          <a:bodyPr/>
          <a:p/>
        </p:txBody>
      </p:sp>
      <p:sp>
        <p:nvSpPr>
          <p:cNvPr id="17" name="Text 15"/>
          <p:cNvSpPr txBox="1"/>
          <p:nvPr/>
        </p:nvSpPr>
        <p:spPr>
          <a:xfrm>
            <a:off x="4572000" y="3246120"/>
            <a:ext cx="1161288" cy="274320"/>
          </a:xfrm>
          <a:prstGeom prst="rect">
            <a:avLst/>
          </a:prstGeom>
          <a:noFill/>
          <a:ln/>
        </p:spPr>
        <p:txBody>
          <a:bodyPr wrap="square" lIns="0" tIns="0" rIns="0" bIns="0" rtlCol="0" anchor="ctr"/>
          <a:lstStyle/>
          <a:p>
            <a:pPr algn="r" indent="0" marL="0">
              <a:buNone/>
            </a:pPr>
            <a:r>
              <a:rPr lang="en-US" sz="1250" b="1" dirty="0">
                <a:solidFill>
                  <a:schemeClr val="accent3"/>
                </a:solidFill>
              </a:rPr>
              <a:t>16 / 615</a:t>
            </a:r>
            <a:endParaRPr lang="en-US" sz="1250" dirty="0"/>
          </a:p>
        </p:txBody>
      </p:sp>
      <p:sp>
        <p:nvSpPr>
          <p:cNvPr id="18" name="Text 16"/>
          <p:cNvSpPr txBox="1"/>
          <p:nvPr/>
        </p:nvSpPr>
        <p:spPr>
          <a:xfrm>
            <a:off x="822960" y="3749040"/>
            <a:ext cx="4907128" cy="228600"/>
          </a:xfrm>
          <a:prstGeom prst="rect">
            <a:avLst/>
          </a:prstGeom>
          <a:noFill/>
          <a:ln/>
        </p:spPr>
        <p:txBody>
          <a:bodyPr wrap="square" lIns="0" tIns="0" rIns="0" bIns="0" rtlCol="0" anchor="ctr"/>
          <a:lstStyle/>
          <a:p>
            <a:pPr indent="0" marL="0">
              <a:buNone/>
            </a:pPr>
            <a:r>
              <a:rPr lang="en-US" sz="1000" b="1" spc="100" kern="0" dirty="0">
                <a:solidFill>
                  <a:schemeClr val="accent6"/>
                </a:solidFill>
              </a:rPr>
              <a:t>TAX SALARY · CORRECT VALUES FLAGGED</a:t>
            </a:r>
            <a:endParaRPr lang="en-US" sz="1000" dirty="0"/>
          </a:p>
        </p:txBody>
      </p:sp>
      <p:sp>
        <p:nvSpPr>
          <p:cNvPr id="19" name="Text 17"/>
          <p:cNvSpPr txBox="1"/>
          <p:nvPr/>
        </p:nvSpPr>
        <p:spPr>
          <a:xfrm>
            <a:off x="822960" y="4023360"/>
            <a:ext cx="1737360" cy="274320"/>
          </a:xfrm>
          <a:prstGeom prst="rect">
            <a:avLst/>
          </a:prstGeom>
          <a:noFill/>
          <a:ln/>
        </p:spPr>
        <p:txBody>
          <a:bodyPr wrap="square" lIns="0" tIns="0" rIns="0" bIns="0" rtlCol="0" anchor="ctr"/>
          <a:lstStyle/>
          <a:p>
            <a:pPr indent="0" marL="0">
              <a:buNone/>
            </a:pPr>
            <a:r>
              <a:rPr lang="en-US" sz="1200" dirty="0">
                <a:solidFill>
                  <a:schemeClr val="tx1"/>
                </a:solidFill>
              </a:rPr>
              <a:t>Isolation Forest</a:t>
            </a:r>
            <a:endParaRPr lang="en-US" sz="1200" dirty="0"/>
          </a:p>
        </p:txBody>
      </p:sp>
      <p:sp>
        <p:nvSpPr>
          <p:cNvPr id="20" name="Meter Isolation Forest track"/>
          <p:cNvSpPr/>
          <p:nvPr/>
        </p:nvSpPr>
        <p:spPr>
          <a:xfrm>
            <a:off x="2377440" y="4087368"/>
            <a:ext cx="2103120" cy="146304"/>
          </a:xfrm>
          <a:prstGeom prst="rect">
            <a:avLst/>
          </a:prstGeom>
          <a:solidFill>
            <a:schemeClr val="bg2"/>
          </a:solidFill>
          <a:ln/>
        </p:spPr>
        <p:txBody>
          <a:bodyPr/>
          <a:p/>
        </p:txBody>
      </p:sp>
      <p:sp>
        <p:nvSpPr>
          <p:cNvPr id="21" name="Meter Isolation Forest fill"/>
          <p:cNvSpPr/>
          <p:nvPr/>
        </p:nvSpPr>
        <p:spPr>
          <a:xfrm>
            <a:off x="2377440" y="4087368"/>
            <a:ext cx="102152" cy="146304"/>
          </a:xfrm>
          <a:prstGeom prst="rect">
            <a:avLst/>
          </a:prstGeom>
          <a:solidFill>
            <a:schemeClr val="accent2"/>
          </a:solidFill>
          <a:ln/>
        </p:spPr>
        <p:txBody>
          <a:bodyPr/>
          <a:p/>
        </p:txBody>
      </p:sp>
      <p:sp>
        <p:nvSpPr>
          <p:cNvPr id="22" name="Text 20"/>
          <p:cNvSpPr txBox="1"/>
          <p:nvPr/>
        </p:nvSpPr>
        <p:spPr>
          <a:xfrm>
            <a:off x="4572000" y="4023360"/>
            <a:ext cx="1161288" cy="274320"/>
          </a:xfrm>
          <a:prstGeom prst="rect">
            <a:avLst/>
          </a:prstGeom>
          <a:noFill/>
          <a:ln/>
        </p:spPr>
        <p:txBody>
          <a:bodyPr wrap="square" lIns="0" tIns="0" rIns="0" bIns="0" rtlCol="0" anchor="ctr"/>
          <a:lstStyle/>
          <a:p>
            <a:pPr algn="r" indent="0" marL="0">
              <a:buNone/>
            </a:pPr>
            <a:r>
              <a:rPr lang="en-US" sz="1250" b="1" dirty="0">
                <a:solidFill>
                  <a:schemeClr val="tx1"/>
                </a:solidFill>
              </a:rPr>
              <a:t>680 / 14,000</a:t>
            </a:r>
            <a:endParaRPr lang="en-US" sz="1250" dirty="0"/>
          </a:p>
        </p:txBody>
      </p:sp>
      <p:sp>
        <p:nvSpPr>
          <p:cNvPr id="23" name="Text 21"/>
          <p:cNvSpPr txBox="1"/>
          <p:nvPr/>
        </p:nvSpPr>
        <p:spPr>
          <a:xfrm>
            <a:off x="822960" y="4572000"/>
            <a:ext cx="4907128" cy="731520"/>
          </a:xfrm>
          <a:prstGeom prst="rect">
            <a:avLst/>
          </a:prstGeom>
          <a:noFill/>
          <a:ln/>
        </p:spPr>
        <p:txBody>
          <a:bodyPr wrap="square" lIns="0" tIns="0" rIns="0" bIns="0" rtlCol="0" anchor="t"/>
          <a:lstStyle/>
          <a:p>
            <a:pPr indent="0" marL="0">
              <a:buNone/>
            </a:pPr>
            <a:r>
              <a:rPr lang="en-US" sz="1300" dirty="0">
                <a:solidFill>
                  <a:schemeClr val="tx1"/>
                </a:solidFill>
              </a:rPr>
              <a:t>Most errors in numeric columns are not numbers: a % sign in Beers’ ABV (such as 0.09%), placeholders in IBU.</a:t>
            </a:r>
            <a:endParaRPr lang="en-US" sz="1300" dirty="0"/>
          </a:p>
        </p:txBody>
      </p:sp>
      <p:sp>
        <p:nvSpPr>
          <p:cNvPr id="24" name="Dependencies panel"/>
          <p:cNvSpPr/>
          <p:nvPr/>
        </p:nvSpPr>
        <p:spPr>
          <a:xfrm>
            <a:off x="6187288" y="1417320"/>
            <a:ext cx="5455768" cy="4069080"/>
          </a:xfrm>
          <a:prstGeom prst="roundRect">
            <a:avLst>
              <a:gd name="adj" fmla="val 1798"/>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25" name="Text 23"/>
          <p:cNvSpPr txBox="1"/>
          <p:nvPr/>
        </p:nvSpPr>
        <p:spPr>
          <a:xfrm>
            <a:off x="6461608" y="1600200"/>
            <a:ext cx="4907128"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APPROXIMATE DEPENDENCIES</a:t>
            </a:r>
            <a:endParaRPr lang="en-US" sz="1100" dirty="0"/>
          </a:p>
        </p:txBody>
      </p:sp>
      <p:sp>
        <p:nvSpPr>
          <p:cNvPr id="26" name="Text 24"/>
          <p:cNvSpPr txBox="1"/>
          <p:nvPr/>
        </p:nvSpPr>
        <p:spPr>
          <a:xfrm>
            <a:off x="6461608" y="1874520"/>
            <a:ext cx="4907128" cy="256032"/>
          </a:xfrm>
          <a:prstGeom prst="rect">
            <a:avLst/>
          </a:prstGeom>
          <a:noFill/>
          <a:ln/>
        </p:spPr>
        <p:txBody>
          <a:bodyPr wrap="square" lIns="0" tIns="0" rIns="0" bIns="0" rtlCol="0" anchor="ctr"/>
          <a:lstStyle/>
          <a:p>
            <a:pPr indent="0" marL="0">
              <a:buNone/>
            </a:pPr>
            <a:r>
              <a:rPr lang="en-US" sz="1200" dirty="0">
                <a:solidFill>
                  <a:schemeClr val="accent6"/>
                </a:solidFill>
              </a:rPr>
              <a:t>g3 scan, strength at least 0.90</a:t>
            </a:r>
            <a:endParaRPr lang="en-US" sz="1200" dirty="0"/>
          </a:p>
        </p:txBody>
      </p:sp>
      <p:sp>
        <p:nvSpPr>
          <p:cNvPr id="27" name="Text 25"/>
          <p:cNvSpPr txBox="1"/>
          <p:nvPr/>
        </p:nvSpPr>
        <p:spPr>
          <a:xfrm>
            <a:off x="6461608" y="2286000"/>
            <a:ext cx="1280160" cy="548640"/>
          </a:xfrm>
          <a:prstGeom prst="rect">
            <a:avLst/>
          </a:prstGeom>
          <a:noFill/>
          <a:ln/>
        </p:spPr>
        <p:txBody>
          <a:bodyPr wrap="square" lIns="0" tIns="0" rIns="0" bIns="0" rtlCol="0" anchor="ctr"/>
          <a:lstStyle/>
          <a:p>
            <a:pPr indent="0" marL="0">
              <a:buNone/>
            </a:pPr>
            <a:r>
              <a:rPr lang="en-US" sz="3400" b="1" dirty="0">
                <a:solidFill>
                  <a:schemeClr val="accent3"/>
                </a:solidFill>
              </a:rPr>
              <a:t>365</a:t>
            </a:r>
            <a:endParaRPr lang="en-US" sz="3400" dirty="0"/>
          </a:p>
        </p:txBody>
      </p:sp>
      <p:sp>
        <p:nvSpPr>
          <p:cNvPr id="28" name="Text 26"/>
          <p:cNvSpPr txBox="1"/>
          <p:nvPr/>
        </p:nvSpPr>
        <p:spPr>
          <a:xfrm>
            <a:off x="7787488" y="2286000"/>
            <a:ext cx="3581248" cy="548640"/>
          </a:xfrm>
          <a:prstGeom prst="rect">
            <a:avLst/>
          </a:prstGeom>
          <a:noFill/>
          <a:ln/>
        </p:spPr>
        <p:txBody>
          <a:bodyPr wrap="square" lIns="0" tIns="0" rIns="0" bIns="0" rtlCol="0" anchor="ctr"/>
          <a:lstStyle/>
          <a:p>
            <a:pPr indent="0" marL="0">
              <a:buNone/>
            </a:pPr>
            <a:r>
              <a:rPr lang="en-US" sz="1100" dirty="0">
                <a:solidFill>
                  <a:schemeClr val="tx1"/>
                </a:solidFill>
              </a:rPr>
              <a:t>informative dependencies in the eight training tables (the first scan’s 307 included 149 trivial ones with a key as determinant)</a:t>
            </a:r>
            <a:endParaRPr lang="en-US" sz="1100" dirty="0"/>
          </a:p>
        </p:txBody>
      </p:sp>
      <p:sp>
        <p:nvSpPr>
          <p:cNvPr id="29" name="Text 27"/>
          <p:cNvSpPr txBox="1"/>
          <p:nvPr/>
        </p:nvSpPr>
        <p:spPr>
          <a:xfrm>
            <a:off x="6461608" y="3063240"/>
            <a:ext cx="2194560" cy="274320"/>
          </a:xfrm>
          <a:prstGeom prst="rect">
            <a:avLst/>
          </a:prstGeom>
          <a:noFill/>
          <a:ln/>
        </p:spPr>
        <p:txBody>
          <a:bodyPr wrap="square" lIns="0" tIns="0" rIns="0" bIns="0" rtlCol="0" anchor="ctr"/>
          <a:lstStyle/>
          <a:p>
            <a:pPr indent="0" marL="0">
              <a:buNone/>
            </a:pPr>
            <a:r>
              <a:rPr lang="en-US" sz="1050" dirty="0">
                <a:solidFill>
                  <a:schemeClr val="tx1"/>
                </a:solidFill>
                <a:latin typeface="Courier New" pitchFamily="34" charset="0"/>
                <a:ea typeface="Courier New" pitchFamily="34" charset="-122"/>
                <a:cs typeface="Courier New" pitchFamily="34" charset="-120"/>
              </a:rPr>
              <a:t>brewery_id → brewery_name</a:t>
            </a:r>
            <a:endParaRPr lang="en-US" sz="1050" dirty="0"/>
          </a:p>
        </p:txBody>
      </p:sp>
      <p:sp>
        <p:nvSpPr>
          <p:cNvPr id="30" name="Strength 0 track"/>
          <p:cNvSpPr/>
          <p:nvPr/>
        </p:nvSpPr>
        <p:spPr>
          <a:xfrm>
            <a:off x="8701888" y="3127248"/>
            <a:ext cx="2011680" cy="146304"/>
          </a:xfrm>
          <a:prstGeom prst="rect">
            <a:avLst/>
          </a:prstGeom>
          <a:solidFill>
            <a:schemeClr val="bg2"/>
          </a:solidFill>
          <a:ln/>
        </p:spPr>
        <p:txBody>
          <a:bodyPr/>
          <a:p/>
        </p:txBody>
      </p:sp>
      <p:sp>
        <p:nvSpPr>
          <p:cNvPr id="31" name="Strength 0 fill"/>
          <p:cNvSpPr/>
          <p:nvPr/>
        </p:nvSpPr>
        <p:spPr>
          <a:xfrm>
            <a:off x="8701888" y="3127248"/>
            <a:ext cx="2011680" cy="146304"/>
          </a:xfrm>
          <a:prstGeom prst="rect">
            <a:avLst/>
          </a:prstGeom>
          <a:solidFill>
            <a:schemeClr val="accent3"/>
          </a:solidFill>
          <a:ln/>
        </p:spPr>
        <p:txBody>
          <a:bodyPr/>
          <a:p/>
        </p:txBody>
      </p:sp>
      <p:sp>
        <p:nvSpPr>
          <p:cNvPr id="32" name="Text 30"/>
          <p:cNvSpPr txBox="1"/>
          <p:nvPr/>
        </p:nvSpPr>
        <p:spPr>
          <a:xfrm>
            <a:off x="10774375" y="3063240"/>
            <a:ext cx="594360" cy="274320"/>
          </a:xfrm>
          <a:prstGeom prst="rect">
            <a:avLst/>
          </a:prstGeom>
          <a:noFill/>
          <a:ln/>
        </p:spPr>
        <p:txBody>
          <a:bodyPr wrap="square" lIns="0" tIns="0" rIns="0" bIns="0" rtlCol="0" anchor="ctr"/>
          <a:lstStyle/>
          <a:p>
            <a:pPr algn="r" indent="0" marL="0">
              <a:buNone/>
            </a:pPr>
            <a:r>
              <a:rPr lang="en-US" sz="1250" b="1" dirty="0">
                <a:solidFill>
                  <a:schemeClr val="accent3"/>
                </a:solidFill>
              </a:rPr>
              <a:t>1.000</a:t>
            </a:r>
            <a:endParaRPr lang="en-US" sz="1250" dirty="0"/>
          </a:p>
        </p:txBody>
      </p:sp>
      <p:sp>
        <p:nvSpPr>
          <p:cNvPr id="33" name="Text 31"/>
          <p:cNvSpPr txBox="1"/>
          <p:nvPr/>
        </p:nvSpPr>
        <p:spPr>
          <a:xfrm>
            <a:off x="6461608" y="3474720"/>
            <a:ext cx="2194560" cy="274320"/>
          </a:xfrm>
          <a:prstGeom prst="rect">
            <a:avLst/>
          </a:prstGeom>
          <a:noFill/>
          <a:ln/>
        </p:spPr>
        <p:txBody>
          <a:bodyPr wrap="square" lIns="0" tIns="0" rIns="0" bIns="0" rtlCol="0" anchor="ctr"/>
          <a:lstStyle/>
          <a:p>
            <a:pPr indent="0" marL="0">
              <a:buNone/>
            </a:pPr>
            <a:r>
              <a:rPr lang="en-US" sz="1050" dirty="0">
                <a:solidFill>
                  <a:schemeClr val="tx1"/>
                </a:solidFill>
                <a:latin typeface="Courier New" pitchFamily="34" charset="0"/>
                <a:ea typeface="Courier New" pitchFamily="34" charset="-122"/>
                <a:cs typeface="Courier New" pitchFamily="34" charset="-120"/>
              </a:rPr>
              <a:t>zip → name (Hospital)</a:t>
            </a:r>
            <a:endParaRPr lang="en-US" sz="1050" dirty="0"/>
          </a:p>
        </p:txBody>
      </p:sp>
      <p:sp>
        <p:nvSpPr>
          <p:cNvPr id="34" name="Strength 1 track"/>
          <p:cNvSpPr/>
          <p:nvPr/>
        </p:nvSpPr>
        <p:spPr>
          <a:xfrm>
            <a:off x="8701888" y="3538728"/>
            <a:ext cx="2011680" cy="146304"/>
          </a:xfrm>
          <a:prstGeom prst="rect">
            <a:avLst/>
          </a:prstGeom>
          <a:solidFill>
            <a:schemeClr val="bg2"/>
          </a:solidFill>
          <a:ln/>
        </p:spPr>
        <p:txBody>
          <a:bodyPr/>
          <a:p/>
        </p:txBody>
      </p:sp>
      <p:sp>
        <p:nvSpPr>
          <p:cNvPr id="35" name="Strength 1 fill"/>
          <p:cNvSpPr/>
          <p:nvPr/>
        </p:nvSpPr>
        <p:spPr>
          <a:xfrm>
            <a:off x="8701888" y="3538728"/>
            <a:ext cx="1967423" cy="146304"/>
          </a:xfrm>
          <a:prstGeom prst="rect">
            <a:avLst/>
          </a:prstGeom>
          <a:solidFill>
            <a:schemeClr val="accent3"/>
          </a:solidFill>
          <a:ln/>
        </p:spPr>
        <p:txBody>
          <a:bodyPr/>
          <a:p/>
        </p:txBody>
      </p:sp>
      <p:sp>
        <p:nvSpPr>
          <p:cNvPr id="36" name="Text 34"/>
          <p:cNvSpPr txBox="1"/>
          <p:nvPr/>
        </p:nvSpPr>
        <p:spPr>
          <a:xfrm>
            <a:off x="10774375" y="3474720"/>
            <a:ext cx="594360" cy="274320"/>
          </a:xfrm>
          <a:prstGeom prst="rect">
            <a:avLst/>
          </a:prstGeom>
          <a:noFill/>
          <a:ln/>
        </p:spPr>
        <p:txBody>
          <a:bodyPr wrap="square" lIns="0" tIns="0" rIns="0" bIns="0" rtlCol="0" anchor="ctr"/>
          <a:lstStyle/>
          <a:p>
            <a:pPr algn="r" indent="0" marL="0">
              <a:buNone/>
            </a:pPr>
            <a:r>
              <a:rPr lang="en-US" sz="1250" b="1" dirty="0">
                <a:solidFill>
                  <a:schemeClr val="accent3"/>
                </a:solidFill>
              </a:rPr>
              <a:t>0.978</a:t>
            </a:r>
            <a:endParaRPr lang="en-US" sz="1250" dirty="0"/>
          </a:p>
        </p:txBody>
      </p:sp>
      <p:sp>
        <p:nvSpPr>
          <p:cNvPr id="37" name="Threshold 0.90"/>
          <p:cNvSpPr/>
          <p:nvPr/>
        </p:nvSpPr>
        <p:spPr>
          <a:xfrm>
            <a:off x="10512400" y="2990088"/>
            <a:ext cx="0" cy="914400"/>
          </a:xfrm>
          <a:prstGeom prst="line">
            <a:avLst/>
          </a:prstGeom>
          <a:noFill/>
          <a:ln w="19050">
            <a:solidFill>
              <a:schemeClr val="accent2"/>
            </a:solidFill>
            <a:prstDash val="dash"/>
          </a:ln>
        </p:spPr>
        <p:txBody>
          <a:bodyPr/>
          <a:p/>
        </p:txBody>
      </p:sp>
      <p:sp>
        <p:nvSpPr>
          <p:cNvPr id="38" name="Text 36"/>
          <p:cNvSpPr txBox="1"/>
          <p:nvPr/>
        </p:nvSpPr>
        <p:spPr>
          <a:xfrm>
            <a:off x="10146640" y="3904488"/>
            <a:ext cx="731520" cy="182880"/>
          </a:xfrm>
          <a:prstGeom prst="rect">
            <a:avLst/>
          </a:prstGeom>
          <a:noFill/>
          <a:ln/>
        </p:spPr>
        <p:txBody>
          <a:bodyPr wrap="square" lIns="0" tIns="0" rIns="0" bIns="0" rtlCol="0" anchor="ctr"/>
          <a:lstStyle/>
          <a:p>
            <a:pPr algn="ctr" indent="0" marL="0">
              <a:buNone/>
            </a:pPr>
            <a:r>
              <a:rPr lang="en-US" sz="950" b="1" dirty="0">
                <a:solidFill>
                  <a:schemeClr val="accent6"/>
                </a:solidFill>
              </a:rPr>
              <a:t>min 0.90</a:t>
            </a:r>
            <a:endParaRPr lang="en-US" sz="950" dirty="0"/>
          </a:p>
        </p:txBody>
      </p:sp>
      <p:sp>
        <p:nvSpPr>
          <p:cNvPr id="39" name="Text 37"/>
          <p:cNvSpPr txBox="1"/>
          <p:nvPr/>
        </p:nvSpPr>
        <p:spPr>
          <a:xfrm>
            <a:off x="6461608" y="4206240"/>
            <a:ext cx="182880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STRONG IN</a:t>
            </a:r>
            <a:endParaRPr lang="en-US" sz="1100" dirty="0"/>
          </a:p>
        </p:txBody>
      </p:sp>
      <p:sp>
        <p:nvSpPr>
          <p:cNvPr id="40" name="Pill Hospital"/>
          <p:cNvSpPr/>
          <p:nvPr/>
        </p:nvSpPr>
        <p:spPr>
          <a:xfrm>
            <a:off x="6461608" y="4462272"/>
            <a:ext cx="868680" cy="274320"/>
          </a:xfrm>
          <a:prstGeom prst="roundRect">
            <a:avLst>
              <a:gd name="adj" fmla="val 50000"/>
            </a:avLst>
          </a:prstGeom>
          <a:solidFill>
            <a:schemeClr val="accent4"/>
          </a:solidFill>
          <a:ln/>
        </p:spPr>
        <p:txBody>
          <a:bodyPr/>
          <a:p/>
        </p:txBody>
      </p:sp>
      <p:sp>
        <p:nvSpPr>
          <p:cNvPr id="41" name="Text 39"/>
          <p:cNvSpPr txBox="1"/>
          <p:nvPr/>
        </p:nvSpPr>
        <p:spPr>
          <a:xfrm>
            <a:off x="6461608" y="4462272"/>
            <a:ext cx="868680" cy="274320"/>
          </a:xfrm>
          <a:prstGeom prst="rect">
            <a:avLst/>
          </a:prstGeom>
          <a:noFill/>
          <a:ln/>
        </p:spPr>
        <p:txBody>
          <a:bodyPr wrap="square" lIns="0" tIns="0" rIns="0" bIns="0" rtlCol="0" anchor="ctr"/>
          <a:lstStyle/>
          <a:p>
            <a:pPr algn="ctr" indent="0" marL="0">
              <a:buNone/>
            </a:pPr>
            <a:r>
              <a:rPr lang="en-US" sz="1050" b="1" dirty="0">
                <a:solidFill>
                  <a:schemeClr val="accent3"/>
                </a:solidFill>
              </a:rPr>
              <a:t>Hospital</a:t>
            </a:r>
            <a:endParaRPr lang="en-US" sz="1050" dirty="0"/>
          </a:p>
        </p:txBody>
      </p:sp>
      <p:sp>
        <p:nvSpPr>
          <p:cNvPr id="42" name="Pill Beers"/>
          <p:cNvSpPr/>
          <p:nvPr/>
        </p:nvSpPr>
        <p:spPr>
          <a:xfrm>
            <a:off x="7421728" y="4462272"/>
            <a:ext cx="731520" cy="274320"/>
          </a:xfrm>
          <a:prstGeom prst="roundRect">
            <a:avLst>
              <a:gd name="adj" fmla="val 50000"/>
            </a:avLst>
          </a:prstGeom>
          <a:solidFill>
            <a:schemeClr val="accent4"/>
          </a:solidFill>
          <a:ln/>
        </p:spPr>
        <p:txBody>
          <a:bodyPr/>
          <a:p/>
        </p:txBody>
      </p:sp>
      <p:sp>
        <p:nvSpPr>
          <p:cNvPr id="43" name="Text 41"/>
          <p:cNvSpPr txBox="1"/>
          <p:nvPr/>
        </p:nvSpPr>
        <p:spPr>
          <a:xfrm>
            <a:off x="7421728" y="4462272"/>
            <a:ext cx="731520" cy="274320"/>
          </a:xfrm>
          <a:prstGeom prst="rect">
            <a:avLst/>
          </a:prstGeom>
          <a:noFill/>
          <a:ln/>
        </p:spPr>
        <p:txBody>
          <a:bodyPr wrap="square" lIns="0" tIns="0" rIns="0" bIns="0" rtlCol="0" anchor="ctr"/>
          <a:lstStyle/>
          <a:p>
            <a:pPr algn="ctr" indent="0" marL="0">
              <a:buNone/>
            </a:pPr>
            <a:r>
              <a:rPr lang="en-US" sz="1050" b="1" dirty="0">
                <a:solidFill>
                  <a:schemeClr val="accent3"/>
                </a:solidFill>
              </a:rPr>
              <a:t>Beers</a:t>
            </a:r>
            <a:endParaRPr lang="en-US" sz="1050" dirty="0"/>
          </a:p>
        </p:txBody>
      </p:sp>
      <p:sp>
        <p:nvSpPr>
          <p:cNvPr id="44" name="Pill Inpatient"/>
          <p:cNvSpPr/>
          <p:nvPr/>
        </p:nvSpPr>
        <p:spPr>
          <a:xfrm>
            <a:off x="8244688" y="4462272"/>
            <a:ext cx="868680" cy="274320"/>
          </a:xfrm>
          <a:prstGeom prst="roundRect">
            <a:avLst>
              <a:gd name="adj" fmla="val 50000"/>
            </a:avLst>
          </a:prstGeom>
          <a:solidFill>
            <a:schemeClr val="accent4"/>
          </a:solidFill>
          <a:ln/>
        </p:spPr>
        <p:txBody>
          <a:bodyPr/>
          <a:p/>
        </p:txBody>
      </p:sp>
      <p:sp>
        <p:nvSpPr>
          <p:cNvPr id="45" name="Text 43"/>
          <p:cNvSpPr txBox="1"/>
          <p:nvPr/>
        </p:nvSpPr>
        <p:spPr>
          <a:xfrm>
            <a:off x="8244688" y="4462272"/>
            <a:ext cx="868680" cy="274320"/>
          </a:xfrm>
          <a:prstGeom prst="rect">
            <a:avLst/>
          </a:prstGeom>
          <a:noFill/>
          <a:ln/>
        </p:spPr>
        <p:txBody>
          <a:bodyPr wrap="square" lIns="0" tIns="0" rIns="0" bIns="0" rtlCol="0" anchor="ctr"/>
          <a:lstStyle/>
          <a:p>
            <a:pPr algn="ctr" indent="0" marL="0">
              <a:buNone/>
            </a:pPr>
            <a:r>
              <a:rPr lang="en-US" sz="1050" b="1" dirty="0">
                <a:solidFill>
                  <a:schemeClr val="accent3"/>
                </a:solidFill>
              </a:rPr>
              <a:t>Inpatient</a:t>
            </a:r>
            <a:endParaRPr lang="en-US" sz="1050" dirty="0"/>
          </a:p>
        </p:txBody>
      </p:sp>
      <p:sp>
        <p:nvSpPr>
          <p:cNvPr id="46" name="Pill Facilities"/>
          <p:cNvSpPr/>
          <p:nvPr/>
        </p:nvSpPr>
        <p:spPr>
          <a:xfrm>
            <a:off x="9204808" y="4462272"/>
            <a:ext cx="868680" cy="274320"/>
          </a:xfrm>
          <a:prstGeom prst="roundRect">
            <a:avLst>
              <a:gd name="adj" fmla="val 50000"/>
            </a:avLst>
          </a:prstGeom>
          <a:solidFill>
            <a:schemeClr val="accent4"/>
          </a:solidFill>
          <a:ln/>
        </p:spPr>
        <p:txBody>
          <a:bodyPr/>
          <a:p/>
        </p:txBody>
      </p:sp>
      <p:sp>
        <p:nvSpPr>
          <p:cNvPr id="47" name="Text 45"/>
          <p:cNvSpPr txBox="1"/>
          <p:nvPr/>
        </p:nvSpPr>
        <p:spPr>
          <a:xfrm>
            <a:off x="9204808" y="4462272"/>
            <a:ext cx="868680" cy="274320"/>
          </a:xfrm>
          <a:prstGeom prst="rect">
            <a:avLst/>
          </a:prstGeom>
          <a:noFill/>
          <a:ln/>
        </p:spPr>
        <p:txBody>
          <a:bodyPr wrap="square" lIns="0" tIns="0" rIns="0" bIns="0" rtlCol="0" anchor="ctr"/>
          <a:lstStyle/>
          <a:p>
            <a:pPr algn="ctr" indent="0" marL="0">
              <a:buNone/>
            </a:pPr>
            <a:r>
              <a:rPr lang="en-US" sz="1050" b="1" dirty="0">
                <a:solidFill>
                  <a:schemeClr val="accent3"/>
                </a:solidFill>
              </a:rPr>
              <a:t>Facilities</a:t>
            </a:r>
            <a:endParaRPr lang="en-US" sz="1050" dirty="0"/>
          </a:p>
        </p:txBody>
      </p:sp>
      <p:sp>
        <p:nvSpPr>
          <p:cNvPr id="48" name="Pill Tax"/>
          <p:cNvSpPr/>
          <p:nvPr/>
        </p:nvSpPr>
        <p:spPr>
          <a:xfrm>
            <a:off x="10164928" y="4462272"/>
            <a:ext cx="548640" cy="274320"/>
          </a:xfrm>
          <a:prstGeom prst="roundRect">
            <a:avLst>
              <a:gd name="adj" fmla="val 50000"/>
            </a:avLst>
          </a:prstGeom>
          <a:solidFill>
            <a:schemeClr val="accent4"/>
          </a:solidFill>
          <a:ln/>
        </p:spPr>
        <p:txBody>
          <a:bodyPr/>
          <a:p/>
        </p:txBody>
      </p:sp>
      <p:sp>
        <p:nvSpPr>
          <p:cNvPr id="49" name="Text 47"/>
          <p:cNvSpPr txBox="1"/>
          <p:nvPr/>
        </p:nvSpPr>
        <p:spPr>
          <a:xfrm>
            <a:off x="10164928" y="4462272"/>
            <a:ext cx="548640" cy="274320"/>
          </a:xfrm>
          <a:prstGeom prst="rect">
            <a:avLst/>
          </a:prstGeom>
          <a:noFill/>
          <a:ln/>
        </p:spPr>
        <p:txBody>
          <a:bodyPr wrap="square" lIns="0" tIns="0" rIns="0" bIns="0" rtlCol="0" anchor="ctr"/>
          <a:lstStyle/>
          <a:p>
            <a:pPr algn="ctr" indent="0" marL="0">
              <a:buNone/>
            </a:pPr>
            <a:r>
              <a:rPr lang="en-US" sz="1050" b="1" dirty="0">
                <a:solidFill>
                  <a:schemeClr val="accent3"/>
                </a:solidFill>
              </a:rPr>
              <a:t>Tax</a:t>
            </a:r>
            <a:endParaRPr lang="en-US" sz="1050" dirty="0"/>
          </a:p>
        </p:txBody>
      </p:sp>
      <p:sp>
        <p:nvSpPr>
          <p:cNvPr id="50" name="Text 48"/>
          <p:cNvSpPr txBox="1"/>
          <p:nvPr/>
        </p:nvSpPr>
        <p:spPr>
          <a:xfrm>
            <a:off x="6461608" y="4846320"/>
            <a:ext cx="1828800" cy="228600"/>
          </a:xfrm>
          <a:prstGeom prst="rect">
            <a:avLst/>
          </a:prstGeom>
          <a:noFill/>
          <a:ln/>
        </p:spPr>
        <p:txBody>
          <a:bodyPr wrap="square" lIns="0" tIns="0" rIns="0" bIns="0" rtlCol="0" anchor="ctr"/>
          <a:lstStyle/>
          <a:p>
            <a:pPr indent="0" marL="0">
              <a:buNone/>
            </a:pPr>
            <a:r>
              <a:rPr lang="en-US" sz="1100" b="1" spc="150" kern="0" dirty="0">
                <a:solidFill>
                  <a:schemeClr val="accent6"/>
                </a:solidFill>
              </a:rPr>
              <a:t>ALMOST NONE IN</a:t>
            </a:r>
            <a:endParaRPr lang="en-US" sz="1100" dirty="0"/>
          </a:p>
        </p:txBody>
      </p:sp>
      <p:sp>
        <p:nvSpPr>
          <p:cNvPr id="51" name="Pill Rayyan"/>
          <p:cNvSpPr/>
          <p:nvPr/>
        </p:nvSpPr>
        <p:spPr>
          <a:xfrm>
            <a:off x="6461608" y="5102352"/>
            <a:ext cx="777240" cy="274320"/>
          </a:xfrm>
          <a:prstGeom prst="roundRect">
            <a:avLst>
              <a:gd name="adj" fmla="val 50000"/>
            </a:avLst>
          </a:prstGeom>
          <a:solidFill>
            <a:schemeClr val="bg2"/>
          </a:solidFill>
          <a:ln/>
        </p:spPr>
        <p:txBody>
          <a:bodyPr/>
          <a:p/>
        </p:txBody>
      </p:sp>
      <p:sp>
        <p:nvSpPr>
          <p:cNvPr id="52" name="Text 50"/>
          <p:cNvSpPr txBox="1"/>
          <p:nvPr/>
        </p:nvSpPr>
        <p:spPr>
          <a:xfrm>
            <a:off x="6461608" y="5102352"/>
            <a:ext cx="777240" cy="274320"/>
          </a:xfrm>
          <a:prstGeom prst="rect">
            <a:avLst/>
          </a:prstGeom>
          <a:noFill/>
          <a:ln/>
        </p:spPr>
        <p:txBody>
          <a:bodyPr wrap="square" lIns="0" tIns="0" rIns="0" bIns="0" rtlCol="0" anchor="ctr"/>
          <a:lstStyle/>
          <a:p>
            <a:pPr algn="ctr" indent="0" marL="0">
              <a:buNone/>
            </a:pPr>
            <a:r>
              <a:rPr lang="en-US" sz="1050" b="1" dirty="0">
                <a:solidFill>
                  <a:schemeClr val="accent6"/>
                </a:solidFill>
              </a:rPr>
              <a:t>Rayyan</a:t>
            </a:r>
            <a:endParaRPr lang="en-US" sz="1050" dirty="0"/>
          </a:p>
        </p:txBody>
      </p:sp>
      <p:sp>
        <p:nvSpPr>
          <p:cNvPr id="53" name="Pill Movies"/>
          <p:cNvSpPr/>
          <p:nvPr/>
        </p:nvSpPr>
        <p:spPr>
          <a:xfrm>
            <a:off x="7330288" y="5102352"/>
            <a:ext cx="777240" cy="274320"/>
          </a:xfrm>
          <a:prstGeom prst="roundRect">
            <a:avLst>
              <a:gd name="adj" fmla="val 50000"/>
            </a:avLst>
          </a:prstGeom>
          <a:solidFill>
            <a:schemeClr val="bg2"/>
          </a:solidFill>
          <a:ln/>
        </p:spPr>
        <p:txBody>
          <a:bodyPr/>
          <a:p/>
        </p:txBody>
      </p:sp>
      <p:sp>
        <p:nvSpPr>
          <p:cNvPr id="54" name="Text 52"/>
          <p:cNvSpPr txBox="1"/>
          <p:nvPr/>
        </p:nvSpPr>
        <p:spPr>
          <a:xfrm>
            <a:off x="7330288" y="5102352"/>
            <a:ext cx="777240" cy="274320"/>
          </a:xfrm>
          <a:prstGeom prst="rect">
            <a:avLst/>
          </a:prstGeom>
          <a:noFill/>
          <a:ln/>
        </p:spPr>
        <p:txBody>
          <a:bodyPr wrap="square" lIns="0" tIns="0" rIns="0" bIns="0" rtlCol="0" anchor="ctr"/>
          <a:lstStyle/>
          <a:p>
            <a:pPr algn="ctr" indent="0" marL="0">
              <a:buNone/>
            </a:pPr>
            <a:r>
              <a:rPr lang="en-US" sz="1050" b="1" dirty="0">
                <a:solidFill>
                  <a:schemeClr val="accent6"/>
                </a:solidFill>
              </a:rPr>
              <a:t>Movies</a:t>
            </a:r>
            <a:endParaRPr lang="en-US" sz="1050" dirty="0"/>
          </a:p>
        </p:txBody>
      </p:sp>
      <p:sp>
        <p:nvSpPr>
          <p:cNvPr id="55" name="Takeaway banner"/>
          <p:cNvSpPr/>
          <p:nvPr/>
        </p:nvSpPr>
        <p:spPr>
          <a:xfrm>
            <a:off x="548640" y="5669280"/>
            <a:ext cx="11094415" cy="411480"/>
          </a:xfrm>
          <a:prstGeom prst="roundRect">
            <a:avLst>
              <a:gd name="adj" fmla="val 17778"/>
            </a:avLst>
          </a:prstGeom>
          <a:solidFill>
            <a:schemeClr val="tx1"/>
          </a:solidFill>
          <a:ln/>
        </p:spPr>
        <p:txBody>
          <a:bodyPr/>
          <a:p/>
        </p:txBody>
      </p:sp>
      <p:sp>
        <p:nvSpPr>
          <p:cNvPr id="56" name="Text 54"/>
          <p:cNvSpPr txBox="1"/>
          <p:nvPr/>
        </p:nvSpPr>
        <p:spPr>
          <a:xfrm>
            <a:off x="822960" y="5669280"/>
            <a:ext cx="10545775" cy="411480"/>
          </a:xfrm>
          <a:prstGeom prst="rect">
            <a:avLst/>
          </a:prstGeom>
          <a:noFill/>
          <a:ln/>
        </p:spPr>
        <p:txBody>
          <a:bodyPr wrap="square" lIns="0" tIns="0" rIns="0" bIns="0" rtlCol="0" anchor="ctr"/>
          <a:lstStyle/>
          <a:p>
            <a:pPr indent="0" marL="0">
              <a:buNone/>
            </a:pPr>
            <a:r>
              <a:rPr lang="en-US" sz="1400" b="1" dirty="0">
                <a:solidFill>
                  <a:schemeClr val="accent1"/>
                </a:solidFill>
              </a:rPr>
              <a:t>Takeaway: </a:t>
            </a:r>
            <a:pPr indent="0" marL="0">
              <a:buNone/>
            </a:pPr>
            <a:r>
              <a:rPr lang="en-US" sz="1400" dirty="0">
                <a:solidFill>
                  <a:schemeClr val="bg2"/>
                </a:solidFill>
              </a:rPr>
              <a:t>cheap detectors are one signal for choosing candidate cells, not a detector on their own</a:t>
            </a:r>
            <a:endParaRPr lang="en-US" sz="14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3"/>
                </a:solidFill>
              </a:rPr>
              <a:t>FAIR BASELINES</a:t>
            </a:r>
            <a:endParaRPr lang="en-US" sz="1100" dirty="0"/>
          </a:p>
        </p:txBody>
      </p:sp>
      <p:sp>
        <p:nvSpPr>
          <p:cNvPr id="3" name="Text 2"/>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2600" b="1" dirty="0">
                <a:solidFill>
                  <a:schemeClr val="tx1"/>
                </a:solidFill>
              </a:rPr>
              <a:t>Fair baselines: the same held-out rows for every method</a:t>
            </a:r>
            <a:endParaRPr lang="en-US" sz="2600" dirty="0"/>
          </a:p>
        </p:txBody>
      </p:sp>
      <p:sp>
        <p:nvSpPr>
          <p:cNvPr id="5" name="Competitors card"/>
          <p:cNvSpPr/>
          <p:nvPr/>
        </p:nvSpPr>
        <p:spPr>
          <a:xfrm>
            <a:off x="548640" y="1417320"/>
            <a:ext cx="5440680" cy="3749040"/>
          </a:xfrm>
          <a:prstGeom prst="roundRect">
            <a:avLst>
              <a:gd name="adj" fmla="val 1951"/>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6" name="Text 4"/>
          <p:cNvSpPr txBox="1"/>
          <p:nvPr/>
        </p:nvSpPr>
        <p:spPr>
          <a:xfrm>
            <a:off x="822960" y="1581912"/>
            <a:ext cx="489204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HOW COMPETITORS PREPARE DATA</a:t>
            </a:r>
            <a:endParaRPr lang="en-US" sz="1100" dirty="0"/>
          </a:p>
        </p:txBody>
      </p:sp>
      <p:sp>
        <p:nvSpPr>
          <p:cNvPr id="7" name="Divider"/>
          <p:cNvSpPr/>
          <p:nvPr/>
        </p:nvSpPr>
        <p:spPr>
          <a:xfrm>
            <a:off x="822960" y="1920240"/>
            <a:ext cx="4892040" cy="0"/>
          </a:xfrm>
          <a:prstGeom prst="line">
            <a:avLst/>
          </a:prstGeom>
          <a:noFill/>
          <a:ln w="9525">
            <a:solidFill>
              <a:schemeClr val="accent4"/>
            </a:solidFill>
            <a:prstDash val="solid"/>
          </a:ln>
        </p:spPr>
        <p:txBody>
          <a:bodyPr/>
          <a:p/>
        </p:txBody>
      </p:sp>
      <p:sp>
        <p:nvSpPr>
          <p:cNvPr id="8" name="Text 6"/>
          <p:cNvSpPr txBox="1"/>
          <p:nvPr/>
        </p:nvSpPr>
        <p:spPr>
          <a:xfrm>
            <a:off x="822960" y="1920240"/>
            <a:ext cx="1280160" cy="640080"/>
          </a:xfrm>
          <a:prstGeom prst="rect">
            <a:avLst/>
          </a:prstGeom>
          <a:noFill/>
          <a:ln/>
        </p:spPr>
        <p:txBody>
          <a:bodyPr wrap="square" lIns="0" tIns="0" rIns="0" bIns="0" rtlCol="0" anchor="ctr"/>
          <a:lstStyle/>
          <a:p>
            <a:pPr indent="0" marL="0">
              <a:buNone/>
            </a:pPr>
            <a:r>
              <a:rPr lang="en-US" sz="1300" b="1" dirty="0">
                <a:solidFill>
                  <a:schemeClr val="accent3"/>
                </a:solidFill>
              </a:rPr>
              <a:t>Raha, Baran</a:t>
            </a:r>
            <a:endParaRPr lang="en-US" sz="1300" dirty="0"/>
          </a:p>
        </p:txBody>
      </p:sp>
      <p:sp>
        <p:nvSpPr>
          <p:cNvPr id="9" name="Text 7"/>
          <p:cNvSpPr txBox="1"/>
          <p:nvPr/>
        </p:nvSpPr>
        <p:spPr>
          <a:xfrm>
            <a:off x="2194560" y="1920240"/>
            <a:ext cx="3520440" cy="640080"/>
          </a:xfrm>
          <a:prstGeom prst="rect">
            <a:avLst/>
          </a:prstGeom>
          <a:noFill/>
          <a:ln/>
        </p:spPr>
        <p:txBody>
          <a:bodyPr wrap="square" lIns="0" tIns="0" rIns="0" bIns="0" rtlCol="0" anchor="ctr"/>
          <a:lstStyle/>
          <a:p>
            <a:pPr indent="0" marL="0">
              <a:buNone/>
            </a:pPr>
            <a:r>
              <a:rPr lang="en-US" sz="1200" dirty="0">
                <a:solidFill>
                  <a:schemeClr val="tx1"/>
                </a:solidFill>
              </a:rPr>
              <a:t>Labels and scoring on the same table; 20 labelled tuples</a:t>
            </a:r>
            <a:endParaRPr lang="en-US" sz="1200" dirty="0"/>
          </a:p>
        </p:txBody>
      </p:sp>
      <p:sp>
        <p:nvSpPr>
          <p:cNvPr id="10" name="Divider"/>
          <p:cNvSpPr/>
          <p:nvPr/>
        </p:nvSpPr>
        <p:spPr>
          <a:xfrm>
            <a:off x="822960" y="2560320"/>
            <a:ext cx="4892040" cy="0"/>
          </a:xfrm>
          <a:prstGeom prst="line">
            <a:avLst/>
          </a:prstGeom>
          <a:noFill/>
          <a:ln w="9525">
            <a:solidFill>
              <a:schemeClr val="accent4"/>
            </a:solidFill>
            <a:prstDash val="solid"/>
          </a:ln>
        </p:spPr>
        <p:txBody>
          <a:bodyPr/>
          <a:p/>
        </p:txBody>
      </p:sp>
      <p:sp>
        <p:nvSpPr>
          <p:cNvPr id="11" name="Text 9"/>
          <p:cNvSpPr txBox="1"/>
          <p:nvPr/>
        </p:nvSpPr>
        <p:spPr>
          <a:xfrm>
            <a:off x="822960" y="2560320"/>
            <a:ext cx="1280160" cy="640080"/>
          </a:xfrm>
          <a:prstGeom prst="rect">
            <a:avLst/>
          </a:prstGeom>
          <a:noFill/>
          <a:ln/>
        </p:spPr>
        <p:txBody>
          <a:bodyPr wrap="square" lIns="0" tIns="0" rIns="0" bIns="0" rtlCol="0" anchor="ctr"/>
          <a:lstStyle/>
          <a:p>
            <a:pPr indent="0" marL="0">
              <a:buNone/>
            </a:pPr>
            <a:r>
              <a:rPr lang="en-US" sz="1300" b="1" dirty="0">
                <a:solidFill>
                  <a:schemeClr val="accent3"/>
                </a:solidFill>
              </a:rPr>
              <a:t>HoloClean</a:t>
            </a:r>
            <a:endParaRPr lang="en-US" sz="1300" dirty="0"/>
          </a:p>
        </p:txBody>
      </p:sp>
      <p:sp>
        <p:nvSpPr>
          <p:cNvPr id="12" name="Text 10"/>
          <p:cNvSpPr txBox="1"/>
          <p:nvPr/>
        </p:nvSpPr>
        <p:spPr>
          <a:xfrm>
            <a:off x="2194560" y="2560320"/>
            <a:ext cx="3520440" cy="640080"/>
          </a:xfrm>
          <a:prstGeom prst="rect">
            <a:avLst/>
          </a:prstGeom>
          <a:noFill/>
          <a:ln/>
        </p:spPr>
        <p:txBody>
          <a:bodyPr wrap="square" lIns="0" tIns="0" rIns="0" bIns="0" rtlCol="0" anchor="ctr"/>
          <a:lstStyle/>
          <a:p>
            <a:pPr indent="0" marL="0">
              <a:buNone/>
            </a:pPr>
            <a:r>
              <a:rPr lang="en-US" sz="1200" dirty="0">
                <a:solidFill>
                  <a:schemeClr val="tx1"/>
                </a:solidFill>
              </a:rPr>
              <a:t>Hand-written constraints, whole table</a:t>
            </a:r>
            <a:endParaRPr lang="en-US" sz="1200" dirty="0"/>
          </a:p>
        </p:txBody>
      </p:sp>
      <p:sp>
        <p:nvSpPr>
          <p:cNvPr id="13" name="Divider"/>
          <p:cNvSpPr/>
          <p:nvPr/>
        </p:nvSpPr>
        <p:spPr>
          <a:xfrm>
            <a:off x="822960" y="3200400"/>
            <a:ext cx="4892040" cy="0"/>
          </a:xfrm>
          <a:prstGeom prst="line">
            <a:avLst/>
          </a:prstGeom>
          <a:noFill/>
          <a:ln w="9525">
            <a:solidFill>
              <a:schemeClr val="accent4"/>
            </a:solidFill>
            <a:prstDash val="solid"/>
          </a:ln>
        </p:spPr>
        <p:txBody>
          <a:bodyPr/>
          <a:p/>
        </p:txBody>
      </p:sp>
      <p:sp>
        <p:nvSpPr>
          <p:cNvPr id="14" name="Text 12"/>
          <p:cNvSpPr txBox="1"/>
          <p:nvPr/>
        </p:nvSpPr>
        <p:spPr>
          <a:xfrm>
            <a:off x="822960" y="3200400"/>
            <a:ext cx="1280160" cy="640080"/>
          </a:xfrm>
          <a:prstGeom prst="rect">
            <a:avLst/>
          </a:prstGeom>
          <a:noFill/>
          <a:ln/>
        </p:spPr>
        <p:txBody>
          <a:bodyPr wrap="square" lIns="0" tIns="0" rIns="0" bIns="0" rtlCol="0" anchor="ctr"/>
          <a:lstStyle/>
          <a:p>
            <a:pPr indent="0" marL="0">
              <a:buNone/>
            </a:pPr>
            <a:r>
              <a:rPr lang="en-US" sz="1300" b="1" dirty="0">
                <a:solidFill>
                  <a:schemeClr val="accent3"/>
                </a:solidFill>
              </a:rPr>
              <a:t>TableEG</a:t>
            </a:r>
            <a:endParaRPr lang="en-US" sz="1300" dirty="0"/>
          </a:p>
        </p:txBody>
      </p:sp>
      <p:sp>
        <p:nvSpPr>
          <p:cNvPr id="15" name="Text 13"/>
          <p:cNvSpPr txBox="1"/>
          <p:nvPr/>
        </p:nvSpPr>
        <p:spPr>
          <a:xfrm>
            <a:off x="2194560" y="3200400"/>
            <a:ext cx="3520440" cy="640080"/>
          </a:xfrm>
          <a:prstGeom prst="rect">
            <a:avLst/>
          </a:prstGeom>
          <a:noFill/>
          <a:ln/>
        </p:spPr>
        <p:txBody>
          <a:bodyPr wrap="square" lIns="0" tIns="0" rIns="0" bIns="0" rtlCol="0" anchor="ctr"/>
          <a:lstStyle/>
          <a:p>
            <a:pPr indent="0" marL="0">
              <a:buNone/>
            </a:pPr>
            <a:r>
              <a:rPr lang="en-US" sz="1200" dirty="0">
                <a:solidFill>
                  <a:schemeClr val="tx1"/>
                </a:solidFill>
              </a:rPr>
              <a:t>Its released training files contain our unseen test tables, so we do not use them</a:t>
            </a:r>
            <a:endParaRPr lang="en-US" sz="1200" dirty="0"/>
          </a:p>
        </p:txBody>
      </p:sp>
      <p:sp>
        <p:nvSpPr>
          <p:cNvPr id="16" name="Divider"/>
          <p:cNvSpPr/>
          <p:nvPr/>
        </p:nvSpPr>
        <p:spPr>
          <a:xfrm>
            <a:off x="822960" y="3840480"/>
            <a:ext cx="4892040" cy="0"/>
          </a:xfrm>
          <a:prstGeom prst="line">
            <a:avLst/>
          </a:prstGeom>
          <a:noFill/>
          <a:ln w="9525">
            <a:solidFill>
              <a:schemeClr val="accent4"/>
            </a:solidFill>
            <a:prstDash val="solid"/>
          </a:ln>
        </p:spPr>
        <p:txBody>
          <a:bodyPr/>
          <a:p/>
        </p:txBody>
      </p:sp>
      <p:sp>
        <p:nvSpPr>
          <p:cNvPr id="17" name="Text 15"/>
          <p:cNvSpPr txBox="1"/>
          <p:nvPr/>
        </p:nvSpPr>
        <p:spPr>
          <a:xfrm>
            <a:off x="822960" y="3840480"/>
            <a:ext cx="1280160" cy="640080"/>
          </a:xfrm>
          <a:prstGeom prst="rect">
            <a:avLst/>
          </a:prstGeom>
          <a:noFill/>
          <a:ln/>
        </p:spPr>
        <p:txBody>
          <a:bodyPr wrap="square" lIns="0" tIns="0" rIns="0" bIns="0" rtlCol="0" anchor="ctr"/>
          <a:lstStyle/>
          <a:p>
            <a:pPr indent="0" marL="0">
              <a:buNone/>
            </a:pPr>
            <a:r>
              <a:rPr lang="en-US" sz="1300" b="1" dirty="0">
                <a:solidFill>
                  <a:schemeClr val="accent3"/>
                </a:solidFill>
              </a:rPr>
              <a:t>Jellyfish</a:t>
            </a:r>
            <a:endParaRPr lang="en-US" sz="1300" dirty="0"/>
          </a:p>
        </p:txBody>
      </p:sp>
      <p:sp>
        <p:nvSpPr>
          <p:cNvPr id="18" name="Text 16"/>
          <p:cNvSpPr txBox="1"/>
          <p:nvPr/>
        </p:nvSpPr>
        <p:spPr>
          <a:xfrm>
            <a:off x="2194560" y="3840480"/>
            <a:ext cx="3520440" cy="640080"/>
          </a:xfrm>
          <a:prstGeom prst="rect">
            <a:avLst/>
          </a:prstGeom>
          <a:noFill/>
          <a:ln/>
        </p:spPr>
        <p:txBody>
          <a:bodyPr wrap="square" lIns="0" tIns="0" rIns="0" bIns="0" rtlCol="0" anchor="ctr"/>
          <a:lstStyle/>
          <a:p>
            <a:pPr indent="0" marL="0">
              <a:buNone/>
            </a:pPr>
            <a:r>
              <a:rPr lang="en-US" sz="1200" dirty="0">
                <a:solidFill>
                  <a:schemeClr val="tx1"/>
                </a:solidFill>
              </a:rPr>
              <a:t>Hospital was in its training data</a:t>
            </a:r>
            <a:endParaRPr lang="en-US" sz="1200" dirty="0"/>
          </a:p>
        </p:txBody>
      </p:sp>
      <p:sp>
        <p:nvSpPr>
          <p:cNvPr id="19" name="Divider"/>
          <p:cNvSpPr/>
          <p:nvPr/>
        </p:nvSpPr>
        <p:spPr>
          <a:xfrm>
            <a:off x="822960" y="4480560"/>
            <a:ext cx="4892040" cy="0"/>
          </a:xfrm>
          <a:prstGeom prst="line">
            <a:avLst/>
          </a:prstGeom>
          <a:noFill/>
          <a:ln w="9525">
            <a:solidFill>
              <a:schemeClr val="accent4"/>
            </a:solidFill>
            <a:prstDash val="solid"/>
          </a:ln>
        </p:spPr>
        <p:txBody>
          <a:bodyPr/>
          <a:p/>
        </p:txBody>
      </p:sp>
      <p:sp>
        <p:nvSpPr>
          <p:cNvPr id="20" name="Text 18"/>
          <p:cNvSpPr txBox="1"/>
          <p:nvPr/>
        </p:nvSpPr>
        <p:spPr>
          <a:xfrm>
            <a:off x="822960" y="4480560"/>
            <a:ext cx="1280160" cy="640080"/>
          </a:xfrm>
          <a:prstGeom prst="rect">
            <a:avLst/>
          </a:prstGeom>
          <a:noFill/>
          <a:ln/>
        </p:spPr>
        <p:txBody>
          <a:bodyPr wrap="square" lIns="0" tIns="0" rIns="0" bIns="0" rtlCol="0" anchor="ctr"/>
          <a:lstStyle/>
          <a:p>
            <a:pPr indent="0" marL="0">
              <a:buNone/>
            </a:pPr>
            <a:r>
              <a:rPr lang="en-US" sz="1300" b="1" dirty="0">
                <a:solidFill>
                  <a:schemeClr val="accent3"/>
                </a:solidFill>
              </a:rPr>
              <a:t>ZeroED</a:t>
            </a:r>
            <a:endParaRPr lang="en-US" sz="1300" dirty="0"/>
          </a:p>
        </p:txBody>
      </p:sp>
      <p:sp>
        <p:nvSpPr>
          <p:cNvPr id="21" name="Text 19"/>
          <p:cNvSpPr txBox="1"/>
          <p:nvPr/>
        </p:nvSpPr>
        <p:spPr>
          <a:xfrm>
            <a:off x="2194560" y="4480560"/>
            <a:ext cx="3520440" cy="640080"/>
          </a:xfrm>
          <a:prstGeom prst="rect">
            <a:avLst/>
          </a:prstGeom>
          <a:noFill/>
          <a:ln/>
        </p:spPr>
        <p:txBody>
          <a:bodyPr wrap="square" lIns="0" tIns="0" rIns="0" bIns="0" rtlCol="0" anchor="ctr"/>
          <a:lstStyle/>
          <a:p>
            <a:pPr indent="0" marL="0">
              <a:buNone/>
            </a:pPr>
            <a:r>
              <a:rPr lang="en-US" sz="1200" dirty="0">
                <a:solidFill>
                  <a:schemeClr val="tx1"/>
                </a:solidFill>
              </a:rPr>
              <a:t>Zero-shot with open models; exposure of public tables to pre-training is an open risk</a:t>
            </a:r>
            <a:endParaRPr lang="en-US" sz="1200" dirty="0"/>
          </a:p>
        </p:txBody>
      </p:sp>
      <p:sp>
        <p:nvSpPr>
          <p:cNvPr id="22" name="Our protocol panel"/>
          <p:cNvSpPr/>
          <p:nvPr/>
        </p:nvSpPr>
        <p:spPr>
          <a:xfrm>
            <a:off x="6172200" y="1417320"/>
            <a:ext cx="5470855" cy="3749040"/>
          </a:xfrm>
          <a:prstGeom prst="roundRect">
            <a:avLst>
              <a:gd name="adj" fmla="val 1951"/>
            </a:avLst>
          </a:prstGeom>
          <a:solidFill>
            <a:schemeClr val="tx1"/>
          </a:solidFill>
          <a:ln/>
        </p:spPr>
        <p:txBody>
          <a:bodyPr/>
          <a:p/>
        </p:txBody>
      </p:sp>
      <p:sp>
        <p:nvSpPr>
          <p:cNvPr id="23" name="Text 21"/>
          <p:cNvSpPr txBox="1"/>
          <p:nvPr/>
        </p:nvSpPr>
        <p:spPr>
          <a:xfrm>
            <a:off x="6446520" y="1581912"/>
            <a:ext cx="4922215"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OUR PROTOCOL</a:t>
            </a:r>
            <a:endParaRPr lang="en-US" sz="1100" dirty="0"/>
          </a:p>
        </p:txBody>
      </p:sp>
      <p:sp>
        <p:nvSpPr>
          <p:cNvPr id="24" name="Step badge 1"/>
          <p:cNvSpPr/>
          <p:nvPr/>
        </p:nvSpPr>
        <p:spPr>
          <a:xfrm>
            <a:off x="6446520" y="2146554"/>
            <a:ext cx="347472" cy="347472"/>
          </a:xfrm>
          <a:prstGeom prst="ellipse">
            <a:avLst/>
          </a:prstGeom>
          <a:solidFill>
            <a:schemeClr val="accent1"/>
          </a:solidFill>
          <a:ln/>
        </p:spPr>
        <p:txBody>
          <a:bodyPr/>
          <a:p/>
        </p:txBody>
      </p:sp>
      <p:sp>
        <p:nvSpPr>
          <p:cNvPr id="25" name="Text 23"/>
          <p:cNvSpPr txBox="1"/>
          <p:nvPr/>
        </p:nvSpPr>
        <p:spPr>
          <a:xfrm>
            <a:off x="6446520" y="2146554"/>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6" name="Text 24"/>
          <p:cNvSpPr txBox="1"/>
          <p:nvPr/>
        </p:nvSpPr>
        <p:spPr>
          <a:xfrm>
            <a:off x="6995160" y="1920240"/>
            <a:ext cx="4373575" cy="800100"/>
          </a:xfrm>
          <a:prstGeom prst="rect">
            <a:avLst/>
          </a:prstGeom>
          <a:noFill/>
          <a:ln/>
        </p:spPr>
        <p:txBody>
          <a:bodyPr wrap="square" lIns="0" tIns="0" rIns="0" bIns="0" rtlCol="0" anchor="ctr"/>
          <a:lstStyle/>
          <a:p>
            <a:pPr indent="0" marL="0">
              <a:buNone/>
            </a:pPr>
            <a:r>
              <a:rPr lang="en-US" sz="1200" dirty="0">
                <a:solidFill>
                  <a:schemeClr val="bg2"/>
                </a:solidFill>
              </a:rPr>
              <a:t>All methods, ContextGuard included, are scored on each table’s test split (entity-aware)</a:t>
            </a:r>
            <a:endParaRPr lang="en-US" sz="1200" dirty="0"/>
          </a:p>
        </p:txBody>
      </p:sp>
      <p:sp>
        <p:nvSpPr>
          <p:cNvPr id="27" name="Step badge 2"/>
          <p:cNvSpPr/>
          <p:nvPr/>
        </p:nvSpPr>
        <p:spPr>
          <a:xfrm>
            <a:off x="6446520" y="2946654"/>
            <a:ext cx="347472" cy="347472"/>
          </a:xfrm>
          <a:prstGeom prst="ellipse">
            <a:avLst/>
          </a:prstGeom>
          <a:solidFill>
            <a:schemeClr val="accent1"/>
          </a:solidFill>
          <a:ln/>
        </p:spPr>
        <p:txBody>
          <a:bodyPr/>
          <a:p/>
        </p:txBody>
      </p:sp>
      <p:sp>
        <p:nvSpPr>
          <p:cNvPr id="28" name="Text 26"/>
          <p:cNvSpPr txBox="1"/>
          <p:nvPr/>
        </p:nvSpPr>
        <p:spPr>
          <a:xfrm>
            <a:off x="6446520" y="2946654"/>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9" name="Text 27"/>
          <p:cNvSpPr txBox="1"/>
          <p:nvPr/>
        </p:nvSpPr>
        <p:spPr>
          <a:xfrm>
            <a:off x="6995160" y="2720340"/>
            <a:ext cx="4373575" cy="800100"/>
          </a:xfrm>
          <a:prstGeom prst="rect">
            <a:avLst/>
          </a:prstGeom>
          <a:noFill/>
          <a:ln/>
        </p:spPr>
        <p:txBody>
          <a:bodyPr wrap="square" lIns="0" tIns="0" rIns="0" bIns="0" rtlCol="0" anchor="ctr"/>
          <a:lstStyle/>
          <a:p>
            <a:pPr indent="0" marL="0">
              <a:buNone/>
            </a:pPr>
            <a:r>
              <a:rPr lang="en-US" sz="1200" dirty="0">
                <a:solidFill>
                  <a:schemeClr val="bg2"/>
                </a:solidFill>
              </a:rPr>
              <a:t>B3’s 20 labelled rows come from the test table and are excluded from every method’s scoring (Rule D8, verified for all five tables)</a:t>
            </a:r>
            <a:endParaRPr lang="en-US" sz="1200" dirty="0"/>
          </a:p>
        </p:txBody>
      </p:sp>
      <p:sp>
        <p:nvSpPr>
          <p:cNvPr id="30" name="Step badge 3"/>
          <p:cNvSpPr/>
          <p:nvPr/>
        </p:nvSpPr>
        <p:spPr>
          <a:xfrm>
            <a:off x="6446520" y="3746754"/>
            <a:ext cx="347472" cy="347472"/>
          </a:xfrm>
          <a:prstGeom prst="ellipse">
            <a:avLst/>
          </a:prstGeom>
          <a:solidFill>
            <a:schemeClr val="accent1"/>
          </a:solidFill>
          <a:ln/>
        </p:spPr>
        <p:txBody>
          <a:bodyPr/>
          <a:p/>
        </p:txBody>
      </p:sp>
      <p:sp>
        <p:nvSpPr>
          <p:cNvPr id="31" name="Text 29"/>
          <p:cNvSpPr txBox="1"/>
          <p:nvPr/>
        </p:nvSpPr>
        <p:spPr>
          <a:xfrm>
            <a:off x="6446520" y="3746754"/>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32" name="Text 30"/>
          <p:cNvSpPr txBox="1"/>
          <p:nvPr/>
        </p:nvSpPr>
        <p:spPr>
          <a:xfrm>
            <a:off x="6995160" y="3520440"/>
            <a:ext cx="4373575" cy="800100"/>
          </a:xfrm>
          <a:prstGeom prst="rect">
            <a:avLst/>
          </a:prstGeom>
          <a:noFill/>
          <a:ln/>
        </p:spPr>
        <p:txBody>
          <a:bodyPr wrap="square" lIns="0" tIns="0" rIns="0" bIns="0" rtlCol="0" anchor="ctr"/>
          <a:lstStyle/>
          <a:p>
            <a:pPr indent="0" marL="0">
              <a:buNone/>
            </a:pPr>
            <a:r>
              <a:rPr lang="en-US" sz="1200" dirty="0">
                <a:solidFill>
                  <a:schemeClr val="bg2"/>
                </a:solidFill>
              </a:rPr>
              <a:t>B1 gets constraints mined automatically on the test table: Hospital 67, Flights 7, Beers 9, Rayyan 0, Movies 1</a:t>
            </a:r>
            <a:endParaRPr lang="en-US" sz="1200" dirty="0"/>
          </a:p>
        </p:txBody>
      </p:sp>
      <p:sp>
        <p:nvSpPr>
          <p:cNvPr id="33" name="Step badge 4"/>
          <p:cNvSpPr/>
          <p:nvPr/>
        </p:nvSpPr>
        <p:spPr>
          <a:xfrm>
            <a:off x="6446520" y="4546854"/>
            <a:ext cx="347472" cy="347472"/>
          </a:xfrm>
          <a:prstGeom prst="ellipse">
            <a:avLst/>
          </a:prstGeom>
          <a:solidFill>
            <a:schemeClr val="accent1"/>
          </a:solidFill>
          <a:ln/>
        </p:spPr>
        <p:txBody>
          <a:bodyPr/>
          <a:p/>
        </p:txBody>
      </p:sp>
      <p:sp>
        <p:nvSpPr>
          <p:cNvPr id="34" name="Text 32"/>
          <p:cNvSpPr txBox="1"/>
          <p:nvPr/>
        </p:nvSpPr>
        <p:spPr>
          <a:xfrm>
            <a:off x="6446520" y="4546854"/>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5" name="Text 33"/>
          <p:cNvSpPr txBox="1"/>
          <p:nvPr/>
        </p:nvSpPr>
        <p:spPr>
          <a:xfrm>
            <a:off x="6995160" y="4320540"/>
            <a:ext cx="4373575" cy="800100"/>
          </a:xfrm>
          <a:prstGeom prst="rect">
            <a:avLst/>
          </a:prstGeom>
          <a:noFill/>
          <a:ln/>
        </p:spPr>
        <p:txBody>
          <a:bodyPr wrap="square" lIns="0" tIns="0" rIns="0" bIns="0" rtlCol="0" anchor="ctr"/>
          <a:lstStyle/>
          <a:p>
            <a:pPr indent="0" marL="0">
              <a:buNone/>
            </a:pPr>
            <a:r>
              <a:rPr lang="en-US" sz="1200" dirty="0">
                <a:solidFill>
                  <a:schemeClr val="bg2"/>
                </a:solidFill>
              </a:rPr>
              <a:t>B2 uses Raha’s dBoost grid, chosen on the train split</a:t>
            </a:r>
            <a:endParaRPr lang="en-US" sz="1200" dirty="0"/>
          </a:p>
        </p:txBody>
      </p:sp>
      <p:sp>
        <p:nvSpPr>
          <p:cNvPr id="36" name="Test split card"/>
          <p:cNvSpPr/>
          <p:nvPr/>
        </p:nvSpPr>
        <p:spPr>
          <a:xfrm>
            <a:off x="548640" y="5349240"/>
            <a:ext cx="7132320" cy="731520"/>
          </a:xfrm>
          <a:prstGeom prst="roundRect">
            <a:avLst>
              <a:gd name="adj" fmla="val 10000"/>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37" name="Text 35"/>
          <p:cNvSpPr txBox="1"/>
          <p:nvPr/>
        </p:nvSpPr>
        <p:spPr>
          <a:xfrm>
            <a:off x="777240" y="5422392"/>
            <a:ext cx="667512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ONE TEST SPLIT, SAME ROWS FOR EVERY METHOD (NOT TO SCALE)</a:t>
            </a:r>
            <a:endParaRPr lang="en-US" sz="1100" dirty="0"/>
          </a:p>
        </p:txBody>
      </p:sp>
      <p:sp>
        <p:nvSpPr>
          <p:cNvPr id="38" name="Scored rows"/>
          <p:cNvSpPr/>
          <p:nvPr/>
        </p:nvSpPr>
        <p:spPr>
          <a:xfrm>
            <a:off x="777240" y="5733288"/>
            <a:ext cx="5303520" cy="274320"/>
          </a:xfrm>
          <a:prstGeom prst="rect">
            <a:avLst/>
          </a:prstGeom>
          <a:solidFill>
            <a:schemeClr val="accent1"/>
          </a:solidFill>
          <a:ln/>
        </p:spPr>
        <p:txBody>
          <a:bodyPr/>
          <a:p/>
        </p:txBody>
      </p:sp>
      <p:sp>
        <p:nvSpPr>
          <p:cNvPr id="39" name="Labelled rows"/>
          <p:cNvSpPr/>
          <p:nvPr/>
        </p:nvSpPr>
        <p:spPr>
          <a:xfrm>
            <a:off x="6080760" y="5733288"/>
            <a:ext cx="1371600" cy="274320"/>
          </a:xfrm>
          <a:prstGeom prst="rect">
            <a:avLst/>
          </a:prstGeom>
          <a:solidFill>
            <a:schemeClr val="accent2"/>
          </a:solidFill>
          <a:ln/>
        </p:spPr>
        <p:txBody>
          <a:bodyPr/>
          <a:p/>
        </p:txBody>
      </p:sp>
      <p:sp>
        <p:nvSpPr>
          <p:cNvPr id="40" name="Text 38"/>
          <p:cNvSpPr txBox="1"/>
          <p:nvPr/>
        </p:nvSpPr>
        <p:spPr>
          <a:xfrm>
            <a:off x="777240" y="5733288"/>
            <a:ext cx="5303520" cy="274320"/>
          </a:xfrm>
          <a:prstGeom prst="rect">
            <a:avLst/>
          </a:prstGeom>
          <a:noFill/>
          <a:ln/>
        </p:spPr>
        <p:txBody>
          <a:bodyPr wrap="square" lIns="0" tIns="0" rIns="0" bIns="0" rtlCol="0" anchor="ctr"/>
          <a:lstStyle/>
          <a:p>
            <a:pPr algn="ctr" indent="0" marL="0">
              <a:buNone/>
            </a:pPr>
            <a:r>
              <a:rPr lang="en-US" sz="1100" b="1" dirty="0">
                <a:solidFill>
                  <a:schemeClr val="tx1"/>
                </a:solidFill>
              </a:rPr>
              <a:t>scored rows: identical for ContextGuard, B1, B2, B3</a:t>
            </a:r>
            <a:endParaRPr lang="en-US" sz="1100" dirty="0"/>
          </a:p>
        </p:txBody>
      </p:sp>
      <p:sp>
        <p:nvSpPr>
          <p:cNvPr id="41" name="Text 39"/>
          <p:cNvSpPr txBox="1"/>
          <p:nvPr/>
        </p:nvSpPr>
        <p:spPr>
          <a:xfrm>
            <a:off x="6080760" y="5733288"/>
            <a:ext cx="1371600" cy="274320"/>
          </a:xfrm>
          <a:prstGeom prst="rect">
            <a:avLst/>
          </a:prstGeom>
          <a:noFill/>
          <a:ln/>
        </p:spPr>
        <p:txBody>
          <a:bodyPr wrap="square" lIns="0" tIns="0" rIns="0" bIns="0" rtlCol="0" anchor="ctr"/>
          <a:lstStyle/>
          <a:p>
            <a:pPr algn="ctr" indent="0" marL="0">
              <a:buNone/>
            </a:pPr>
            <a:r>
              <a:rPr lang="en-US" sz="1000" b="1" dirty="0">
                <a:solidFill>
                  <a:schemeClr val="tx1"/>
                </a:solidFill>
              </a:rPr>
              <a:t>20 labelled, unscored</a:t>
            </a:r>
            <a:endParaRPr lang="en-US" sz="1000" dirty="0"/>
          </a:p>
        </p:txBody>
      </p:sp>
      <p:sp>
        <p:nvSpPr>
          <p:cNvPr id="42" name="Not yet done card"/>
          <p:cNvSpPr/>
          <p:nvPr/>
        </p:nvSpPr>
        <p:spPr>
          <a:xfrm>
            <a:off x="7863840" y="5349240"/>
            <a:ext cx="3779215" cy="731520"/>
          </a:xfrm>
          <a:prstGeom prst="roundRect">
            <a:avLst>
              <a:gd name="adj" fmla="val 10000"/>
            </a:avLst>
          </a:prstGeom>
          <a:solidFill>
            <a:schemeClr val="accent5"/>
          </a:solidFill>
          <a:ln/>
        </p:spPr>
        <p:txBody>
          <a:bodyPr/>
          <a:p/>
        </p:txBody>
      </p:sp>
      <p:sp>
        <p:nvSpPr>
          <p:cNvPr id="43" name="Text 41"/>
          <p:cNvSpPr txBox="1"/>
          <p:nvPr/>
        </p:nvSpPr>
        <p:spPr>
          <a:xfrm>
            <a:off x="8092440" y="5349240"/>
            <a:ext cx="3322015" cy="731520"/>
          </a:xfrm>
          <a:prstGeom prst="rect">
            <a:avLst/>
          </a:prstGeom>
          <a:noFill/>
          <a:ln/>
        </p:spPr>
        <p:txBody>
          <a:bodyPr wrap="square" lIns="0" tIns="0" rIns="0" bIns="0" rtlCol="0" anchor="ctr"/>
          <a:lstStyle/>
          <a:p>
            <a:pPr indent="0" marL="0">
              <a:buNone/>
            </a:pPr>
            <a:r>
              <a:rPr lang="en-US" sz="1200" b="1" dirty="0">
                <a:solidFill>
                  <a:schemeClr val="tx1"/>
                </a:solidFill>
              </a:rPr>
              <a:t>Not yet done: </a:t>
            </a:r>
            <a:pPr indent="0" marL="0">
              <a:buNone/>
            </a:pPr>
            <a:r>
              <a:rPr lang="en-US" sz="1200" dirty="0">
                <a:solidFill>
                  <a:schemeClr val="tx1"/>
                </a:solidFill>
              </a:rPr>
              <a:t>first runs of HoloClean, dBoost and Raha on these files (Milestone 3)</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FROM TABLES TO TRAINING EXAMPLES</a:t>
            </a:r>
            <a:endParaRPr lang="en-US" sz="1100" dirty="0"/>
          </a:p>
        </p:txBody>
      </p:sp>
      <p:sp>
        <p:nvSpPr>
          <p:cNvPr id="3" name="Text 2"/>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2600" b="1" dirty="0">
                <a:solidFill>
                  <a:schemeClr val="bg2"/>
                </a:solidFill>
              </a:rPr>
              <a:t>36,795 examples from the five core tables</a:t>
            </a:r>
            <a:endParaRPr lang="en-US" sz="2600" dirty="0"/>
          </a:p>
        </p:txBody>
      </p:sp>
      <p:sp>
        <p:nvSpPr>
          <p:cNvPr id="5" name="Text 3"/>
          <p:cNvSpPr txBox="1"/>
          <p:nvPr/>
        </p:nvSpPr>
        <p:spPr>
          <a:xfrm>
            <a:off x="548640" y="1417320"/>
            <a:ext cx="3977640"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PIPELINE · ONE COMMAND PER STEP</a:t>
            </a:r>
            <a:endParaRPr lang="en-US" sz="1100" dirty="0"/>
          </a:p>
        </p:txBody>
      </p:sp>
      <p:sp>
        <p:nvSpPr>
          <p:cNvPr id="6" name="Pipeline step 1"/>
          <p:cNvSpPr/>
          <p:nvPr/>
        </p:nvSpPr>
        <p:spPr>
          <a:xfrm>
            <a:off x="548640" y="1737360"/>
            <a:ext cx="3977640" cy="982980"/>
          </a:xfrm>
          <a:prstGeom prst="roundRect">
            <a:avLst>
              <a:gd name="adj" fmla="val 7442"/>
            </a:avLst>
          </a:prstGeom>
          <a:solidFill>
            <a:schemeClr val="tx2"/>
          </a:solidFill>
          <a:ln/>
        </p:spPr>
        <p:txBody>
          <a:bodyPr/>
          <a:p/>
        </p:txBody>
      </p:sp>
      <p:sp>
        <p:nvSpPr>
          <p:cNvPr id="7" name="Step badge 1"/>
          <p:cNvSpPr/>
          <p:nvPr/>
        </p:nvSpPr>
        <p:spPr>
          <a:xfrm>
            <a:off x="731520" y="2018538"/>
            <a:ext cx="420624" cy="420624"/>
          </a:xfrm>
          <a:prstGeom prst="ellipse">
            <a:avLst/>
          </a:prstGeom>
          <a:solidFill>
            <a:schemeClr val="accent1"/>
          </a:solidFill>
          <a:ln/>
        </p:spPr>
        <p:txBody>
          <a:bodyPr/>
          <a:p/>
        </p:txBody>
      </p:sp>
      <p:sp>
        <p:nvSpPr>
          <p:cNvPr id="8" name="Text 6"/>
          <p:cNvSpPr txBox="1"/>
          <p:nvPr/>
        </p:nvSpPr>
        <p:spPr>
          <a:xfrm>
            <a:off x="731520" y="2018538"/>
            <a:ext cx="420624" cy="420624"/>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9" name="Text 7"/>
          <p:cNvSpPr txBox="1"/>
          <p:nvPr/>
        </p:nvSpPr>
        <p:spPr>
          <a:xfrm>
            <a:off x="1325880" y="1828800"/>
            <a:ext cx="3063240" cy="274320"/>
          </a:xfrm>
          <a:prstGeom prst="rect">
            <a:avLst/>
          </a:prstGeom>
          <a:noFill/>
          <a:ln/>
        </p:spPr>
        <p:txBody>
          <a:bodyPr wrap="square" lIns="0" tIns="0" rIns="0" bIns="0" rtlCol="0" anchor="ctr"/>
          <a:lstStyle/>
          <a:p>
            <a:pPr indent="0" marL="0">
              <a:buNone/>
            </a:pPr>
            <a:r>
              <a:rPr lang="en-US" sz="1400" b="1" dirty="0">
                <a:solidFill>
                  <a:schemeClr val="bg2"/>
                </a:solidFill>
              </a:rPr>
              <a:t>Load and verify</a:t>
            </a:r>
            <a:endParaRPr lang="en-US" sz="1400" dirty="0"/>
          </a:p>
        </p:txBody>
      </p:sp>
      <p:sp>
        <p:nvSpPr>
          <p:cNvPr id="10" name="Text 8"/>
          <p:cNvSpPr txBox="1"/>
          <p:nvPr/>
        </p:nvSpPr>
        <p:spPr>
          <a:xfrm>
            <a:off x="1325880" y="2103120"/>
            <a:ext cx="3063240" cy="201168"/>
          </a:xfrm>
          <a:prstGeom prst="rect">
            <a:avLst/>
          </a:prstGeom>
          <a:noFill/>
          <a:ln/>
        </p:spPr>
        <p:txBody>
          <a:bodyPr wrap="square" lIns="0" tIns="0" rIns="0" bIns="0" rtlCol="0" anchor="ctr"/>
          <a:lstStyle/>
          <a:p>
            <a:pPr indent="0" marL="0">
              <a:buNone/>
            </a:pPr>
            <a:r>
              <a:rPr lang="en-US" sz="1050" dirty="0">
                <a:solidFill>
                  <a:schemeClr val="accent1"/>
                </a:solidFill>
                <a:latin typeface="Courier New" pitchFamily="34" charset="0"/>
                <a:ea typeface="Courier New" pitchFamily="34" charset="-122"/>
                <a:cs typeface="Courier New" pitchFamily="34" charset="-120"/>
              </a:rPr>
              <a:t>load_core.py</a:t>
            </a:r>
            <a:endParaRPr lang="en-US" sz="1050" dirty="0"/>
          </a:p>
        </p:txBody>
      </p:sp>
      <p:sp>
        <p:nvSpPr>
          <p:cNvPr id="11" name="Text 9"/>
          <p:cNvSpPr txBox="1"/>
          <p:nvPr/>
        </p:nvSpPr>
        <p:spPr>
          <a:xfrm>
            <a:off x="1325880" y="2322576"/>
            <a:ext cx="3063240" cy="347472"/>
          </a:xfrm>
          <a:prstGeom prst="rect">
            <a:avLst/>
          </a:prstGeom>
          <a:noFill/>
          <a:ln/>
        </p:spPr>
        <p:txBody>
          <a:bodyPr wrap="square" lIns="0" tIns="0" rIns="0" bIns="0" rtlCol="0" anchor="t"/>
          <a:lstStyle/>
          <a:p>
            <a:pPr indent="0" marL="0">
              <a:buNone/>
            </a:pPr>
            <a:r>
              <a:rPr lang="en-US" sz="1100" dirty="0">
                <a:solidFill>
                  <a:schemeClr val="bg2"/>
                </a:solidFill>
              </a:rPr>
              <a:t>Pinned sources, SHA-256, Raha comparison rule</a:t>
            </a:r>
            <a:endParaRPr lang="en-US" sz="1100" dirty="0"/>
          </a:p>
        </p:txBody>
      </p:sp>
      <p:sp>
        <p:nvSpPr>
          <p:cNvPr id="12" name="Pipeline step 2"/>
          <p:cNvSpPr/>
          <p:nvPr/>
        </p:nvSpPr>
        <p:spPr>
          <a:xfrm>
            <a:off x="548640" y="2857500"/>
            <a:ext cx="3977640" cy="982980"/>
          </a:xfrm>
          <a:prstGeom prst="roundRect">
            <a:avLst>
              <a:gd name="adj" fmla="val 7442"/>
            </a:avLst>
          </a:prstGeom>
          <a:solidFill>
            <a:schemeClr val="tx2"/>
          </a:solidFill>
          <a:ln/>
        </p:spPr>
        <p:txBody>
          <a:bodyPr/>
          <a:p/>
        </p:txBody>
      </p:sp>
      <p:sp>
        <p:nvSpPr>
          <p:cNvPr id="13" name="Step badge 2"/>
          <p:cNvSpPr/>
          <p:nvPr/>
        </p:nvSpPr>
        <p:spPr>
          <a:xfrm>
            <a:off x="731520" y="3138678"/>
            <a:ext cx="420624" cy="420624"/>
          </a:xfrm>
          <a:prstGeom prst="ellipse">
            <a:avLst/>
          </a:prstGeom>
          <a:solidFill>
            <a:schemeClr val="accent1"/>
          </a:solidFill>
          <a:ln/>
        </p:spPr>
        <p:txBody>
          <a:bodyPr/>
          <a:p/>
        </p:txBody>
      </p:sp>
      <p:sp>
        <p:nvSpPr>
          <p:cNvPr id="14" name="Text 12"/>
          <p:cNvSpPr txBox="1"/>
          <p:nvPr/>
        </p:nvSpPr>
        <p:spPr>
          <a:xfrm>
            <a:off x="731520" y="3138678"/>
            <a:ext cx="420624" cy="420624"/>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5" name="Text 13"/>
          <p:cNvSpPr txBox="1"/>
          <p:nvPr/>
        </p:nvSpPr>
        <p:spPr>
          <a:xfrm>
            <a:off x="1325880" y="2948940"/>
            <a:ext cx="3063240" cy="274320"/>
          </a:xfrm>
          <a:prstGeom prst="rect">
            <a:avLst/>
          </a:prstGeom>
          <a:noFill/>
          <a:ln/>
        </p:spPr>
        <p:txBody>
          <a:bodyPr wrap="square" lIns="0" tIns="0" rIns="0" bIns="0" rtlCol="0" anchor="ctr"/>
          <a:lstStyle/>
          <a:p>
            <a:pPr indent="0" marL="0">
              <a:buNone/>
            </a:pPr>
            <a:r>
              <a:rPr lang="en-US" sz="1400" b="1" dirty="0">
                <a:solidFill>
                  <a:schemeClr val="bg2"/>
                </a:solidFill>
              </a:rPr>
              <a:t>Split by entity</a:t>
            </a:r>
            <a:endParaRPr lang="en-US" sz="1400" dirty="0"/>
          </a:p>
        </p:txBody>
      </p:sp>
      <p:sp>
        <p:nvSpPr>
          <p:cNvPr id="16" name="Text 14"/>
          <p:cNvSpPr txBox="1"/>
          <p:nvPr/>
        </p:nvSpPr>
        <p:spPr>
          <a:xfrm>
            <a:off x="1325880" y="3223260"/>
            <a:ext cx="3063240" cy="201168"/>
          </a:xfrm>
          <a:prstGeom prst="rect">
            <a:avLst/>
          </a:prstGeom>
          <a:noFill/>
          <a:ln/>
        </p:spPr>
        <p:txBody>
          <a:bodyPr wrap="square" lIns="0" tIns="0" rIns="0" bIns="0" rtlCol="0" anchor="ctr"/>
          <a:lstStyle/>
          <a:p>
            <a:pPr indent="0" marL="0">
              <a:buNone/>
            </a:pPr>
            <a:r>
              <a:rPr lang="en-US" sz="1050" dirty="0">
                <a:solidFill>
                  <a:schemeClr val="accent1"/>
                </a:solidFill>
                <a:latin typeface="Courier New" pitchFamily="34" charset="0"/>
                <a:ea typeface="Courier New" pitchFamily="34" charset="-122"/>
                <a:cs typeface="Courier New" pitchFamily="34" charset="-120"/>
              </a:rPr>
              <a:t>split.py</a:t>
            </a:r>
            <a:endParaRPr lang="en-US" sz="1050" dirty="0"/>
          </a:p>
        </p:txBody>
      </p:sp>
      <p:sp>
        <p:nvSpPr>
          <p:cNvPr id="17" name="Text 15"/>
          <p:cNvSpPr txBox="1"/>
          <p:nvPr/>
        </p:nvSpPr>
        <p:spPr>
          <a:xfrm>
            <a:off x="1325880" y="3442716"/>
            <a:ext cx="3063240" cy="347472"/>
          </a:xfrm>
          <a:prstGeom prst="rect">
            <a:avLst/>
          </a:prstGeom>
          <a:noFill/>
          <a:ln/>
        </p:spPr>
        <p:txBody>
          <a:bodyPr wrap="square" lIns="0" tIns="0" rIns="0" bIns="0" rtlCol="0" anchor="t"/>
          <a:lstStyle/>
          <a:p>
            <a:pPr indent="0" marL="0">
              <a:buNone/>
            </a:pPr>
            <a:r>
              <a:rPr lang="en-US" sz="1100" dirty="0">
                <a:solidFill>
                  <a:schemeClr val="bg2"/>
                </a:solidFill>
              </a:rPr>
              <a:t>70 / 15 / 15, seed 42</a:t>
            </a:r>
            <a:endParaRPr lang="en-US" sz="1100" dirty="0"/>
          </a:p>
        </p:txBody>
      </p:sp>
      <p:sp>
        <p:nvSpPr>
          <p:cNvPr id="18" name="Pipeline step 3"/>
          <p:cNvSpPr/>
          <p:nvPr/>
        </p:nvSpPr>
        <p:spPr>
          <a:xfrm>
            <a:off x="548640" y="3977640"/>
            <a:ext cx="3977640" cy="982980"/>
          </a:xfrm>
          <a:prstGeom prst="roundRect">
            <a:avLst>
              <a:gd name="adj" fmla="val 7442"/>
            </a:avLst>
          </a:prstGeom>
          <a:solidFill>
            <a:schemeClr val="tx2"/>
          </a:solidFill>
          <a:ln/>
        </p:spPr>
        <p:txBody>
          <a:bodyPr/>
          <a:p/>
        </p:txBody>
      </p:sp>
      <p:sp>
        <p:nvSpPr>
          <p:cNvPr id="19" name="Step badge 3"/>
          <p:cNvSpPr/>
          <p:nvPr/>
        </p:nvSpPr>
        <p:spPr>
          <a:xfrm>
            <a:off x="731520" y="4258818"/>
            <a:ext cx="420624" cy="420624"/>
          </a:xfrm>
          <a:prstGeom prst="ellipse">
            <a:avLst/>
          </a:prstGeom>
          <a:solidFill>
            <a:schemeClr val="accent1"/>
          </a:solidFill>
          <a:ln/>
        </p:spPr>
        <p:txBody>
          <a:bodyPr/>
          <a:p/>
        </p:txBody>
      </p:sp>
      <p:sp>
        <p:nvSpPr>
          <p:cNvPr id="20" name="Text 18"/>
          <p:cNvSpPr txBox="1"/>
          <p:nvPr/>
        </p:nvSpPr>
        <p:spPr>
          <a:xfrm>
            <a:off x="731520" y="4258818"/>
            <a:ext cx="420624" cy="420624"/>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21" name="Text 19"/>
          <p:cNvSpPr txBox="1"/>
          <p:nvPr/>
        </p:nvSpPr>
        <p:spPr>
          <a:xfrm>
            <a:off x="1325880" y="4069080"/>
            <a:ext cx="3063240" cy="274320"/>
          </a:xfrm>
          <a:prstGeom prst="rect">
            <a:avLst/>
          </a:prstGeom>
          <a:noFill/>
          <a:ln/>
        </p:spPr>
        <p:txBody>
          <a:bodyPr wrap="square" lIns="0" tIns="0" rIns="0" bIns="0" rtlCol="0" anchor="ctr"/>
          <a:lstStyle/>
          <a:p>
            <a:pPr indent="0" marL="0">
              <a:buNone/>
            </a:pPr>
            <a:r>
              <a:rPr lang="en-US" sz="1400" b="1" dirty="0">
                <a:solidFill>
                  <a:schemeClr val="bg2"/>
                </a:solidFill>
              </a:rPr>
              <a:t>Build one record per cell</a:t>
            </a:r>
            <a:endParaRPr lang="en-US" sz="1400" dirty="0"/>
          </a:p>
        </p:txBody>
      </p:sp>
      <p:sp>
        <p:nvSpPr>
          <p:cNvPr id="22" name="Text 20"/>
          <p:cNvSpPr txBox="1"/>
          <p:nvPr/>
        </p:nvSpPr>
        <p:spPr>
          <a:xfrm>
            <a:off x="1325880" y="4343400"/>
            <a:ext cx="3063240" cy="201168"/>
          </a:xfrm>
          <a:prstGeom prst="rect">
            <a:avLst/>
          </a:prstGeom>
          <a:noFill/>
          <a:ln/>
        </p:spPr>
        <p:txBody>
          <a:bodyPr wrap="square" lIns="0" tIns="0" rIns="0" bIns="0" rtlCol="0" anchor="ctr"/>
          <a:lstStyle/>
          <a:p>
            <a:pPr indent="0" marL="0">
              <a:buNone/>
            </a:pPr>
            <a:r>
              <a:rPr lang="en-US" sz="1050" dirty="0">
                <a:solidFill>
                  <a:schemeClr val="accent1"/>
                </a:solidFill>
                <a:latin typeface="Courier New" pitchFamily="34" charset="0"/>
                <a:ea typeface="Courier New" pitchFamily="34" charset="-122"/>
                <a:cs typeface="Courier New" pitchFamily="34" charset="-120"/>
              </a:rPr>
              <a:t>build_examples.py</a:t>
            </a:r>
            <a:endParaRPr lang="en-US" sz="1050" dirty="0"/>
          </a:p>
        </p:txBody>
      </p:sp>
      <p:sp>
        <p:nvSpPr>
          <p:cNvPr id="23" name="Text 21"/>
          <p:cNvSpPr txBox="1"/>
          <p:nvPr/>
        </p:nvSpPr>
        <p:spPr>
          <a:xfrm>
            <a:off x="1325880" y="4562856"/>
            <a:ext cx="3063240" cy="347472"/>
          </a:xfrm>
          <a:prstGeom prst="rect">
            <a:avLst/>
          </a:prstGeom>
          <a:noFill/>
          <a:ln/>
        </p:spPr>
        <p:txBody>
          <a:bodyPr wrap="square" lIns="0" tIns="0" rIns="0" bIns="0" rtlCol="0" anchor="t"/>
          <a:lstStyle/>
          <a:p>
            <a:pPr indent="0" marL="0">
              <a:buNone/>
            </a:pPr>
            <a:r>
              <a:rPr lang="en-US" sz="1100" dirty="0">
                <a:solidFill>
                  <a:schemeClr val="bg2"/>
                </a:solidFill>
              </a:rPr>
              <a:t>Row, column profile, dependency evidence, similar rows</a:t>
            </a:r>
            <a:endParaRPr lang="en-US" sz="1100" dirty="0"/>
          </a:p>
        </p:txBody>
      </p:sp>
      <p:sp>
        <p:nvSpPr>
          <p:cNvPr id="24" name="Pipeline step 4"/>
          <p:cNvSpPr/>
          <p:nvPr/>
        </p:nvSpPr>
        <p:spPr>
          <a:xfrm>
            <a:off x="548640" y="5097780"/>
            <a:ext cx="3977640" cy="982980"/>
          </a:xfrm>
          <a:prstGeom prst="roundRect">
            <a:avLst>
              <a:gd name="adj" fmla="val 7442"/>
            </a:avLst>
          </a:prstGeom>
          <a:solidFill>
            <a:schemeClr val="tx2"/>
          </a:solidFill>
          <a:ln/>
        </p:spPr>
        <p:txBody>
          <a:bodyPr/>
          <a:p/>
        </p:txBody>
      </p:sp>
      <p:sp>
        <p:nvSpPr>
          <p:cNvPr id="25" name="Step badge 4"/>
          <p:cNvSpPr/>
          <p:nvPr/>
        </p:nvSpPr>
        <p:spPr>
          <a:xfrm>
            <a:off x="731520" y="5378958"/>
            <a:ext cx="420624" cy="420624"/>
          </a:xfrm>
          <a:prstGeom prst="ellipse">
            <a:avLst/>
          </a:prstGeom>
          <a:solidFill>
            <a:schemeClr val="accent1"/>
          </a:solidFill>
          <a:ln/>
        </p:spPr>
        <p:txBody>
          <a:bodyPr/>
          <a:p/>
        </p:txBody>
      </p:sp>
      <p:sp>
        <p:nvSpPr>
          <p:cNvPr id="26" name="Text 24"/>
          <p:cNvSpPr txBox="1"/>
          <p:nvPr/>
        </p:nvSpPr>
        <p:spPr>
          <a:xfrm>
            <a:off x="731520" y="5378958"/>
            <a:ext cx="420624" cy="420624"/>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27" name="Text 25"/>
          <p:cNvSpPr txBox="1"/>
          <p:nvPr/>
        </p:nvSpPr>
        <p:spPr>
          <a:xfrm>
            <a:off x="1325880" y="5189220"/>
            <a:ext cx="3063240" cy="274320"/>
          </a:xfrm>
          <a:prstGeom prst="rect">
            <a:avLst/>
          </a:prstGeom>
          <a:noFill/>
          <a:ln/>
        </p:spPr>
        <p:txBody>
          <a:bodyPr wrap="square" lIns="0" tIns="0" rIns="0" bIns="0" rtlCol="0" anchor="ctr"/>
          <a:lstStyle/>
          <a:p>
            <a:pPr indent="0" marL="0">
              <a:buNone/>
            </a:pPr>
            <a:r>
              <a:rPr lang="en-US" sz="1400" b="1" dirty="0">
                <a:solidFill>
                  <a:schemeClr val="bg2"/>
                </a:solidFill>
              </a:rPr>
              <a:t>Check leakage</a:t>
            </a:r>
            <a:endParaRPr lang="en-US" sz="1400" dirty="0"/>
          </a:p>
        </p:txBody>
      </p:sp>
      <p:sp>
        <p:nvSpPr>
          <p:cNvPr id="28" name="Text 26"/>
          <p:cNvSpPr txBox="1"/>
          <p:nvPr/>
        </p:nvSpPr>
        <p:spPr>
          <a:xfrm>
            <a:off x="1325880" y="5463540"/>
            <a:ext cx="3063240" cy="201168"/>
          </a:xfrm>
          <a:prstGeom prst="rect">
            <a:avLst/>
          </a:prstGeom>
          <a:noFill/>
          <a:ln/>
        </p:spPr>
        <p:txBody>
          <a:bodyPr wrap="square" lIns="0" tIns="0" rIns="0" bIns="0" rtlCol="0" anchor="ctr"/>
          <a:lstStyle/>
          <a:p>
            <a:pPr indent="0" marL="0">
              <a:buNone/>
            </a:pPr>
            <a:r>
              <a:rPr lang="en-US" sz="1050" dirty="0">
                <a:solidFill>
                  <a:schemeClr val="accent1"/>
                </a:solidFill>
                <a:latin typeface="Courier New" pitchFamily="34" charset="0"/>
                <a:ea typeface="Courier New" pitchFamily="34" charset="-122"/>
                <a:cs typeface="Courier New" pitchFamily="34" charset="-120"/>
              </a:rPr>
              <a:t>check_leakage.py</a:t>
            </a:r>
            <a:endParaRPr lang="en-US" sz="1050" dirty="0"/>
          </a:p>
        </p:txBody>
      </p:sp>
      <p:sp>
        <p:nvSpPr>
          <p:cNvPr id="29" name="Text 27"/>
          <p:cNvSpPr txBox="1"/>
          <p:nvPr/>
        </p:nvSpPr>
        <p:spPr>
          <a:xfrm>
            <a:off x="1325880" y="5682996"/>
            <a:ext cx="3063240" cy="347472"/>
          </a:xfrm>
          <a:prstGeom prst="rect">
            <a:avLst/>
          </a:prstGeom>
          <a:noFill/>
          <a:ln/>
        </p:spPr>
        <p:txBody>
          <a:bodyPr wrap="square" lIns="0" tIns="0" rIns="0" bIns="0" rtlCol="0" anchor="t"/>
          <a:lstStyle/>
          <a:p>
            <a:pPr indent="0" marL="0">
              <a:buNone/>
            </a:pPr>
            <a:r>
              <a:rPr lang="en-US" sz="1100" dirty="0">
                <a:solidFill>
                  <a:schemeClr val="bg2"/>
                </a:solidFill>
              </a:rPr>
              <a:t>29 of 29 checks pass</a:t>
            </a:r>
            <a:endParaRPr lang="en-US" sz="1100" dirty="0"/>
          </a:p>
        </p:txBody>
      </p:sp>
      <p:sp>
        <p:nvSpPr>
          <p:cNvPr id="30" name="Text 28"/>
          <p:cNvSpPr txBox="1"/>
          <p:nvPr/>
        </p:nvSpPr>
        <p:spPr>
          <a:xfrm>
            <a:off x="4709160" y="1417320"/>
            <a:ext cx="3383280"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ONE EXAMPLE (SHORTENED)</a:t>
            </a:r>
            <a:endParaRPr lang="en-US" sz="1100" dirty="0"/>
          </a:p>
        </p:txBody>
      </p:sp>
      <p:sp>
        <p:nvSpPr>
          <p:cNvPr id="31" name="Question card"/>
          <p:cNvSpPr/>
          <p:nvPr/>
        </p:nvSpPr>
        <p:spPr>
          <a:xfrm>
            <a:off x="4709160" y="1737360"/>
            <a:ext cx="3383280" cy="2057400"/>
          </a:xfrm>
          <a:prstGeom prst="roundRect">
            <a:avLst>
              <a:gd name="adj" fmla="val 3556"/>
            </a:avLst>
          </a:prstGeom>
          <a:solidFill>
            <a:schemeClr val="tx2"/>
          </a:solidFill>
          <a:ln/>
        </p:spPr>
        <p:txBody>
          <a:bodyPr/>
          <a:p/>
        </p:txBody>
      </p:sp>
      <p:sp>
        <p:nvSpPr>
          <p:cNvPr id="32" name="Text 30"/>
          <p:cNvSpPr txBox="1"/>
          <p:nvPr/>
        </p:nvSpPr>
        <p:spPr>
          <a:xfrm>
            <a:off x="4910328" y="1874520"/>
            <a:ext cx="2980944"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QUESTION</a:t>
            </a:r>
            <a:endParaRPr lang="en-US" sz="1100" dirty="0"/>
          </a:p>
        </p:txBody>
      </p:sp>
      <p:sp>
        <p:nvSpPr>
          <p:cNvPr id="33" name="Text 31"/>
          <p:cNvSpPr txBox="1"/>
          <p:nvPr/>
        </p:nvSpPr>
        <p:spPr>
          <a:xfrm>
            <a:off x="4910328" y="2240280"/>
            <a:ext cx="457200" cy="292608"/>
          </a:xfrm>
          <a:prstGeom prst="rect">
            <a:avLst/>
          </a:prstGeom>
          <a:noFill/>
          <a:ln/>
        </p:spPr>
        <p:txBody>
          <a:bodyPr wrap="square" lIns="0" tIns="0" rIns="0" bIns="0" rtlCol="0" anchor="ctr"/>
          <a:lstStyle/>
          <a:p>
            <a:pPr indent="0" marL="0">
              <a:buNone/>
            </a:pPr>
            <a:r>
              <a:rPr lang="en-US" sz="1200" dirty="0">
                <a:solidFill>
                  <a:schemeClr val="bg2"/>
                </a:solidFill>
              </a:rPr>
              <a:t>Cell</a:t>
            </a:r>
            <a:endParaRPr lang="en-US" sz="1200" dirty="0"/>
          </a:p>
        </p:txBody>
      </p:sp>
      <p:sp>
        <p:nvSpPr>
          <p:cNvPr id="34" name="Cell chip"/>
          <p:cNvSpPr/>
          <p:nvPr/>
        </p:nvSpPr>
        <p:spPr>
          <a:xfrm>
            <a:off x="5394960" y="2240280"/>
            <a:ext cx="2468880" cy="292608"/>
          </a:xfrm>
          <a:prstGeom prst="roundRect">
            <a:avLst>
              <a:gd name="adj" fmla="val 25000"/>
            </a:avLst>
          </a:prstGeom>
          <a:solidFill>
            <a:schemeClr val="accent2"/>
          </a:solidFill>
          <a:ln/>
        </p:spPr>
        <p:txBody>
          <a:bodyPr/>
          <a:p/>
        </p:txBody>
      </p:sp>
      <p:sp>
        <p:nvSpPr>
          <p:cNvPr id="35" name="Text 33"/>
          <p:cNvSpPr txBox="1"/>
          <p:nvPr/>
        </p:nvSpPr>
        <p:spPr>
          <a:xfrm>
            <a:off x="5394960" y="2240280"/>
            <a:ext cx="2468880" cy="292608"/>
          </a:xfrm>
          <a:prstGeom prst="rect">
            <a:avLst/>
          </a:prstGeom>
          <a:noFill/>
          <a:ln/>
        </p:spPr>
        <p:txBody>
          <a:bodyPr wrap="square" lIns="0" tIns="0" rIns="0" bIns="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City = 'birmingxam'</a:t>
            </a:r>
            <a:endParaRPr lang="en-US" sz="1150" dirty="0"/>
          </a:p>
        </p:txBody>
      </p:sp>
      <p:sp>
        <p:nvSpPr>
          <p:cNvPr id="36" name="Text 34"/>
          <p:cNvSpPr txBox="1"/>
          <p:nvPr/>
        </p:nvSpPr>
        <p:spPr>
          <a:xfrm>
            <a:off x="4910328" y="2697480"/>
            <a:ext cx="2980944" cy="914400"/>
          </a:xfrm>
          <a:prstGeom prst="rect">
            <a:avLst/>
          </a:prstGeom>
          <a:noFill/>
          <a:ln/>
        </p:spPr>
        <p:txBody>
          <a:bodyPr wrap="square" lIns="0" tIns="0" rIns="0" bIns="0" rtlCol="0" anchor="t"/>
          <a:lstStyle/>
          <a:p>
            <a:pPr indent="0" marL="0">
              <a:buNone/>
            </a:pPr>
            <a:r>
              <a:rPr lang="en-US" sz="1300" dirty="0">
                <a:solidFill>
                  <a:schemeClr val="bg2"/>
                </a:solidFill>
              </a:rPr>
              <a:t>Plus its row, and the evidence: “the other rows with this ZipCode have birmingham”</a:t>
            </a:r>
            <a:endParaRPr lang="en-US" sz="1300" dirty="0"/>
          </a:p>
        </p:txBody>
      </p:sp>
      <p:sp>
        <p:nvSpPr>
          <p:cNvPr id="37" name="Answer card"/>
          <p:cNvSpPr/>
          <p:nvPr/>
        </p:nvSpPr>
        <p:spPr>
          <a:xfrm>
            <a:off x="4709160" y="3977640"/>
            <a:ext cx="3383280" cy="2103120"/>
          </a:xfrm>
          <a:prstGeom prst="roundRect">
            <a:avLst>
              <a:gd name="adj" fmla="val 3478"/>
            </a:avLst>
          </a:prstGeom>
          <a:solidFill>
            <a:schemeClr val="tx2"/>
          </a:solidFill>
          <a:ln/>
        </p:spPr>
        <p:txBody>
          <a:bodyPr/>
          <a:p/>
        </p:txBody>
      </p:sp>
      <p:sp>
        <p:nvSpPr>
          <p:cNvPr id="38" name="Text 36"/>
          <p:cNvSpPr txBox="1"/>
          <p:nvPr/>
        </p:nvSpPr>
        <p:spPr>
          <a:xfrm>
            <a:off x="4910328" y="4114800"/>
            <a:ext cx="2980944"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ANSWER</a:t>
            </a:r>
            <a:endParaRPr lang="en-US" sz="1100" dirty="0"/>
          </a:p>
        </p:txBody>
      </p:sp>
      <p:sp>
        <p:nvSpPr>
          <p:cNvPr id="39" name="Text 37"/>
          <p:cNvSpPr txBox="1"/>
          <p:nvPr/>
        </p:nvSpPr>
        <p:spPr>
          <a:xfrm>
            <a:off x="4910328" y="4480560"/>
            <a:ext cx="2980944" cy="1508760"/>
          </a:xfrm>
          <a:prstGeom prst="rect">
            <a:avLst/>
          </a:prstGeom>
          <a:noFill/>
          <a:ln/>
        </p:spPr>
        <p:txBody>
          <a:bodyPr wrap="square" lIns="0" tIns="0" rIns="0" bIns="0" rtlCol="0" anchor="t"/>
          <a:lstStyle/>
          <a:p>
            <a:pPr indent="0" marL="0">
              <a:lnSpc>
                <a:spcPct val="115000"/>
              </a:lnSpc>
              <a:buNone/>
            </a:pPr>
            <a:r>
              <a:rPr lang="en-US" sz="1200" dirty="0">
                <a:solidFill>
                  <a:schemeClr val="bg2"/>
                </a:solidFill>
                <a:latin typeface="Courier New" pitchFamily="34" charset="0"/>
                <a:ea typeface="Courier New" pitchFamily="34" charset="-122"/>
                <a:cs typeface="Courier New" pitchFamily="34" charset="-120"/>
              </a:rPr>
              <a:t>{"is_error": true,</a:t>
            </a:r>
            <a:endParaRPr lang="en-US" sz="1200" dirty="0"/>
          </a:p>
          <a:p>
            <a:pPr indent="0" marL="0">
              <a:lnSpc>
                <a:spcPct val="115000"/>
              </a:lnSpc>
              <a:buNone/>
            </a:pPr>
            <a:r>
              <a:rPr lang="en-US" sz="1200" dirty="0">
                <a:solidFill>
                  <a:schemeClr val="bg2"/>
                </a:solidFill>
                <a:latin typeface="Courier New" pitchFamily="34" charset="0"/>
                <a:ea typeface="Courier New" pitchFamily="34" charset="-122"/>
                <a:cs typeface="Courier New" pitchFamily="34" charset="-120"/>
              </a:rPr>
              <a:t> "error_type": "rule",</a:t>
            </a:r>
            <a:endParaRPr lang="en-US" sz="1200" dirty="0"/>
          </a:p>
          <a:p>
            <a:pPr indent="0" marL="0">
              <a:lnSpc>
                <a:spcPct val="115000"/>
              </a:lnSpc>
              <a:buNone/>
            </a:pPr>
            <a:r>
              <a:rPr lang="en-US" sz="1200" dirty="0">
                <a:solidFill>
                  <a:schemeClr val="bg2"/>
                </a:solidFill>
                <a:latin typeface="Courier New" pitchFamily="34" charset="0"/>
                <a:ea typeface="Courier New" pitchFamily="34" charset="-122"/>
                <a:cs typeface="Courier New" pitchFamily="34" charset="-120"/>
              </a:rPr>
              <a:t> "evidence": "…",</a:t>
            </a:r>
            <a:endParaRPr lang="en-US" sz="1200" dirty="0"/>
          </a:p>
          <a:p>
            <a:pPr indent="0" marL="0">
              <a:lnSpc>
                <a:spcPct val="115000"/>
              </a:lnSpc>
              <a:buNone/>
            </a:pPr>
            <a:r>
              <a:rPr lang="en-US" sz="1200" b="1" dirty="0">
                <a:solidFill>
                  <a:schemeClr val="accent1"/>
                </a:solidFill>
                <a:latin typeface="Courier New" pitchFamily="34" charset="0"/>
                <a:ea typeface="Courier New" pitchFamily="34" charset="-122"/>
                <a:cs typeface="Courier New" pitchFamily="34" charset="-120"/>
              </a:rPr>
              <a:t> "repair": "birmingham"}</a:t>
            </a:r>
            <a:endParaRPr lang="en-US" sz="1200" dirty="0"/>
          </a:p>
        </p:txBody>
      </p:sp>
      <p:sp>
        <p:nvSpPr>
          <p:cNvPr id="40" name="Text 38"/>
          <p:cNvSpPr txBox="1"/>
          <p:nvPr/>
        </p:nvSpPr>
        <p:spPr>
          <a:xfrm>
            <a:off x="8275320" y="1417320"/>
            <a:ext cx="3367735"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THE DATASET</a:t>
            </a:r>
            <a:endParaRPr lang="en-US" sz="1100" dirty="0"/>
          </a:p>
        </p:txBody>
      </p:sp>
      <p:sp>
        <p:nvSpPr>
          <p:cNvPr id="41" name="Dataset card"/>
          <p:cNvSpPr/>
          <p:nvPr/>
        </p:nvSpPr>
        <p:spPr>
          <a:xfrm>
            <a:off x="8275320" y="1737360"/>
            <a:ext cx="3367735" cy="2560320"/>
          </a:xfrm>
          <a:prstGeom prst="roundRect">
            <a:avLst>
              <a:gd name="adj" fmla="val 2857"/>
            </a:avLst>
          </a:prstGeom>
          <a:solidFill>
            <a:schemeClr val="tx2"/>
          </a:solidFill>
          <a:ln/>
        </p:spPr>
        <p:txBody>
          <a:bodyPr/>
          <a:p/>
        </p:txBody>
      </p:sp>
      <p:sp>
        <p:nvSpPr>
          <p:cNvPr id="42" name="Text 40"/>
          <p:cNvSpPr txBox="1"/>
          <p:nvPr/>
        </p:nvSpPr>
        <p:spPr>
          <a:xfrm>
            <a:off x="8476488" y="1901952"/>
            <a:ext cx="1645920" cy="237744"/>
          </a:xfrm>
          <a:prstGeom prst="rect">
            <a:avLst/>
          </a:prstGeom>
          <a:noFill/>
          <a:ln/>
        </p:spPr>
        <p:txBody>
          <a:bodyPr wrap="square" lIns="0" tIns="0" rIns="0" bIns="0" rtlCol="0" anchor="ctr"/>
          <a:lstStyle/>
          <a:p>
            <a:pPr indent="0" marL="0">
              <a:buNone/>
            </a:pPr>
            <a:r>
              <a:rPr lang="en-US" sz="1250" b="1" dirty="0">
                <a:solidFill>
                  <a:schemeClr val="bg2"/>
                </a:solidFill>
              </a:rPr>
              <a:t>Train</a:t>
            </a:r>
            <a:endParaRPr lang="en-US" sz="1250" dirty="0"/>
          </a:p>
        </p:txBody>
      </p:sp>
      <p:sp>
        <p:nvSpPr>
          <p:cNvPr id="43" name="Text 41"/>
          <p:cNvSpPr txBox="1"/>
          <p:nvPr/>
        </p:nvSpPr>
        <p:spPr>
          <a:xfrm>
            <a:off x="9978847" y="1901952"/>
            <a:ext cx="1463040" cy="237744"/>
          </a:xfrm>
          <a:prstGeom prst="rect">
            <a:avLst/>
          </a:prstGeom>
          <a:noFill/>
          <a:ln/>
        </p:spPr>
        <p:txBody>
          <a:bodyPr wrap="square" lIns="0" tIns="0" rIns="0" bIns="0" rtlCol="0" anchor="ctr"/>
          <a:lstStyle/>
          <a:p>
            <a:pPr algn="r" indent="0" marL="0">
              <a:buNone/>
            </a:pPr>
            <a:r>
              <a:rPr lang="en-US" sz="1100" dirty="0">
                <a:solidFill>
                  <a:schemeClr val="bg2"/>
                </a:solidFill>
              </a:rPr>
              <a:t>25,953 examples</a:t>
            </a:r>
            <a:endParaRPr lang="en-US" sz="1100" dirty="0"/>
          </a:p>
        </p:txBody>
      </p:sp>
      <p:sp>
        <p:nvSpPr>
          <p:cNvPr id="44" name="Wrong Train"/>
          <p:cNvSpPr/>
          <p:nvPr/>
        </p:nvSpPr>
        <p:spPr>
          <a:xfrm>
            <a:off x="8476488" y="2194560"/>
            <a:ext cx="1481157" cy="292608"/>
          </a:xfrm>
          <a:prstGeom prst="rect">
            <a:avLst/>
          </a:prstGeom>
          <a:solidFill>
            <a:schemeClr val="accent2"/>
          </a:solidFill>
          <a:ln w="12700">
            <a:solidFill>
              <a:schemeClr val="tx2"/>
            </a:solidFill>
            <a:prstDash val="solid"/>
          </a:ln>
        </p:spPr>
        <p:txBody>
          <a:bodyPr/>
          <a:p/>
        </p:txBody>
      </p:sp>
      <p:sp>
        <p:nvSpPr>
          <p:cNvPr id="45" name="Correct Train"/>
          <p:cNvSpPr/>
          <p:nvPr/>
        </p:nvSpPr>
        <p:spPr>
          <a:xfrm>
            <a:off x="9957645" y="2194560"/>
            <a:ext cx="1484242" cy="292608"/>
          </a:xfrm>
          <a:prstGeom prst="rect">
            <a:avLst/>
          </a:prstGeom>
          <a:solidFill>
            <a:schemeClr val="accent1"/>
          </a:solidFill>
          <a:ln w="12700">
            <a:solidFill>
              <a:schemeClr val="tx2"/>
            </a:solidFill>
            <a:prstDash val="solid"/>
          </a:ln>
        </p:spPr>
        <p:txBody>
          <a:bodyPr/>
          <a:p/>
        </p:txBody>
      </p:sp>
      <p:sp>
        <p:nvSpPr>
          <p:cNvPr id="46" name="Text 44"/>
          <p:cNvSpPr txBox="1"/>
          <p:nvPr/>
        </p:nvSpPr>
        <p:spPr>
          <a:xfrm>
            <a:off x="8476488" y="2194560"/>
            <a:ext cx="1481157" cy="292608"/>
          </a:xfrm>
          <a:prstGeom prst="rect">
            <a:avLst/>
          </a:prstGeom>
          <a:noFill/>
          <a:ln/>
        </p:spPr>
        <p:txBody>
          <a:bodyPr wrap="square" lIns="0" tIns="0" rIns="0" bIns="0" rtlCol="0" anchor="ctr"/>
          <a:lstStyle/>
          <a:p>
            <a:pPr algn="ctr" indent="0" marL="0">
              <a:buNone/>
            </a:pPr>
            <a:r>
              <a:rPr lang="en-US" sz="1050" b="1" dirty="0">
                <a:solidFill>
                  <a:schemeClr val="tx1"/>
                </a:solidFill>
              </a:rPr>
              <a:t>12,963</a:t>
            </a:r>
            <a:endParaRPr lang="en-US" sz="1050" dirty="0"/>
          </a:p>
        </p:txBody>
      </p:sp>
      <p:sp>
        <p:nvSpPr>
          <p:cNvPr id="47" name="Text 45"/>
          <p:cNvSpPr txBox="1"/>
          <p:nvPr/>
        </p:nvSpPr>
        <p:spPr>
          <a:xfrm>
            <a:off x="9957645" y="2194560"/>
            <a:ext cx="1484242" cy="292608"/>
          </a:xfrm>
          <a:prstGeom prst="rect">
            <a:avLst/>
          </a:prstGeom>
          <a:noFill/>
          <a:ln/>
        </p:spPr>
        <p:txBody>
          <a:bodyPr wrap="square" lIns="0" tIns="0" rIns="0" bIns="0" rtlCol="0" anchor="ctr"/>
          <a:lstStyle/>
          <a:p>
            <a:pPr algn="ctr" indent="0" marL="0">
              <a:buNone/>
            </a:pPr>
            <a:r>
              <a:rPr lang="en-US" sz="1050" b="1" dirty="0">
                <a:solidFill>
                  <a:schemeClr val="tx1"/>
                </a:solidFill>
              </a:rPr>
              <a:t>12,990</a:t>
            </a:r>
            <a:endParaRPr lang="en-US" sz="1050" dirty="0"/>
          </a:p>
        </p:txBody>
      </p:sp>
      <p:sp>
        <p:nvSpPr>
          <p:cNvPr id="48" name="Text 46"/>
          <p:cNvSpPr txBox="1"/>
          <p:nvPr/>
        </p:nvSpPr>
        <p:spPr>
          <a:xfrm>
            <a:off x="8476488" y="2606040"/>
            <a:ext cx="1645920" cy="237744"/>
          </a:xfrm>
          <a:prstGeom prst="rect">
            <a:avLst/>
          </a:prstGeom>
          <a:noFill/>
          <a:ln/>
        </p:spPr>
        <p:txBody>
          <a:bodyPr wrap="square" lIns="0" tIns="0" rIns="0" bIns="0" rtlCol="0" anchor="ctr"/>
          <a:lstStyle/>
          <a:p>
            <a:pPr indent="0" marL="0">
              <a:buNone/>
            </a:pPr>
            <a:r>
              <a:rPr lang="en-US" sz="1250" b="1" dirty="0">
                <a:solidFill>
                  <a:schemeClr val="bg2"/>
                </a:solidFill>
              </a:rPr>
              <a:t>Validation</a:t>
            </a:r>
            <a:endParaRPr lang="en-US" sz="1250" dirty="0"/>
          </a:p>
        </p:txBody>
      </p:sp>
      <p:sp>
        <p:nvSpPr>
          <p:cNvPr id="49" name="Text 47"/>
          <p:cNvSpPr txBox="1"/>
          <p:nvPr/>
        </p:nvSpPr>
        <p:spPr>
          <a:xfrm>
            <a:off x="9978847" y="2606040"/>
            <a:ext cx="1463040" cy="237744"/>
          </a:xfrm>
          <a:prstGeom prst="rect">
            <a:avLst/>
          </a:prstGeom>
          <a:noFill/>
          <a:ln/>
        </p:spPr>
        <p:txBody>
          <a:bodyPr wrap="square" lIns="0" tIns="0" rIns="0" bIns="0" rtlCol="0" anchor="ctr"/>
          <a:lstStyle/>
          <a:p>
            <a:pPr algn="r" indent="0" marL="0">
              <a:buNone/>
            </a:pPr>
            <a:r>
              <a:rPr lang="en-US" sz="1100" dirty="0">
                <a:solidFill>
                  <a:schemeClr val="bg2"/>
                </a:solidFill>
              </a:rPr>
              <a:t>5,349 examples</a:t>
            </a:r>
            <a:endParaRPr lang="en-US" sz="1100" dirty="0"/>
          </a:p>
        </p:txBody>
      </p:sp>
      <p:sp>
        <p:nvSpPr>
          <p:cNvPr id="50" name="Wrong Validation"/>
          <p:cNvSpPr/>
          <p:nvPr/>
        </p:nvSpPr>
        <p:spPr>
          <a:xfrm>
            <a:off x="8476488" y="2898648"/>
            <a:ext cx="1481868" cy="292608"/>
          </a:xfrm>
          <a:prstGeom prst="rect">
            <a:avLst/>
          </a:prstGeom>
          <a:solidFill>
            <a:schemeClr val="accent2"/>
          </a:solidFill>
          <a:ln w="12700">
            <a:solidFill>
              <a:schemeClr val="tx2"/>
            </a:solidFill>
            <a:prstDash val="solid"/>
          </a:ln>
        </p:spPr>
        <p:txBody>
          <a:bodyPr/>
          <a:p/>
        </p:txBody>
      </p:sp>
      <p:sp>
        <p:nvSpPr>
          <p:cNvPr id="51" name="Correct Validation"/>
          <p:cNvSpPr/>
          <p:nvPr/>
        </p:nvSpPr>
        <p:spPr>
          <a:xfrm>
            <a:off x="9958356" y="2898648"/>
            <a:ext cx="1483531" cy="292608"/>
          </a:xfrm>
          <a:prstGeom prst="rect">
            <a:avLst/>
          </a:prstGeom>
          <a:solidFill>
            <a:schemeClr val="accent1"/>
          </a:solidFill>
          <a:ln w="12700">
            <a:solidFill>
              <a:schemeClr val="tx2"/>
            </a:solidFill>
            <a:prstDash val="solid"/>
          </a:ln>
        </p:spPr>
        <p:txBody>
          <a:bodyPr/>
          <a:p/>
        </p:txBody>
      </p:sp>
      <p:sp>
        <p:nvSpPr>
          <p:cNvPr id="52" name="Text 50"/>
          <p:cNvSpPr txBox="1"/>
          <p:nvPr/>
        </p:nvSpPr>
        <p:spPr>
          <a:xfrm>
            <a:off x="8476488" y="2898648"/>
            <a:ext cx="1481868" cy="292608"/>
          </a:xfrm>
          <a:prstGeom prst="rect">
            <a:avLst/>
          </a:prstGeom>
          <a:noFill/>
          <a:ln/>
        </p:spPr>
        <p:txBody>
          <a:bodyPr wrap="square" lIns="0" tIns="0" rIns="0" bIns="0" rtlCol="0" anchor="ctr"/>
          <a:lstStyle/>
          <a:p>
            <a:pPr algn="ctr" indent="0" marL="0">
              <a:buNone/>
            </a:pPr>
            <a:r>
              <a:rPr lang="en-US" sz="1050" b="1" dirty="0">
                <a:solidFill>
                  <a:schemeClr val="tx1"/>
                </a:solidFill>
              </a:rPr>
              <a:t>2,673</a:t>
            </a:r>
            <a:endParaRPr lang="en-US" sz="1050" dirty="0"/>
          </a:p>
        </p:txBody>
      </p:sp>
      <p:sp>
        <p:nvSpPr>
          <p:cNvPr id="53" name="Text 51"/>
          <p:cNvSpPr txBox="1"/>
          <p:nvPr/>
        </p:nvSpPr>
        <p:spPr>
          <a:xfrm>
            <a:off x="9958356" y="2898648"/>
            <a:ext cx="1483531" cy="292608"/>
          </a:xfrm>
          <a:prstGeom prst="rect">
            <a:avLst/>
          </a:prstGeom>
          <a:noFill/>
          <a:ln/>
        </p:spPr>
        <p:txBody>
          <a:bodyPr wrap="square" lIns="0" tIns="0" rIns="0" bIns="0" rtlCol="0" anchor="ctr"/>
          <a:lstStyle/>
          <a:p>
            <a:pPr algn="ctr" indent="0" marL="0">
              <a:buNone/>
            </a:pPr>
            <a:r>
              <a:rPr lang="en-US" sz="1050" b="1" dirty="0">
                <a:solidFill>
                  <a:schemeClr val="tx1"/>
                </a:solidFill>
              </a:rPr>
              <a:t>2,676</a:t>
            </a:r>
            <a:endParaRPr lang="en-US" sz="1050" dirty="0"/>
          </a:p>
        </p:txBody>
      </p:sp>
      <p:sp>
        <p:nvSpPr>
          <p:cNvPr id="54" name="Text 52"/>
          <p:cNvSpPr txBox="1"/>
          <p:nvPr/>
        </p:nvSpPr>
        <p:spPr>
          <a:xfrm>
            <a:off x="8476488" y="3310128"/>
            <a:ext cx="1645920" cy="237744"/>
          </a:xfrm>
          <a:prstGeom prst="rect">
            <a:avLst/>
          </a:prstGeom>
          <a:noFill/>
          <a:ln/>
        </p:spPr>
        <p:txBody>
          <a:bodyPr wrap="square" lIns="0" tIns="0" rIns="0" bIns="0" rtlCol="0" anchor="ctr"/>
          <a:lstStyle/>
          <a:p>
            <a:pPr indent="0" marL="0">
              <a:buNone/>
            </a:pPr>
            <a:r>
              <a:rPr lang="en-US" sz="1250" b="1" dirty="0">
                <a:solidFill>
                  <a:schemeClr val="bg2"/>
                </a:solidFill>
              </a:rPr>
              <a:t>Test (sampled)</a:t>
            </a:r>
            <a:endParaRPr lang="en-US" sz="1250" dirty="0"/>
          </a:p>
        </p:txBody>
      </p:sp>
      <p:sp>
        <p:nvSpPr>
          <p:cNvPr id="55" name="Text 53"/>
          <p:cNvSpPr txBox="1"/>
          <p:nvPr/>
        </p:nvSpPr>
        <p:spPr>
          <a:xfrm>
            <a:off x="9978847" y="3310128"/>
            <a:ext cx="1463040" cy="237744"/>
          </a:xfrm>
          <a:prstGeom prst="rect">
            <a:avLst/>
          </a:prstGeom>
          <a:noFill/>
          <a:ln/>
        </p:spPr>
        <p:txBody>
          <a:bodyPr wrap="square" lIns="0" tIns="0" rIns="0" bIns="0" rtlCol="0" anchor="ctr"/>
          <a:lstStyle/>
          <a:p>
            <a:pPr algn="r" indent="0" marL="0">
              <a:buNone/>
            </a:pPr>
            <a:r>
              <a:rPr lang="en-US" sz="1100" dirty="0">
                <a:solidFill>
                  <a:schemeClr val="bg2"/>
                </a:solidFill>
              </a:rPr>
              <a:t>5,493 examples</a:t>
            </a:r>
            <a:endParaRPr lang="en-US" sz="1100" dirty="0"/>
          </a:p>
        </p:txBody>
      </p:sp>
      <p:sp>
        <p:nvSpPr>
          <p:cNvPr id="56" name="Wrong Test (sampled)"/>
          <p:cNvSpPr/>
          <p:nvPr/>
        </p:nvSpPr>
        <p:spPr>
          <a:xfrm>
            <a:off x="8476488" y="3602736"/>
            <a:ext cx="1481890" cy="292608"/>
          </a:xfrm>
          <a:prstGeom prst="rect">
            <a:avLst/>
          </a:prstGeom>
          <a:solidFill>
            <a:schemeClr val="accent2"/>
          </a:solidFill>
          <a:ln w="12700">
            <a:solidFill>
              <a:schemeClr val="tx2"/>
            </a:solidFill>
            <a:prstDash val="solid"/>
          </a:ln>
        </p:spPr>
        <p:txBody>
          <a:bodyPr/>
          <a:p/>
        </p:txBody>
      </p:sp>
      <p:sp>
        <p:nvSpPr>
          <p:cNvPr id="57" name="Correct Test (sampled)"/>
          <p:cNvSpPr/>
          <p:nvPr/>
        </p:nvSpPr>
        <p:spPr>
          <a:xfrm>
            <a:off x="9958378" y="3602736"/>
            <a:ext cx="1483509" cy="292608"/>
          </a:xfrm>
          <a:prstGeom prst="rect">
            <a:avLst/>
          </a:prstGeom>
          <a:solidFill>
            <a:schemeClr val="accent1"/>
          </a:solidFill>
          <a:ln w="12700">
            <a:solidFill>
              <a:schemeClr val="tx2"/>
            </a:solidFill>
            <a:prstDash val="solid"/>
          </a:ln>
        </p:spPr>
        <p:txBody>
          <a:bodyPr/>
          <a:p/>
        </p:txBody>
      </p:sp>
      <p:sp>
        <p:nvSpPr>
          <p:cNvPr id="58" name="Text 56"/>
          <p:cNvSpPr txBox="1"/>
          <p:nvPr/>
        </p:nvSpPr>
        <p:spPr>
          <a:xfrm>
            <a:off x="8476488" y="3602736"/>
            <a:ext cx="1481890" cy="292608"/>
          </a:xfrm>
          <a:prstGeom prst="rect">
            <a:avLst/>
          </a:prstGeom>
          <a:noFill/>
          <a:ln/>
        </p:spPr>
        <p:txBody>
          <a:bodyPr wrap="square" lIns="0" tIns="0" rIns="0" bIns="0" rtlCol="0" anchor="ctr"/>
          <a:lstStyle/>
          <a:p>
            <a:pPr algn="ctr" indent="0" marL="0">
              <a:buNone/>
            </a:pPr>
            <a:r>
              <a:rPr lang="en-US" sz="1050" b="1" dirty="0">
                <a:solidFill>
                  <a:schemeClr val="tx1"/>
                </a:solidFill>
              </a:rPr>
              <a:t>2,745</a:t>
            </a:r>
            <a:endParaRPr lang="en-US" sz="1050" dirty="0"/>
          </a:p>
        </p:txBody>
      </p:sp>
      <p:sp>
        <p:nvSpPr>
          <p:cNvPr id="59" name="Text 57"/>
          <p:cNvSpPr txBox="1"/>
          <p:nvPr/>
        </p:nvSpPr>
        <p:spPr>
          <a:xfrm>
            <a:off x="9958378" y="3602736"/>
            <a:ext cx="1483509" cy="292608"/>
          </a:xfrm>
          <a:prstGeom prst="rect">
            <a:avLst/>
          </a:prstGeom>
          <a:noFill/>
          <a:ln/>
        </p:spPr>
        <p:txBody>
          <a:bodyPr wrap="square" lIns="0" tIns="0" rIns="0" bIns="0" rtlCol="0" anchor="ctr"/>
          <a:lstStyle/>
          <a:p>
            <a:pPr algn="ctr" indent="0" marL="0">
              <a:buNone/>
            </a:pPr>
            <a:r>
              <a:rPr lang="en-US" sz="1050" b="1" dirty="0">
                <a:solidFill>
                  <a:schemeClr val="tx1"/>
                </a:solidFill>
              </a:rPr>
              <a:t>2,748</a:t>
            </a:r>
            <a:endParaRPr lang="en-US" sz="1050" dirty="0"/>
          </a:p>
        </p:txBody>
      </p:sp>
      <p:sp>
        <p:nvSpPr>
          <p:cNvPr id="60" name="Legend wrong cell"/>
          <p:cNvSpPr/>
          <p:nvPr/>
        </p:nvSpPr>
        <p:spPr>
          <a:xfrm>
            <a:off x="8476488" y="3995928"/>
            <a:ext cx="109728" cy="109728"/>
          </a:xfrm>
          <a:prstGeom prst="rect">
            <a:avLst/>
          </a:prstGeom>
          <a:solidFill>
            <a:schemeClr val="accent2"/>
          </a:solidFill>
          <a:ln/>
        </p:spPr>
        <p:txBody>
          <a:bodyPr/>
          <a:p/>
        </p:txBody>
      </p:sp>
      <p:sp>
        <p:nvSpPr>
          <p:cNvPr id="61" name="Text 59"/>
          <p:cNvSpPr txBox="1"/>
          <p:nvPr/>
        </p:nvSpPr>
        <p:spPr>
          <a:xfrm>
            <a:off x="8659368" y="3941064"/>
            <a:ext cx="1005840" cy="219456"/>
          </a:xfrm>
          <a:prstGeom prst="rect">
            <a:avLst/>
          </a:prstGeom>
          <a:noFill/>
          <a:ln/>
        </p:spPr>
        <p:txBody>
          <a:bodyPr wrap="square" lIns="0" tIns="0" rIns="0" bIns="0" rtlCol="0" anchor="ctr"/>
          <a:lstStyle/>
          <a:p>
            <a:pPr indent="0" marL="0">
              <a:buNone/>
            </a:pPr>
            <a:r>
              <a:rPr lang="en-US" sz="1050" dirty="0">
                <a:solidFill>
                  <a:schemeClr val="bg2"/>
                </a:solidFill>
              </a:rPr>
              <a:t>wrong cell</a:t>
            </a:r>
            <a:endParaRPr lang="en-US" sz="1050" dirty="0"/>
          </a:p>
        </p:txBody>
      </p:sp>
      <p:sp>
        <p:nvSpPr>
          <p:cNvPr id="62" name="Legend correct cell"/>
          <p:cNvSpPr/>
          <p:nvPr/>
        </p:nvSpPr>
        <p:spPr>
          <a:xfrm>
            <a:off x="9646920" y="3995928"/>
            <a:ext cx="109728" cy="109728"/>
          </a:xfrm>
          <a:prstGeom prst="rect">
            <a:avLst/>
          </a:prstGeom>
          <a:solidFill>
            <a:schemeClr val="accent1"/>
          </a:solidFill>
          <a:ln/>
        </p:spPr>
        <p:txBody>
          <a:bodyPr/>
          <a:p/>
        </p:txBody>
      </p:sp>
      <p:sp>
        <p:nvSpPr>
          <p:cNvPr id="63" name="Text 61"/>
          <p:cNvSpPr txBox="1"/>
          <p:nvPr/>
        </p:nvSpPr>
        <p:spPr>
          <a:xfrm>
            <a:off x="9829800" y="3941064"/>
            <a:ext cx="1005840" cy="219456"/>
          </a:xfrm>
          <a:prstGeom prst="rect">
            <a:avLst/>
          </a:prstGeom>
          <a:noFill/>
          <a:ln/>
        </p:spPr>
        <p:txBody>
          <a:bodyPr wrap="square" lIns="0" tIns="0" rIns="0" bIns="0" rtlCol="0" anchor="ctr"/>
          <a:lstStyle/>
          <a:p>
            <a:pPr indent="0" marL="0">
              <a:buNone/>
            </a:pPr>
            <a:r>
              <a:rPr lang="en-US" sz="1050" dirty="0">
                <a:solidFill>
                  <a:schemeClr val="bg2"/>
                </a:solidFill>
              </a:rPr>
              <a:t>correct cell</a:t>
            </a:r>
            <a:endParaRPr lang="en-US" sz="1050" dirty="0"/>
          </a:p>
        </p:txBody>
      </p:sp>
      <p:sp>
        <p:nvSpPr>
          <p:cNvPr id="64" name="Dataset notes card"/>
          <p:cNvSpPr/>
          <p:nvPr/>
        </p:nvSpPr>
        <p:spPr>
          <a:xfrm>
            <a:off x="8275320" y="4480560"/>
            <a:ext cx="3367735" cy="1600200"/>
          </a:xfrm>
          <a:prstGeom prst="roundRect">
            <a:avLst>
              <a:gd name="adj" fmla="val 4571"/>
            </a:avLst>
          </a:prstGeom>
          <a:solidFill>
            <a:schemeClr val="tx2"/>
          </a:solidFill>
          <a:ln/>
        </p:spPr>
        <p:txBody>
          <a:bodyPr/>
          <a:p/>
        </p:txBody>
      </p:sp>
      <p:sp>
        <p:nvSpPr>
          <p:cNvPr id="65" name="Text 63"/>
          <p:cNvSpPr txBox="1"/>
          <p:nvPr/>
        </p:nvSpPr>
        <p:spPr>
          <a:xfrm>
            <a:off x="8476488" y="4617720"/>
            <a:ext cx="2965399" cy="1325880"/>
          </a:xfrm>
          <a:prstGeom prst="rect">
            <a:avLst/>
          </a:prstGeom>
          <a:noFill/>
          <a:ln/>
        </p:spPr>
        <p:txBody>
          <a:bodyPr wrap="square" lIns="0" tIns="0" rIns="0" bIns="0" rtlCol="0" anchor="ctr"/>
          <a:lstStyle/>
          <a:p>
            <a:pPr marL="177800" indent="-177800">
              <a:spcAft>
                <a:spcPts val="600"/>
              </a:spcAft>
              <a:buSzPct val="100000"/>
              <a:buChar char="•"/>
            </a:pPr>
            <a:r>
              <a:rPr lang="en-US" sz="1200" dirty="0">
                <a:solidFill>
                  <a:schemeClr val="bg2"/>
                </a:solidFill>
              </a:rPr>
              <a:t>One correct cell per wrong cell; half are hard negatives (rare but correct values)</a:t>
            </a:r>
            <a:endParaRPr lang="en-US" sz="1200" dirty="0"/>
          </a:p>
          <a:p>
            <a:pPr marL="177800" indent="-177800">
              <a:spcAft>
                <a:spcPts val="600"/>
              </a:spcAft>
              <a:buSzPct val="100000"/>
              <a:buChar char="•"/>
            </a:pPr>
            <a:r>
              <a:rPr lang="en-US" sz="1200" dirty="0">
                <a:solidFill>
                  <a:schemeClr val="bg2"/>
                </a:solidFill>
              </a:rPr>
              <a:t>Prompt and answer fit the 1,500-token budget (Gemma tokens: median 484 to 759, longest 1,009)</a:t>
            </a:r>
            <a:endParaRPr lang="en-US" sz="1200" dirty="0"/>
          </a:p>
          <a:p>
            <a:pPr marL="177800" indent="-177800">
              <a:spcAft>
                <a:spcPts val="600"/>
              </a:spcAft>
              <a:buSzPct val="100000"/>
              <a:buChar char="•"/>
            </a:pPr>
            <a:r>
              <a:rPr lang="en-US" sz="1200" dirty="0">
                <a:solidFill>
                  <a:schemeClr val="bg2"/>
                </a:solidFill>
              </a:rPr>
              <a:t>No clean value is ever shown to the model</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3"/>
                </a:solidFill>
              </a:rPr>
              <a:t>LEAKAGE CHECKS AND HAND-OVER</a:t>
            </a:r>
            <a:endParaRPr lang="en-US" sz="1100" dirty="0"/>
          </a:p>
        </p:txBody>
      </p:sp>
      <p:sp>
        <p:nvSpPr>
          <p:cNvPr id="3" name="Text 2"/>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2600" b="1" dirty="0">
                <a:solidFill>
                  <a:schemeClr val="tx1"/>
                </a:solidFill>
              </a:rPr>
              <a:t>A leakage check caught a real problem; all checks now pass</a:t>
            </a:r>
            <a:endParaRPr lang="en-US" sz="2600" dirty="0"/>
          </a:p>
        </p:txBody>
      </p:sp>
      <p:sp>
        <p:nvSpPr>
          <p:cNvPr id="5" name="Hospital dot map card"/>
          <p:cNvSpPr/>
          <p:nvPr/>
        </p:nvSpPr>
        <p:spPr>
          <a:xfrm>
            <a:off x="548640" y="1417320"/>
            <a:ext cx="4206240" cy="4663440"/>
          </a:xfrm>
          <a:prstGeom prst="roundRect">
            <a:avLst>
              <a:gd name="adj" fmla="val 1739"/>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6" name="Text 4"/>
          <p:cNvSpPr txBox="1"/>
          <p:nvPr/>
        </p:nvSpPr>
        <p:spPr>
          <a:xfrm>
            <a:off x="822960" y="1600200"/>
            <a:ext cx="365760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WHAT THE CHECK FOUND · 45 REAL HOSPITALS</a:t>
            </a:r>
            <a:endParaRPr lang="en-US" sz="1100" dirty="0"/>
          </a:p>
        </p:txBody>
      </p:sp>
      <p:sp>
        <p:nvSpPr>
          <p:cNvPr id="7" name="Text 5"/>
          <p:cNvSpPr txBox="1"/>
          <p:nvPr/>
        </p:nvSpPr>
        <p:spPr>
          <a:xfrm>
            <a:off x="822960" y="1984248"/>
            <a:ext cx="3657600" cy="228600"/>
          </a:xfrm>
          <a:prstGeom prst="rect">
            <a:avLst/>
          </a:prstGeom>
          <a:noFill/>
          <a:ln/>
        </p:spPr>
        <p:txBody>
          <a:bodyPr wrap="square" lIns="0" tIns="0" rIns="0" bIns="0" rtlCol="0" anchor="ctr"/>
          <a:lstStyle/>
          <a:p>
            <a:pPr indent="0" marL="0">
              <a:buNone/>
            </a:pPr>
            <a:r>
              <a:rPr lang="en-US" sz="1050" b="1" dirty="0">
                <a:solidFill>
                  <a:schemeClr val="accent6"/>
                </a:solidFill>
              </a:rPr>
              <a:t>BEFORE · split on the dirty provider number</a:t>
            </a:r>
            <a:endParaRPr lang="en-US" sz="1050" dirty="0"/>
          </a:p>
        </p:txBody>
      </p:sp>
      <p:sp>
        <p:nvSpPr>
          <p:cNvPr id="8" name="Hospital dot 0"/>
          <p:cNvSpPr/>
          <p:nvPr/>
        </p:nvSpPr>
        <p:spPr>
          <a:xfrm>
            <a:off x="822960" y="2313432"/>
            <a:ext cx="182880" cy="182880"/>
          </a:xfrm>
          <a:prstGeom prst="ellipse">
            <a:avLst/>
          </a:prstGeom>
          <a:solidFill>
            <a:schemeClr val="accent3"/>
          </a:solidFill>
          <a:ln/>
        </p:spPr>
        <p:txBody>
          <a:bodyPr/>
          <a:p/>
        </p:txBody>
      </p:sp>
      <p:sp>
        <p:nvSpPr>
          <p:cNvPr id="9" name="Hospital dot 1"/>
          <p:cNvSpPr/>
          <p:nvPr/>
        </p:nvSpPr>
        <p:spPr>
          <a:xfrm>
            <a:off x="1060704" y="2313432"/>
            <a:ext cx="182880" cy="182880"/>
          </a:xfrm>
          <a:prstGeom prst="ellipse">
            <a:avLst/>
          </a:prstGeom>
          <a:solidFill>
            <a:schemeClr val="accent3"/>
          </a:solidFill>
          <a:ln/>
        </p:spPr>
        <p:txBody>
          <a:bodyPr/>
          <a:p/>
        </p:txBody>
      </p:sp>
      <p:sp>
        <p:nvSpPr>
          <p:cNvPr id="10" name="Hospital dot 2"/>
          <p:cNvSpPr/>
          <p:nvPr/>
        </p:nvSpPr>
        <p:spPr>
          <a:xfrm>
            <a:off x="1298448" y="2313432"/>
            <a:ext cx="182880" cy="182880"/>
          </a:xfrm>
          <a:prstGeom prst="ellipse">
            <a:avLst/>
          </a:prstGeom>
          <a:solidFill>
            <a:schemeClr val="accent2"/>
          </a:solidFill>
          <a:ln/>
        </p:spPr>
        <p:txBody>
          <a:bodyPr/>
          <a:p/>
        </p:txBody>
      </p:sp>
      <p:sp>
        <p:nvSpPr>
          <p:cNvPr id="11" name="Hospital dot 3"/>
          <p:cNvSpPr/>
          <p:nvPr/>
        </p:nvSpPr>
        <p:spPr>
          <a:xfrm>
            <a:off x="1536192" y="2313432"/>
            <a:ext cx="182880" cy="182880"/>
          </a:xfrm>
          <a:prstGeom prst="ellipse">
            <a:avLst/>
          </a:prstGeom>
          <a:solidFill>
            <a:schemeClr val="accent3"/>
          </a:solidFill>
          <a:ln/>
        </p:spPr>
        <p:txBody>
          <a:bodyPr/>
          <a:p/>
        </p:txBody>
      </p:sp>
      <p:sp>
        <p:nvSpPr>
          <p:cNvPr id="12" name="Hospital dot 4"/>
          <p:cNvSpPr/>
          <p:nvPr/>
        </p:nvSpPr>
        <p:spPr>
          <a:xfrm>
            <a:off x="1773936" y="2313432"/>
            <a:ext cx="182880" cy="182880"/>
          </a:xfrm>
          <a:prstGeom prst="ellipse">
            <a:avLst/>
          </a:prstGeom>
          <a:solidFill>
            <a:schemeClr val="accent3"/>
          </a:solidFill>
          <a:ln/>
        </p:spPr>
        <p:txBody>
          <a:bodyPr/>
          <a:p/>
        </p:txBody>
      </p:sp>
      <p:sp>
        <p:nvSpPr>
          <p:cNvPr id="13" name="Hospital dot 5"/>
          <p:cNvSpPr/>
          <p:nvPr/>
        </p:nvSpPr>
        <p:spPr>
          <a:xfrm>
            <a:off x="2011680" y="2313432"/>
            <a:ext cx="182880" cy="182880"/>
          </a:xfrm>
          <a:prstGeom prst="ellipse">
            <a:avLst/>
          </a:prstGeom>
          <a:solidFill>
            <a:schemeClr val="accent2"/>
          </a:solidFill>
          <a:ln/>
        </p:spPr>
        <p:txBody>
          <a:bodyPr/>
          <a:p/>
        </p:txBody>
      </p:sp>
      <p:sp>
        <p:nvSpPr>
          <p:cNvPr id="14" name="Hospital dot 6"/>
          <p:cNvSpPr/>
          <p:nvPr/>
        </p:nvSpPr>
        <p:spPr>
          <a:xfrm>
            <a:off x="2249424" y="2313432"/>
            <a:ext cx="182880" cy="182880"/>
          </a:xfrm>
          <a:prstGeom prst="ellipse">
            <a:avLst/>
          </a:prstGeom>
          <a:solidFill>
            <a:schemeClr val="accent3"/>
          </a:solidFill>
          <a:ln/>
        </p:spPr>
        <p:txBody>
          <a:bodyPr/>
          <a:p/>
        </p:txBody>
      </p:sp>
      <p:sp>
        <p:nvSpPr>
          <p:cNvPr id="15" name="Hospital dot 7"/>
          <p:cNvSpPr/>
          <p:nvPr/>
        </p:nvSpPr>
        <p:spPr>
          <a:xfrm>
            <a:off x="2487168" y="2313432"/>
            <a:ext cx="182880" cy="182880"/>
          </a:xfrm>
          <a:prstGeom prst="ellipse">
            <a:avLst/>
          </a:prstGeom>
          <a:solidFill>
            <a:schemeClr val="accent3"/>
          </a:solidFill>
          <a:ln/>
        </p:spPr>
        <p:txBody>
          <a:bodyPr/>
          <a:p/>
        </p:txBody>
      </p:sp>
      <p:sp>
        <p:nvSpPr>
          <p:cNvPr id="16" name="Hospital dot 8"/>
          <p:cNvSpPr/>
          <p:nvPr/>
        </p:nvSpPr>
        <p:spPr>
          <a:xfrm>
            <a:off x="2724912" y="2313432"/>
            <a:ext cx="182880" cy="182880"/>
          </a:xfrm>
          <a:prstGeom prst="ellipse">
            <a:avLst/>
          </a:prstGeom>
          <a:solidFill>
            <a:schemeClr val="accent3"/>
          </a:solidFill>
          <a:ln/>
        </p:spPr>
        <p:txBody>
          <a:bodyPr/>
          <a:p/>
        </p:txBody>
      </p:sp>
      <p:sp>
        <p:nvSpPr>
          <p:cNvPr id="17" name="Hospital dot 9"/>
          <p:cNvSpPr/>
          <p:nvPr/>
        </p:nvSpPr>
        <p:spPr>
          <a:xfrm>
            <a:off x="822960" y="2551176"/>
            <a:ext cx="182880" cy="182880"/>
          </a:xfrm>
          <a:prstGeom prst="ellipse">
            <a:avLst/>
          </a:prstGeom>
          <a:solidFill>
            <a:schemeClr val="accent2"/>
          </a:solidFill>
          <a:ln/>
        </p:spPr>
        <p:txBody>
          <a:bodyPr/>
          <a:p/>
        </p:txBody>
      </p:sp>
      <p:sp>
        <p:nvSpPr>
          <p:cNvPr id="18" name="Hospital dot 10"/>
          <p:cNvSpPr/>
          <p:nvPr/>
        </p:nvSpPr>
        <p:spPr>
          <a:xfrm>
            <a:off x="1060704" y="2551176"/>
            <a:ext cx="182880" cy="182880"/>
          </a:xfrm>
          <a:prstGeom prst="ellipse">
            <a:avLst/>
          </a:prstGeom>
          <a:solidFill>
            <a:schemeClr val="accent3"/>
          </a:solidFill>
          <a:ln/>
        </p:spPr>
        <p:txBody>
          <a:bodyPr/>
          <a:p/>
        </p:txBody>
      </p:sp>
      <p:sp>
        <p:nvSpPr>
          <p:cNvPr id="19" name="Hospital dot 11"/>
          <p:cNvSpPr/>
          <p:nvPr/>
        </p:nvSpPr>
        <p:spPr>
          <a:xfrm>
            <a:off x="1298448" y="2551176"/>
            <a:ext cx="182880" cy="182880"/>
          </a:xfrm>
          <a:prstGeom prst="ellipse">
            <a:avLst/>
          </a:prstGeom>
          <a:solidFill>
            <a:schemeClr val="accent3"/>
          </a:solidFill>
          <a:ln/>
        </p:spPr>
        <p:txBody>
          <a:bodyPr/>
          <a:p/>
        </p:txBody>
      </p:sp>
      <p:sp>
        <p:nvSpPr>
          <p:cNvPr id="20" name="Hospital dot 12"/>
          <p:cNvSpPr/>
          <p:nvPr/>
        </p:nvSpPr>
        <p:spPr>
          <a:xfrm>
            <a:off x="1536192" y="2551176"/>
            <a:ext cx="182880" cy="182880"/>
          </a:xfrm>
          <a:prstGeom prst="ellipse">
            <a:avLst/>
          </a:prstGeom>
          <a:solidFill>
            <a:schemeClr val="accent3"/>
          </a:solidFill>
          <a:ln/>
        </p:spPr>
        <p:txBody>
          <a:bodyPr/>
          <a:p/>
        </p:txBody>
      </p:sp>
      <p:sp>
        <p:nvSpPr>
          <p:cNvPr id="21" name="Hospital dot 13"/>
          <p:cNvSpPr/>
          <p:nvPr/>
        </p:nvSpPr>
        <p:spPr>
          <a:xfrm>
            <a:off x="1773936" y="2551176"/>
            <a:ext cx="182880" cy="182880"/>
          </a:xfrm>
          <a:prstGeom prst="ellipse">
            <a:avLst/>
          </a:prstGeom>
          <a:solidFill>
            <a:schemeClr val="accent2"/>
          </a:solidFill>
          <a:ln/>
        </p:spPr>
        <p:txBody>
          <a:bodyPr/>
          <a:p/>
        </p:txBody>
      </p:sp>
      <p:sp>
        <p:nvSpPr>
          <p:cNvPr id="22" name="Hospital dot 14"/>
          <p:cNvSpPr/>
          <p:nvPr/>
        </p:nvSpPr>
        <p:spPr>
          <a:xfrm>
            <a:off x="2011680" y="2551176"/>
            <a:ext cx="182880" cy="182880"/>
          </a:xfrm>
          <a:prstGeom prst="ellipse">
            <a:avLst/>
          </a:prstGeom>
          <a:solidFill>
            <a:schemeClr val="accent3"/>
          </a:solidFill>
          <a:ln/>
        </p:spPr>
        <p:txBody>
          <a:bodyPr/>
          <a:p/>
        </p:txBody>
      </p:sp>
      <p:sp>
        <p:nvSpPr>
          <p:cNvPr id="23" name="Hospital dot 15"/>
          <p:cNvSpPr/>
          <p:nvPr/>
        </p:nvSpPr>
        <p:spPr>
          <a:xfrm>
            <a:off x="2249424" y="2551176"/>
            <a:ext cx="182880" cy="182880"/>
          </a:xfrm>
          <a:prstGeom prst="ellipse">
            <a:avLst/>
          </a:prstGeom>
          <a:solidFill>
            <a:schemeClr val="accent3"/>
          </a:solidFill>
          <a:ln/>
        </p:spPr>
        <p:txBody>
          <a:bodyPr/>
          <a:p/>
        </p:txBody>
      </p:sp>
      <p:sp>
        <p:nvSpPr>
          <p:cNvPr id="24" name="Hospital dot 16"/>
          <p:cNvSpPr/>
          <p:nvPr/>
        </p:nvSpPr>
        <p:spPr>
          <a:xfrm>
            <a:off x="2487168" y="2551176"/>
            <a:ext cx="182880" cy="182880"/>
          </a:xfrm>
          <a:prstGeom prst="ellipse">
            <a:avLst/>
          </a:prstGeom>
          <a:solidFill>
            <a:schemeClr val="accent3"/>
          </a:solidFill>
          <a:ln/>
        </p:spPr>
        <p:txBody>
          <a:bodyPr/>
          <a:p/>
        </p:txBody>
      </p:sp>
      <p:sp>
        <p:nvSpPr>
          <p:cNvPr id="25" name="Hospital dot 17"/>
          <p:cNvSpPr/>
          <p:nvPr/>
        </p:nvSpPr>
        <p:spPr>
          <a:xfrm>
            <a:off x="2724912" y="2551176"/>
            <a:ext cx="182880" cy="182880"/>
          </a:xfrm>
          <a:prstGeom prst="ellipse">
            <a:avLst/>
          </a:prstGeom>
          <a:solidFill>
            <a:schemeClr val="accent2"/>
          </a:solidFill>
          <a:ln/>
        </p:spPr>
        <p:txBody>
          <a:bodyPr/>
          <a:p/>
        </p:txBody>
      </p:sp>
      <p:sp>
        <p:nvSpPr>
          <p:cNvPr id="26" name="Hospital dot 18"/>
          <p:cNvSpPr/>
          <p:nvPr/>
        </p:nvSpPr>
        <p:spPr>
          <a:xfrm>
            <a:off x="822960" y="2788920"/>
            <a:ext cx="182880" cy="182880"/>
          </a:xfrm>
          <a:prstGeom prst="ellipse">
            <a:avLst/>
          </a:prstGeom>
          <a:solidFill>
            <a:schemeClr val="accent3"/>
          </a:solidFill>
          <a:ln/>
        </p:spPr>
        <p:txBody>
          <a:bodyPr/>
          <a:p/>
        </p:txBody>
      </p:sp>
      <p:sp>
        <p:nvSpPr>
          <p:cNvPr id="27" name="Hospital dot 19"/>
          <p:cNvSpPr/>
          <p:nvPr/>
        </p:nvSpPr>
        <p:spPr>
          <a:xfrm>
            <a:off x="1060704" y="2788920"/>
            <a:ext cx="182880" cy="182880"/>
          </a:xfrm>
          <a:prstGeom prst="ellipse">
            <a:avLst/>
          </a:prstGeom>
          <a:solidFill>
            <a:schemeClr val="accent3"/>
          </a:solidFill>
          <a:ln/>
        </p:spPr>
        <p:txBody>
          <a:bodyPr/>
          <a:p/>
        </p:txBody>
      </p:sp>
      <p:sp>
        <p:nvSpPr>
          <p:cNvPr id="28" name="Hospital dot 20"/>
          <p:cNvSpPr/>
          <p:nvPr/>
        </p:nvSpPr>
        <p:spPr>
          <a:xfrm>
            <a:off x="1298448" y="2788920"/>
            <a:ext cx="182880" cy="182880"/>
          </a:xfrm>
          <a:prstGeom prst="ellipse">
            <a:avLst/>
          </a:prstGeom>
          <a:solidFill>
            <a:schemeClr val="accent2"/>
          </a:solidFill>
          <a:ln/>
        </p:spPr>
        <p:txBody>
          <a:bodyPr/>
          <a:p/>
        </p:txBody>
      </p:sp>
      <p:sp>
        <p:nvSpPr>
          <p:cNvPr id="29" name="Hospital dot 21"/>
          <p:cNvSpPr/>
          <p:nvPr/>
        </p:nvSpPr>
        <p:spPr>
          <a:xfrm>
            <a:off x="1536192" y="2788920"/>
            <a:ext cx="182880" cy="182880"/>
          </a:xfrm>
          <a:prstGeom prst="ellipse">
            <a:avLst/>
          </a:prstGeom>
          <a:solidFill>
            <a:schemeClr val="accent3"/>
          </a:solidFill>
          <a:ln/>
        </p:spPr>
        <p:txBody>
          <a:bodyPr/>
          <a:p/>
        </p:txBody>
      </p:sp>
      <p:sp>
        <p:nvSpPr>
          <p:cNvPr id="30" name="Hospital dot 22"/>
          <p:cNvSpPr/>
          <p:nvPr/>
        </p:nvSpPr>
        <p:spPr>
          <a:xfrm>
            <a:off x="1773936" y="2788920"/>
            <a:ext cx="182880" cy="182880"/>
          </a:xfrm>
          <a:prstGeom prst="ellipse">
            <a:avLst/>
          </a:prstGeom>
          <a:solidFill>
            <a:schemeClr val="accent3"/>
          </a:solidFill>
          <a:ln/>
        </p:spPr>
        <p:txBody>
          <a:bodyPr/>
          <a:p/>
        </p:txBody>
      </p:sp>
      <p:sp>
        <p:nvSpPr>
          <p:cNvPr id="31" name="Hospital dot 23"/>
          <p:cNvSpPr/>
          <p:nvPr/>
        </p:nvSpPr>
        <p:spPr>
          <a:xfrm>
            <a:off x="2011680" y="2788920"/>
            <a:ext cx="182880" cy="182880"/>
          </a:xfrm>
          <a:prstGeom prst="ellipse">
            <a:avLst/>
          </a:prstGeom>
          <a:solidFill>
            <a:schemeClr val="accent3"/>
          </a:solidFill>
          <a:ln/>
        </p:spPr>
        <p:txBody>
          <a:bodyPr/>
          <a:p/>
        </p:txBody>
      </p:sp>
      <p:sp>
        <p:nvSpPr>
          <p:cNvPr id="32" name="Hospital dot 24"/>
          <p:cNvSpPr/>
          <p:nvPr/>
        </p:nvSpPr>
        <p:spPr>
          <a:xfrm>
            <a:off x="2249424" y="2788920"/>
            <a:ext cx="182880" cy="182880"/>
          </a:xfrm>
          <a:prstGeom prst="ellipse">
            <a:avLst/>
          </a:prstGeom>
          <a:solidFill>
            <a:schemeClr val="accent2"/>
          </a:solidFill>
          <a:ln/>
        </p:spPr>
        <p:txBody>
          <a:bodyPr/>
          <a:p/>
        </p:txBody>
      </p:sp>
      <p:sp>
        <p:nvSpPr>
          <p:cNvPr id="33" name="Hospital dot 25"/>
          <p:cNvSpPr/>
          <p:nvPr/>
        </p:nvSpPr>
        <p:spPr>
          <a:xfrm>
            <a:off x="2487168" y="2788920"/>
            <a:ext cx="182880" cy="182880"/>
          </a:xfrm>
          <a:prstGeom prst="ellipse">
            <a:avLst/>
          </a:prstGeom>
          <a:solidFill>
            <a:schemeClr val="accent3"/>
          </a:solidFill>
          <a:ln/>
        </p:spPr>
        <p:txBody>
          <a:bodyPr/>
          <a:p/>
        </p:txBody>
      </p:sp>
      <p:sp>
        <p:nvSpPr>
          <p:cNvPr id="34" name="Hospital dot 26"/>
          <p:cNvSpPr/>
          <p:nvPr/>
        </p:nvSpPr>
        <p:spPr>
          <a:xfrm>
            <a:off x="2724912" y="2788920"/>
            <a:ext cx="182880" cy="182880"/>
          </a:xfrm>
          <a:prstGeom prst="ellipse">
            <a:avLst/>
          </a:prstGeom>
          <a:solidFill>
            <a:schemeClr val="accent3"/>
          </a:solidFill>
          <a:ln/>
        </p:spPr>
        <p:txBody>
          <a:bodyPr/>
          <a:p/>
        </p:txBody>
      </p:sp>
      <p:sp>
        <p:nvSpPr>
          <p:cNvPr id="35" name="Hospital dot 27"/>
          <p:cNvSpPr/>
          <p:nvPr/>
        </p:nvSpPr>
        <p:spPr>
          <a:xfrm>
            <a:off x="822960" y="3026664"/>
            <a:ext cx="182880" cy="182880"/>
          </a:xfrm>
          <a:prstGeom prst="ellipse">
            <a:avLst/>
          </a:prstGeom>
          <a:solidFill>
            <a:schemeClr val="accent3"/>
          </a:solidFill>
          <a:ln/>
        </p:spPr>
        <p:txBody>
          <a:bodyPr/>
          <a:p/>
        </p:txBody>
      </p:sp>
      <p:sp>
        <p:nvSpPr>
          <p:cNvPr id="36" name="Hospital dot 28"/>
          <p:cNvSpPr/>
          <p:nvPr/>
        </p:nvSpPr>
        <p:spPr>
          <a:xfrm>
            <a:off x="1060704" y="3026664"/>
            <a:ext cx="182880" cy="182880"/>
          </a:xfrm>
          <a:prstGeom prst="ellipse">
            <a:avLst/>
          </a:prstGeom>
          <a:solidFill>
            <a:schemeClr val="accent2"/>
          </a:solidFill>
          <a:ln/>
        </p:spPr>
        <p:txBody>
          <a:bodyPr/>
          <a:p/>
        </p:txBody>
      </p:sp>
      <p:sp>
        <p:nvSpPr>
          <p:cNvPr id="37" name="Hospital dot 29"/>
          <p:cNvSpPr/>
          <p:nvPr/>
        </p:nvSpPr>
        <p:spPr>
          <a:xfrm>
            <a:off x="1298448" y="3026664"/>
            <a:ext cx="182880" cy="182880"/>
          </a:xfrm>
          <a:prstGeom prst="ellipse">
            <a:avLst/>
          </a:prstGeom>
          <a:solidFill>
            <a:schemeClr val="accent3"/>
          </a:solidFill>
          <a:ln/>
        </p:spPr>
        <p:txBody>
          <a:bodyPr/>
          <a:p/>
        </p:txBody>
      </p:sp>
      <p:sp>
        <p:nvSpPr>
          <p:cNvPr id="38" name="Hospital dot 30"/>
          <p:cNvSpPr/>
          <p:nvPr/>
        </p:nvSpPr>
        <p:spPr>
          <a:xfrm>
            <a:off x="1536192" y="3026664"/>
            <a:ext cx="182880" cy="182880"/>
          </a:xfrm>
          <a:prstGeom prst="ellipse">
            <a:avLst/>
          </a:prstGeom>
          <a:solidFill>
            <a:schemeClr val="accent3"/>
          </a:solidFill>
          <a:ln/>
        </p:spPr>
        <p:txBody>
          <a:bodyPr/>
          <a:p/>
        </p:txBody>
      </p:sp>
      <p:sp>
        <p:nvSpPr>
          <p:cNvPr id="39" name="Hospital dot 31"/>
          <p:cNvSpPr/>
          <p:nvPr/>
        </p:nvSpPr>
        <p:spPr>
          <a:xfrm>
            <a:off x="1773936" y="3026664"/>
            <a:ext cx="182880" cy="182880"/>
          </a:xfrm>
          <a:prstGeom prst="ellipse">
            <a:avLst/>
          </a:prstGeom>
          <a:solidFill>
            <a:schemeClr val="accent2"/>
          </a:solidFill>
          <a:ln/>
        </p:spPr>
        <p:txBody>
          <a:bodyPr/>
          <a:p/>
        </p:txBody>
      </p:sp>
      <p:sp>
        <p:nvSpPr>
          <p:cNvPr id="40" name="Hospital dot 32"/>
          <p:cNvSpPr/>
          <p:nvPr/>
        </p:nvSpPr>
        <p:spPr>
          <a:xfrm>
            <a:off x="2011680" y="3026664"/>
            <a:ext cx="182880" cy="182880"/>
          </a:xfrm>
          <a:prstGeom prst="ellipse">
            <a:avLst/>
          </a:prstGeom>
          <a:solidFill>
            <a:schemeClr val="accent3"/>
          </a:solidFill>
          <a:ln/>
        </p:spPr>
        <p:txBody>
          <a:bodyPr/>
          <a:p/>
        </p:txBody>
      </p:sp>
      <p:sp>
        <p:nvSpPr>
          <p:cNvPr id="41" name="Hospital dot 33"/>
          <p:cNvSpPr/>
          <p:nvPr/>
        </p:nvSpPr>
        <p:spPr>
          <a:xfrm>
            <a:off x="2249424" y="3026664"/>
            <a:ext cx="182880" cy="182880"/>
          </a:xfrm>
          <a:prstGeom prst="ellipse">
            <a:avLst/>
          </a:prstGeom>
          <a:solidFill>
            <a:schemeClr val="accent3"/>
          </a:solidFill>
          <a:ln/>
        </p:spPr>
        <p:txBody>
          <a:bodyPr/>
          <a:p/>
        </p:txBody>
      </p:sp>
      <p:sp>
        <p:nvSpPr>
          <p:cNvPr id="42" name="Hospital dot 34"/>
          <p:cNvSpPr/>
          <p:nvPr/>
        </p:nvSpPr>
        <p:spPr>
          <a:xfrm>
            <a:off x="2487168" y="3026664"/>
            <a:ext cx="182880" cy="182880"/>
          </a:xfrm>
          <a:prstGeom prst="ellipse">
            <a:avLst/>
          </a:prstGeom>
          <a:solidFill>
            <a:schemeClr val="accent3"/>
          </a:solidFill>
          <a:ln/>
        </p:spPr>
        <p:txBody>
          <a:bodyPr/>
          <a:p/>
        </p:txBody>
      </p:sp>
      <p:sp>
        <p:nvSpPr>
          <p:cNvPr id="43" name="Hospital dot 35"/>
          <p:cNvSpPr/>
          <p:nvPr/>
        </p:nvSpPr>
        <p:spPr>
          <a:xfrm>
            <a:off x="2724912" y="3026664"/>
            <a:ext cx="182880" cy="182880"/>
          </a:xfrm>
          <a:prstGeom prst="ellipse">
            <a:avLst/>
          </a:prstGeom>
          <a:solidFill>
            <a:schemeClr val="accent3"/>
          </a:solidFill>
          <a:ln/>
        </p:spPr>
        <p:txBody>
          <a:bodyPr/>
          <a:p/>
        </p:txBody>
      </p:sp>
      <p:sp>
        <p:nvSpPr>
          <p:cNvPr id="44" name="Hospital dot 36"/>
          <p:cNvSpPr/>
          <p:nvPr/>
        </p:nvSpPr>
        <p:spPr>
          <a:xfrm>
            <a:off x="822960" y="3264408"/>
            <a:ext cx="182880" cy="182880"/>
          </a:xfrm>
          <a:prstGeom prst="ellipse">
            <a:avLst/>
          </a:prstGeom>
          <a:solidFill>
            <a:schemeClr val="accent2"/>
          </a:solidFill>
          <a:ln/>
        </p:spPr>
        <p:txBody>
          <a:bodyPr/>
          <a:p/>
        </p:txBody>
      </p:sp>
      <p:sp>
        <p:nvSpPr>
          <p:cNvPr id="45" name="Hospital dot 37"/>
          <p:cNvSpPr/>
          <p:nvPr/>
        </p:nvSpPr>
        <p:spPr>
          <a:xfrm>
            <a:off x="1060704" y="3264408"/>
            <a:ext cx="182880" cy="182880"/>
          </a:xfrm>
          <a:prstGeom prst="ellipse">
            <a:avLst/>
          </a:prstGeom>
          <a:solidFill>
            <a:schemeClr val="accent3"/>
          </a:solidFill>
          <a:ln/>
        </p:spPr>
        <p:txBody>
          <a:bodyPr/>
          <a:p/>
        </p:txBody>
      </p:sp>
      <p:sp>
        <p:nvSpPr>
          <p:cNvPr id="46" name="Hospital dot 38"/>
          <p:cNvSpPr/>
          <p:nvPr/>
        </p:nvSpPr>
        <p:spPr>
          <a:xfrm>
            <a:off x="1298448" y="3264408"/>
            <a:ext cx="182880" cy="182880"/>
          </a:xfrm>
          <a:prstGeom prst="ellipse">
            <a:avLst/>
          </a:prstGeom>
          <a:solidFill>
            <a:schemeClr val="accent3"/>
          </a:solidFill>
          <a:ln/>
        </p:spPr>
        <p:txBody>
          <a:bodyPr/>
          <a:p/>
        </p:txBody>
      </p:sp>
      <p:sp>
        <p:nvSpPr>
          <p:cNvPr id="47" name="Hospital dot 39"/>
          <p:cNvSpPr/>
          <p:nvPr/>
        </p:nvSpPr>
        <p:spPr>
          <a:xfrm>
            <a:off x="1536192" y="3264408"/>
            <a:ext cx="182880" cy="182880"/>
          </a:xfrm>
          <a:prstGeom prst="ellipse">
            <a:avLst/>
          </a:prstGeom>
          <a:solidFill>
            <a:schemeClr val="accent2"/>
          </a:solidFill>
          <a:ln/>
        </p:spPr>
        <p:txBody>
          <a:bodyPr/>
          <a:p/>
        </p:txBody>
      </p:sp>
      <p:sp>
        <p:nvSpPr>
          <p:cNvPr id="48" name="Hospital dot 40"/>
          <p:cNvSpPr/>
          <p:nvPr/>
        </p:nvSpPr>
        <p:spPr>
          <a:xfrm>
            <a:off x="1773936" y="3264408"/>
            <a:ext cx="182880" cy="182880"/>
          </a:xfrm>
          <a:prstGeom prst="ellipse">
            <a:avLst/>
          </a:prstGeom>
          <a:solidFill>
            <a:schemeClr val="accent3"/>
          </a:solidFill>
          <a:ln/>
        </p:spPr>
        <p:txBody>
          <a:bodyPr/>
          <a:p/>
        </p:txBody>
      </p:sp>
      <p:sp>
        <p:nvSpPr>
          <p:cNvPr id="49" name="Hospital dot 41"/>
          <p:cNvSpPr/>
          <p:nvPr/>
        </p:nvSpPr>
        <p:spPr>
          <a:xfrm>
            <a:off x="2011680" y="3264408"/>
            <a:ext cx="182880" cy="182880"/>
          </a:xfrm>
          <a:prstGeom prst="ellipse">
            <a:avLst/>
          </a:prstGeom>
          <a:solidFill>
            <a:schemeClr val="accent3"/>
          </a:solidFill>
          <a:ln/>
        </p:spPr>
        <p:txBody>
          <a:bodyPr/>
          <a:p/>
        </p:txBody>
      </p:sp>
      <p:sp>
        <p:nvSpPr>
          <p:cNvPr id="50" name="Hospital dot 42"/>
          <p:cNvSpPr/>
          <p:nvPr/>
        </p:nvSpPr>
        <p:spPr>
          <a:xfrm>
            <a:off x="2249424" y="3264408"/>
            <a:ext cx="182880" cy="182880"/>
          </a:xfrm>
          <a:prstGeom prst="ellipse">
            <a:avLst/>
          </a:prstGeom>
          <a:solidFill>
            <a:schemeClr val="accent3"/>
          </a:solidFill>
          <a:ln/>
        </p:spPr>
        <p:txBody>
          <a:bodyPr/>
          <a:p/>
        </p:txBody>
      </p:sp>
      <p:sp>
        <p:nvSpPr>
          <p:cNvPr id="51" name="Hospital dot 43"/>
          <p:cNvSpPr/>
          <p:nvPr/>
        </p:nvSpPr>
        <p:spPr>
          <a:xfrm>
            <a:off x="2487168" y="3264408"/>
            <a:ext cx="182880" cy="182880"/>
          </a:xfrm>
          <a:prstGeom prst="ellipse">
            <a:avLst/>
          </a:prstGeom>
          <a:solidFill>
            <a:schemeClr val="accent2"/>
          </a:solidFill>
          <a:ln/>
        </p:spPr>
        <p:txBody>
          <a:bodyPr/>
          <a:p/>
        </p:txBody>
      </p:sp>
      <p:sp>
        <p:nvSpPr>
          <p:cNvPr id="52" name="Hospital dot 44"/>
          <p:cNvSpPr/>
          <p:nvPr/>
        </p:nvSpPr>
        <p:spPr>
          <a:xfrm>
            <a:off x="2724912" y="3264408"/>
            <a:ext cx="182880" cy="182880"/>
          </a:xfrm>
          <a:prstGeom prst="ellipse">
            <a:avLst/>
          </a:prstGeom>
          <a:solidFill>
            <a:schemeClr val="accent3"/>
          </a:solidFill>
          <a:ln/>
        </p:spPr>
        <p:txBody>
          <a:bodyPr/>
          <a:p/>
        </p:txBody>
      </p:sp>
      <p:sp>
        <p:nvSpPr>
          <p:cNvPr id="53" name="Text 51"/>
          <p:cNvSpPr txBox="1"/>
          <p:nvPr/>
        </p:nvSpPr>
        <p:spPr>
          <a:xfrm>
            <a:off x="3200400" y="2286000"/>
            <a:ext cx="1280160" cy="457200"/>
          </a:xfrm>
          <a:prstGeom prst="rect">
            <a:avLst/>
          </a:prstGeom>
          <a:noFill/>
          <a:ln/>
        </p:spPr>
        <p:txBody>
          <a:bodyPr wrap="square" lIns="0" tIns="0" rIns="0" bIns="0" rtlCol="0" anchor="ctr"/>
          <a:lstStyle/>
          <a:p>
            <a:pPr indent="0" marL="0">
              <a:buNone/>
            </a:pPr>
            <a:r>
              <a:rPr lang="en-US" sz="2800" b="1" dirty="0">
                <a:solidFill>
                  <a:schemeClr val="tx1"/>
                </a:solidFill>
              </a:rPr>
              <a:t>12 / 45</a:t>
            </a:r>
            <a:endParaRPr lang="en-US" sz="2800" dirty="0"/>
          </a:p>
        </p:txBody>
      </p:sp>
      <p:sp>
        <p:nvSpPr>
          <p:cNvPr id="54" name="Text 52"/>
          <p:cNvSpPr txBox="1"/>
          <p:nvPr/>
        </p:nvSpPr>
        <p:spPr>
          <a:xfrm>
            <a:off x="3200400" y="2761488"/>
            <a:ext cx="1280160" cy="640080"/>
          </a:xfrm>
          <a:prstGeom prst="rect">
            <a:avLst/>
          </a:prstGeom>
          <a:noFill/>
          <a:ln/>
        </p:spPr>
        <p:txBody>
          <a:bodyPr wrap="square" lIns="0" tIns="0" rIns="0" bIns="0" rtlCol="0" anchor="t"/>
          <a:lstStyle/>
          <a:p>
            <a:pPr indent="0" marL="0">
              <a:buNone/>
            </a:pPr>
            <a:r>
              <a:rPr lang="en-US" sz="1100" dirty="0">
                <a:solidFill>
                  <a:schemeClr val="accent6"/>
                </a:solidFill>
              </a:rPr>
              <a:t>hospitals sat in more than one split</a:t>
            </a:r>
            <a:endParaRPr lang="en-US" sz="1100" dirty="0"/>
          </a:p>
        </p:txBody>
      </p:sp>
      <p:sp>
        <p:nvSpPr>
          <p:cNvPr id="55" name="Text 53"/>
          <p:cNvSpPr txBox="1"/>
          <p:nvPr/>
        </p:nvSpPr>
        <p:spPr>
          <a:xfrm>
            <a:off x="822960" y="3703320"/>
            <a:ext cx="3657600" cy="228600"/>
          </a:xfrm>
          <a:prstGeom prst="rect">
            <a:avLst/>
          </a:prstGeom>
          <a:noFill/>
          <a:ln/>
        </p:spPr>
        <p:txBody>
          <a:bodyPr wrap="square" lIns="0" tIns="0" rIns="0" bIns="0" rtlCol="0" anchor="ctr"/>
          <a:lstStyle/>
          <a:p>
            <a:pPr indent="0" marL="0">
              <a:buNone/>
            </a:pPr>
            <a:r>
              <a:rPr lang="en-US" sz="1050" b="1" dirty="0">
                <a:solidFill>
                  <a:schemeClr val="accent6"/>
                </a:solidFill>
              </a:rPr>
              <a:t>AFTER · split on the clean key</a:t>
            </a:r>
            <a:endParaRPr lang="en-US" sz="1050" dirty="0"/>
          </a:p>
        </p:txBody>
      </p:sp>
      <p:sp>
        <p:nvSpPr>
          <p:cNvPr id="56" name="Hospital dot 0"/>
          <p:cNvSpPr/>
          <p:nvPr/>
        </p:nvSpPr>
        <p:spPr>
          <a:xfrm>
            <a:off x="822960" y="4032504"/>
            <a:ext cx="182880" cy="182880"/>
          </a:xfrm>
          <a:prstGeom prst="ellipse">
            <a:avLst/>
          </a:prstGeom>
          <a:solidFill>
            <a:schemeClr val="accent3"/>
          </a:solidFill>
          <a:ln/>
        </p:spPr>
        <p:txBody>
          <a:bodyPr/>
          <a:p/>
        </p:txBody>
      </p:sp>
      <p:sp>
        <p:nvSpPr>
          <p:cNvPr id="57" name="Hospital dot 1"/>
          <p:cNvSpPr/>
          <p:nvPr/>
        </p:nvSpPr>
        <p:spPr>
          <a:xfrm>
            <a:off x="1060704" y="4032504"/>
            <a:ext cx="182880" cy="182880"/>
          </a:xfrm>
          <a:prstGeom prst="ellipse">
            <a:avLst/>
          </a:prstGeom>
          <a:solidFill>
            <a:schemeClr val="accent3"/>
          </a:solidFill>
          <a:ln/>
        </p:spPr>
        <p:txBody>
          <a:bodyPr/>
          <a:p/>
        </p:txBody>
      </p:sp>
      <p:sp>
        <p:nvSpPr>
          <p:cNvPr id="58" name="Hospital dot 2"/>
          <p:cNvSpPr/>
          <p:nvPr/>
        </p:nvSpPr>
        <p:spPr>
          <a:xfrm>
            <a:off x="1298448" y="4032504"/>
            <a:ext cx="182880" cy="182880"/>
          </a:xfrm>
          <a:prstGeom prst="ellipse">
            <a:avLst/>
          </a:prstGeom>
          <a:solidFill>
            <a:schemeClr val="accent3"/>
          </a:solidFill>
          <a:ln/>
        </p:spPr>
        <p:txBody>
          <a:bodyPr/>
          <a:p/>
        </p:txBody>
      </p:sp>
      <p:sp>
        <p:nvSpPr>
          <p:cNvPr id="59" name="Hospital dot 3"/>
          <p:cNvSpPr/>
          <p:nvPr/>
        </p:nvSpPr>
        <p:spPr>
          <a:xfrm>
            <a:off x="1536192" y="4032504"/>
            <a:ext cx="182880" cy="182880"/>
          </a:xfrm>
          <a:prstGeom prst="ellipse">
            <a:avLst/>
          </a:prstGeom>
          <a:solidFill>
            <a:schemeClr val="accent3"/>
          </a:solidFill>
          <a:ln/>
        </p:spPr>
        <p:txBody>
          <a:bodyPr/>
          <a:p/>
        </p:txBody>
      </p:sp>
      <p:sp>
        <p:nvSpPr>
          <p:cNvPr id="60" name="Hospital dot 4"/>
          <p:cNvSpPr/>
          <p:nvPr/>
        </p:nvSpPr>
        <p:spPr>
          <a:xfrm>
            <a:off x="1773936" y="4032504"/>
            <a:ext cx="182880" cy="182880"/>
          </a:xfrm>
          <a:prstGeom prst="ellipse">
            <a:avLst/>
          </a:prstGeom>
          <a:solidFill>
            <a:schemeClr val="accent3"/>
          </a:solidFill>
          <a:ln/>
        </p:spPr>
        <p:txBody>
          <a:bodyPr/>
          <a:p/>
        </p:txBody>
      </p:sp>
      <p:sp>
        <p:nvSpPr>
          <p:cNvPr id="61" name="Hospital dot 5"/>
          <p:cNvSpPr/>
          <p:nvPr/>
        </p:nvSpPr>
        <p:spPr>
          <a:xfrm>
            <a:off x="2011680" y="4032504"/>
            <a:ext cx="182880" cy="182880"/>
          </a:xfrm>
          <a:prstGeom prst="ellipse">
            <a:avLst/>
          </a:prstGeom>
          <a:solidFill>
            <a:schemeClr val="accent3"/>
          </a:solidFill>
          <a:ln/>
        </p:spPr>
        <p:txBody>
          <a:bodyPr/>
          <a:p/>
        </p:txBody>
      </p:sp>
      <p:sp>
        <p:nvSpPr>
          <p:cNvPr id="62" name="Hospital dot 6"/>
          <p:cNvSpPr/>
          <p:nvPr/>
        </p:nvSpPr>
        <p:spPr>
          <a:xfrm>
            <a:off x="2249424" y="4032504"/>
            <a:ext cx="182880" cy="182880"/>
          </a:xfrm>
          <a:prstGeom prst="ellipse">
            <a:avLst/>
          </a:prstGeom>
          <a:solidFill>
            <a:schemeClr val="accent3"/>
          </a:solidFill>
          <a:ln/>
        </p:spPr>
        <p:txBody>
          <a:bodyPr/>
          <a:p/>
        </p:txBody>
      </p:sp>
      <p:sp>
        <p:nvSpPr>
          <p:cNvPr id="63" name="Hospital dot 7"/>
          <p:cNvSpPr/>
          <p:nvPr/>
        </p:nvSpPr>
        <p:spPr>
          <a:xfrm>
            <a:off x="2487168" y="4032504"/>
            <a:ext cx="182880" cy="182880"/>
          </a:xfrm>
          <a:prstGeom prst="ellipse">
            <a:avLst/>
          </a:prstGeom>
          <a:solidFill>
            <a:schemeClr val="accent3"/>
          </a:solidFill>
          <a:ln/>
        </p:spPr>
        <p:txBody>
          <a:bodyPr/>
          <a:p/>
        </p:txBody>
      </p:sp>
      <p:sp>
        <p:nvSpPr>
          <p:cNvPr id="64" name="Hospital dot 8"/>
          <p:cNvSpPr/>
          <p:nvPr/>
        </p:nvSpPr>
        <p:spPr>
          <a:xfrm>
            <a:off x="2724912" y="4032504"/>
            <a:ext cx="182880" cy="182880"/>
          </a:xfrm>
          <a:prstGeom prst="ellipse">
            <a:avLst/>
          </a:prstGeom>
          <a:solidFill>
            <a:schemeClr val="accent3"/>
          </a:solidFill>
          <a:ln/>
        </p:spPr>
        <p:txBody>
          <a:bodyPr/>
          <a:p/>
        </p:txBody>
      </p:sp>
      <p:sp>
        <p:nvSpPr>
          <p:cNvPr id="65" name="Hospital dot 9"/>
          <p:cNvSpPr/>
          <p:nvPr/>
        </p:nvSpPr>
        <p:spPr>
          <a:xfrm>
            <a:off x="822960" y="4270248"/>
            <a:ext cx="182880" cy="182880"/>
          </a:xfrm>
          <a:prstGeom prst="ellipse">
            <a:avLst/>
          </a:prstGeom>
          <a:solidFill>
            <a:schemeClr val="accent3"/>
          </a:solidFill>
          <a:ln/>
        </p:spPr>
        <p:txBody>
          <a:bodyPr/>
          <a:p/>
        </p:txBody>
      </p:sp>
      <p:sp>
        <p:nvSpPr>
          <p:cNvPr id="66" name="Hospital dot 10"/>
          <p:cNvSpPr/>
          <p:nvPr/>
        </p:nvSpPr>
        <p:spPr>
          <a:xfrm>
            <a:off x="1060704" y="4270248"/>
            <a:ext cx="182880" cy="182880"/>
          </a:xfrm>
          <a:prstGeom prst="ellipse">
            <a:avLst/>
          </a:prstGeom>
          <a:solidFill>
            <a:schemeClr val="accent3"/>
          </a:solidFill>
          <a:ln/>
        </p:spPr>
        <p:txBody>
          <a:bodyPr/>
          <a:p/>
        </p:txBody>
      </p:sp>
      <p:sp>
        <p:nvSpPr>
          <p:cNvPr id="67" name="Hospital dot 11"/>
          <p:cNvSpPr/>
          <p:nvPr/>
        </p:nvSpPr>
        <p:spPr>
          <a:xfrm>
            <a:off x="1298448" y="4270248"/>
            <a:ext cx="182880" cy="182880"/>
          </a:xfrm>
          <a:prstGeom prst="ellipse">
            <a:avLst/>
          </a:prstGeom>
          <a:solidFill>
            <a:schemeClr val="accent3"/>
          </a:solidFill>
          <a:ln/>
        </p:spPr>
        <p:txBody>
          <a:bodyPr/>
          <a:p/>
        </p:txBody>
      </p:sp>
      <p:sp>
        <p:nvSpPr>
          <p:cNvPr id="68" name="Hospital dot 12"/>
          <p:cNvSpPr/>
          <p:nvPr/>
        </p:nvSpPr>
        <p:spPr>
          <a:xfrm>
            <a:off x="1536192" y="4270248"/>
            <a:ext cx="182880" cy="182880"/>
          </a:xfrm>
          <a:prstGeom prst="ellipse">
            <a:avLst/>
          </a:prstGeom>
          <a:solidFill>
            <a:schemeClr val="accent3"/>
          </a:solidFill>
          <a:ln/>
        </p:spPr>
        <p:txBody>
          <a:bodyPr/>
          <a:p/>
        </p:txBody>
      </p:sp>
      <p:sp>
        <p:nvSpPr>
          <p:cNvPr id="69" name="Hospital dot 13"/>
          <p:cNvSpPr/>
          <p:nvPr/>
        </p:nvSpPr>
        <p:spPr>
          <a:xfrm>
            <a:off x="1773936" y="4270248"/>
            <a:ext cx="182880" cy="182880"/>
          </a:xfrm>
          <a:prstGeom prst="ellipse">
            <a:avLst/>
          </a:prstGeom>
          <a:solidFill>
            <a:schemeClr val="accent3"/>
          </a:solidFill>
          <a:ln/>
        </p:spPr>
        <p:txBody>
          <a:bodyPr/>
          <a:p/>
        </p:txBody>
      </p:sp>
      <p:sp>
        <p:nvSpPr>
          <p:cNvPr id="70" name="Hospital dot 14"/>
          <p:cNvSpPr/>
          <p:nvPr/>
        </p:nvSpPr>
        <p:spPr>
          <a:xfrm>
            <a:off x="2011680" y="4270248"/>
            <a:ext cx="182880" cy="182880"/>
          </a:xfrm>
          <a:prstGeom prst="ellipse">
            <a:avLst/>
          </a:prstGeom>
          <a:solidFill>
            <a:schemeClr val="accent3"/>
          </a:solidFill>
          <a:ln/>
        </p:spPr>
        <p:txBody>
          <a:bodyPr/>
          <a:p/>
        </p:txBody>
      </p:sp>
      <p:sp>
        <p:nvSpPr>
          <p:cNvPr id="71" name="Hospital dot 15"/>
          <p:cNvSpPr/>
          <p:nvPr/>
        </p:nvSpPr>
        <p:spPr>
          <a:xfrm>
            <a:off x="2249424" y="4270248"/>
            <a:ext cx="182880" cy="182880"/>
          </a:xfrm>
          <a:prstGeom prst="ellipse">
            <a:avLst/>
          </a:prstGeom>
          <a:solidFill>
            <a:schemeClr val="accent3"/>
          </a:solidFill>
          <a:ln/>
        </p:spPr>
        <p:txBody>
          <a:bodyPr/>
          <a:p/>
        </p:txBody>
      </p:sp>
      <p:sp>
        <p:nvSpPr>
          <p:cNvPr id="72" name="Hospital dot 16"/>
          <p:cNvSpPr/>
          <p:nvPr/>
        </p:nvSpPr>
        <p:spPr>
          <a:xfrm>
            <a:off x="2487168" y="4270248"/>
            <a:ext cx="182880" cy="182880"/>
          </a:xfrm>
          <a:prstGeom prst="ellipse">
            <a:avLst/>
          </a:prstGeom>
          <a:solidFill>
            <a:schemeClr val="accent3"/>
          </a:solidFill>
          <a:ln/>
        </p:spPr>
        <p:txBody>
          <a:bodyPr/>
          <a:p/>
        </p:txBody>
      </p:sp>
      <p:sp>
        <p:nvSpPr>
          <p:cNvPr id="73" name="Hospital dot 17"/>
          <p:cNvSpPr/>
          <p:nvPr/>
        </p:nvSpPr>
        <p:spPr>
          <a:xfrm>
            <a:off x="2724912" y="4270248"/>
            <a:ext cx="182880" cy="182880"/>
          </a:xfrm>
          <a:prstGeom prst="ellipse">
            <a:avLst/>
          </a:prstGeom>
          <a:solidFill>
            <a:schemeClr val="accent3"/>
          </a:solidFill>
          <a:ln/>
        </p:spPr>
        <p:txBody>
          <a:bodyPr/>
          <a:p/>
        </p:txBody>
      </p:sp>
      <p:sp>
        <p:nvSpPr>
          <p:cNvPr id="74" name="Hospital dot 18"/>
          <p:cNvSpPr/>
          <p:nvPr/>
        </p:nvSpPr>
        <p:spPr>
          <a:xfrm>
            <a:off x="822960" y="4507992"/>
            <a:ext cx="182880" cy="182880"/>
          </a:xfrm>
          <a:prstGeom prst="ellipse">
            <a:avLst/>
          </a:prstGeom>
          <a:solidFill>
            <a:schemeClr val="accent3"/>
          </a:solidFill>
          <a:ln/>
        </p:spPr>
        <p:txBody>
          <a:bodyPr/>
          <a:p/>
        </p:txBody>
      </p:sp>
      <p:sp>
        <p:nvSpPr>
          <p:cNvPr id="75" name="Hospital dot 19"/>
          <p:cNvSpPr/>
          <p:nvPr/>
        </p:nvSpPr>
        <p:spPr>
          <a:xfrm>
            <a:off x="1060704" y="4507992"/>
            <a:ext cx="182880" cy="182880"/>
          </a:xfrm>
          <a:prstGeom prst="ellipse">
            <a:avLst/>
          </a:prstGeom>
          <a:solidFill>
            <a:schemeClr val="accent3"/>
          </a:solidFill>
          <a:ln/>
        </p:spPr>
        <p:txBody>
          <a:bodyPr/>
          <a:p/>
        </p:txBody>
      </p:sp>
      <p:sp>
        <p:nvSpPr>
          <p:cNvPr id="76" name="Hospital dot 20"/>
          <p:cNvSpPr/>
          <p:nvPr/>
        </p:nvSpPr>
        <p:spPr>
          <a:xfrm>
            <a:off x="1298448" y="4507992"/>
            <a:ext cx="182880" cy="182880"/>
          </a:xfrm>
          <a:prstGeom prst="ellipse">
            <a:avLst/>
          </a:prstGeom>
          <a:solidFill>
            <a:schemeClr val="accent3"/>
          </a:solidFill>
          <a:ln/>
        </p:spPr>
        <p:txBody>
          <a:bodyPr/>
          <a:p/>
        </p:txBody>
      </p:sp>
      <p:sp>
        <p:nvSpPr>
          <p:cNvPr id="77" name="Hospital dot 21"/>
          <p:cNvSpPr/>
          <p:nvPr/>
        </p:nvSpPr>
        <p:spPr>
          <a:xfrm>
            <a:off x="1536192" y="4507992"/>
            <a:ext cx="182880" cy="182880"/>
          </a:xfrm>
          <a:prstGeom prst="ellipse">
            <a:avLst/>
          </a:prstGeom>
          <a:solidFill>
            <a:schemeClr val="accent3"/>
          </a:solidFill>
          <a:ln/>
        </p:spPr>
        <p:txBody>
          <a:bodyPr/>
          <a:p/>
        </p:txBody>
      </p:sp>
      <p:sp>
        <p:nvSpPr>
          <p:cNvPr id="78" name="Hospital dot 22"/>
          <p:cNvSpPr/>
          <p:nvPr/>
        </p:nvSpPr>
        <p:spPr>
          <a:xfrm>
            <a:off x="1773936" y="4507992"/>
            <a:ext cx="182880" cy="182880"/>
          </a:xfrm>
          <a:prstGeom prst="ellipse">
            <a:avLst/>
          </a:prstGeom>
          <a:solidFill>
            <a:schemeClr val="accent3"/>
          </a:solidFill>
          <a:ln/>
        </p:spPr>
        <p:txBody>
          <a:bodyPr/>
          <a:p/>
        </p:txBody>
      </p:sp>
      <p:sp>
        <p:nvSpPr>
          <p:cNvPr id="79" name="Hospital dot 23"/>
          <p:cNvSpPr/>
          <p:nvPr/>
        </p:nvSpPr>
        <p:spPr>
          <a:xfrm>
            <a:off x="2011680" y="4507992"/>
            <a:ext cx="182880" cy="182880"/>
          </a:xfrm>
          <a:prstGeom prst="ellipse">
            <a:avLst/>
          </a:prstGeom>
          <a:solidFill>
            <a:schemeClr val="accent3"/>
          </a:solidFill>
          <a:ln/>
        </p:spPr>
        <p:txBody>
          <a:bodyPr/>
          <a:p/>
        </p:txBody>
      </p:sp>
      <p:sp>
        <p:nvSpPr>
          <p:cNvPr id="80" name="Hospital dot 24"/>
          <p:cNvSpPr/>
          <p:nvPr/>
        </p:nvSpPr>
        <p:spPr>
          <a:xfrm>
            <a:off x="2249424" y="4507992"/>
            <a:ext cx="182880" cy="182880"/>
          </a:xfrm>
          <a:prstGeom prst="ellipse">
            <a:avLst/>
          </a:prstGeom>
          <a:solidFill>
            <a:schemeClr val="accent3"/>
          </a:solidFill>
          <a:ln/>
        </p:spPr>
        <p:txBody>
          <a:bodyPr/>
          <a:p/>
        </p:txBody>
      </p:sp>
      <p:sp>
        <p:nvSpPr>
          <p:cNvPr id="81" name="Hospital dot 25"/>
          <p:cNvSpPr/>
          <p:nvPr/>
        </p:nvSpPr>
        <p:spPr>
          <a:xfrm>
            <a:off x="2487168" y="4507992"/>
            <a:ext cx="182880" cy="182880"/>
          </a:xfrm>
          <a:prstGeom prst="ellipse">
            <a:avLst/>
          </a:prstGeom>
          <a:solidFill>
            <a:schemeClr val="accent3"/>
          </a:solidFill>
          <a:ln/>
        </p:spPr>
        <p:txBody>
          <a:bodyPr/>
          <a:p/>
        </p:txBody>
      </p:sp>
      <p:sp>
        <p:nvSpPr>
          <p:cNvPr id="82" name="Hospital dot 26"/>
          <p:cNvSpPr/>
          <p:nvPr/>
        </p:nvSpPr>
        <p:spPr>
          <a:xfrm>
            <a:off x="2724912" y="4507992"/>
            <a:ext cx="182880" cy="182880"/>
          </a:xfrm>
          <a:prstGeom prst="ellipse">
            <a:avLst/>
          </a:prstGeom>
          <a:solidFill>
            <a:schemeClr val="accent3"/>
          </a:solidFill>
          <a:ln/>
        </p:spPr>
        <p:txBody>
          <a:bodyPr/>
          <a:p/>
        </p:txBody>
      </p:sp>
      <p:sp>
        <p:nvSpPr>
          <p:cNvPr id="83" name="Hospital dot 27"/>
          <p:cNvSpPr/>
          <p:nvPr/>
        </p:nvSpPr>
        <p:spPr>
          <a:xfrm>
            <a:off x="822960" y="4745736"/>
            <a:ext cx="182880" cy="182880"/>
          </a:xfrm>
          <a:prstGeom prst="ellipse">
            <a:avLst/>
          </a:prstGeom>
          <a:solidFill>
            <a:schemeClr val="accent3"/>
          </a:solidFill>
          <a:ln/>
        </p:spPr>
        <p:txBody>
          <a:bodyPr/>
          <a:p/>
        </p:txBody>
      </p:sp>
      <p:sp>
        <p:nvSpPr>
          <p:cNvPr id="84" name="Hospital dot 28"/>
          <p:cNvSpPr/>
          <p:nvPr/>
        </p:nvSpPr>
        <p:spPr>
          <a:xfrm>
            <a:off x="1060704" y="4745736"/>
            <a:ext cx="182880" cy="182880"/>
          </a:xfrm>
          <a:prstGeom prst="ellipse">
            <a:avLst/>
          </a:prstGeom>
          <a:solidFill>
            <a:schemeClr val="accent3"/>
          </a:solidFill>
          <a:ln/>
        </p:spPr>
        <p:txBody>
          <a:bodyPr/>
          <a:p/>
        </p:txBody>
      </p:sp>
      <p:sp>
        <p:nvSpPr>
          <p:cNvPr id="85" name="Hospital dot 29"/>
          <p:cNvSpPr/>
          <p:nvPr/>
        </p:nvSpPr>
        <p:spPr>
          <a:xfrm>
            <a:off x="1298448" y="4745736"/>
            <a:ext cx="182880" cy="182880"/>
          </a:xfrm>
          <a:prstGeom prst="ellipse">
            <a:avLst/>
          </a:prstGeom>
          <a:solidFill>
            <a:schemeClr val="accent3"/>
          </a:solidFill>
          <a:ln/>
        </p:spPr>
        <p:txBody>
          <a:bodyPr/>
          <a:p/>
        </p:txBody>
      </p:sp>
      <p:sp>
        <p:nvSpPr>
          <p:cNvPr id="86" name="Hospital dot 30"/>
          <p:cNvSpPr/>
          <p:nvPr/>
        </p:nvSpPr>
        <p:spPr>
          <a:xfrm>
            <a:off x="1536192" y="4745736"/>
            <a:ext cx="182880" cy="182880"/>
          </a:xfrm>
          <a:prstGeom prst="ellipse">
            <a:avLst/>
          </a:prstGeom>
          <a:solidFill>
            <a:schemeClr val="accent3"/>
          </a:solidFill>
          <a:ln/>
        </p:spPr>
        <p:txBody>
          <a:bodyPr/>
          <a:p/>
        </p:txBody>
      </p:sp>
      <p:sp>
        <p:nvSpPr>
          <p:cNvPr id="87" name="Hospital dot 31"/>
          <p:cNvSpPr/>
          <p:nvPr/>
        </p:nvSpPr>
        <p:spPr>
          <a:xfrm>
            <a:off x="1773936" y="4745736"/>
            <a:ext cx="182880" cy="182880"/>
          </a:xfrm>
          <a:prstGeom prst="ellipse">
            <a:avLst/>
          </a:prstGeom>
          <a:solidFill>
            <a:schemeClr val="accent3"/>
          </a:solidFill>
          <a:ln/>
        </p:spPr>
        <p:txBody>
          <a:bodyPr/>
          <a:p/>
        </p:txBody>
      </p:sp>
      <p:sp>
        <p:nvSpPr>
          <p:cNvPr id="88" name="Hospital dot 32"/>
          <p:cNvSpPr/>
          <p:nvPr/>
        </p:nvSpPr>
        <p:spPr>
          <a:xfrm>
            <a:off x="2011680" y="4745736"/>
            <a:ext cx="182880" cy="182880"/>
          </a:xfrm>
          <a:prstGeom prst="ellipse">
            <a:avLst/>
          </a:prstGeom>
          <a:solidFill>
            <a:schemeClr val="accent3"/>
          </a:solidFill>
          <a:ln/>
        </p:spPr>
        <p:txBody>
          <a:bodyPr/>
          <a:p/>
        </p:txBody>
      </p:sp>
      <p:sp>
        <p:nvSpPr>
          <p:cNvPr id="89" name="Hospital dot 33"/>
          <p:cNvSpPr/>
          <p:nvPr/>
        </p:nvSpPr>
        <p:spPr>
          <a:xfrm>
            <a:off x="2249424" y="4745736"/>
            <a:ext cx="182880" cy="182880"/>
          </a:xfrm>
          <a:prstGeom prst="ellipse">
            <a:avLst/>
          </a:prstGeom>
          <a:solidFill>
            <a:schemeClr val="accent3"/>
          </a:solidFill>
          <a:ln/>
        </p:spPr>
        <p:txBody>
          <a:bodyPr/>
          <a:p/>
        </p:txBody>
      </p:sp>
      <p:sp>
        <p:nvSpPr>
          <p:cNvPr id="90" name="Hospital dot 34"/>
          <p:cNvSpPr/>
          <p:nvPr/>
        </p:nvSpPr>
        <p:spPr>
          <a:xfrm>
            <a:off x="2487168" y="4745736"/>
            <a:ext cx="182880" cy="182880"/>
          </a:xfrm>
          <a:prstGeom prst="ellipse">
            <a:avLst/>
          </a:prstGeom>
          <a:solidFill>
            <a:schemeClr val="accent3"/>
          </a:solidFill>
          <a:ln/>
        </p:spPr>
        <p:txBody>
          <a:bodyPr/>
          <a:p/>
        </p:txBody>
      </p:sp>
      <p:sp>
        <p:nvSpPr>
          <p:cNvPr id="91" name="Hospital dot 35"/>
          <p:cNvSpPr/>
          <p:nvPr/>
        </p:nvSpPr>
        <p:spPr>
          <a:xfrm>
            <a:off x="2724912" y="4745736"/>
            <a:ext cx="182880" cy="182880"/>
          </a:xfrm>
          <a:prstGeom prst="ellipse">
            <a:avLst/>
          </a:prstGeom>
          <a:solidFill>
            <a:schemeClr val="accent3"/>
          </a:solidFill>
          <a:ln/>
        </p:spPr>
        <p:txBody>
          <a:bodyPr/>
          <a:p/>
        </p:txBody>
      </p:sp>
      <p:sp>
        <p:nvSpPr>
          <p:cNvPr id="92" name="Hospital dot 36"/>
          <p:cNvSpPr/>
          <p:nvPr/>
        </p:nvSpPr>
        <p:spPr>
          <a:xfrm>
            <a:off x="822960" y="4983480"/>
            <a:ext cx="182880" cy="182880"/>
          </a:xfrm>
          <a:prstGeom prst="ellipse">
            <a:avLst/>
          </a:prstGeom>
          <a:solidFill>
            <a:schemeClr val="accent3"/>
          </a:solidFill>
          <a:ln/>
        </p:spPr>
        <p:txBody>
          <a:bodyPr/>
          <a:p/>
        </p:txBody>
      </p:sp>
      <p:sp>
        <p:nvSpPr>
          <p:cNvPr id="93" name="Hospital dot 37"/>
          <p:cNvSpPr/>
          <p:nvPr/>
        </p:nvSpPr>
        <p:spPr>
          <a:xfrm>
            <a:off x="1060704" y="4983480"/>
            <a:ext cx="182880" cy="182880"/>
          </a:xfrm>
          <a:prstGeom prst="ellipse">
            <a:avLst/>
          </a:prstGeom>
          <a:solidFill>
            <a:schemeClr val="accent3"/>
          </a:solidFill>
          <a:ln/>
        </p:spPr>
        <p:txBody>
          <a:bodyPr/>
          <a:p/>
        </p:txBody>
      </p:sp>
      <p:sp>
        <p:nvSpPr>
          <p:cNvPr id="94" name="Hospital dot 38"/>
          <p:cNvSpPr/>
          <p:nvPr/>
        </p:nvSpPr>
        <p:spPr>
          <a:xfrm>
            <a:off x="1298448" y="4983480"/>
            <a:ext cx="182880" cy="182880"/>
          </a:xfrm>
          <a:prstGeom prst="ellipse">
            <a:avLst/>
          </a:prstGeom>
          <a:solidFill>
            <a:schemeClr val="accent3"/>
          </a:solidFill>
          <a:ln/>
        </p:spPr>
        <p:txBody>
          <a:bodyPr/>
          <a:p/>
        </p:txBody>
      </p:sp>
      <p:sp>
        <p:nvSpPr>
          <p:cNvPr id="95" name="Hospital dot 39"/>
          <p:cNvSpPr/>
          <p:nvPr/>
        </p:nvSpPr>
        <p:spPr>
          <a:xfrm>
            <a:off x="1536192" y="4983480"/>
            <a:ext cx="182880" cy="182880"/>
          </a:xfrm>
          <a:prstGeom prst="ellipse">
            <a:avLst/>
          </a:prstGeom>
          <a:solidFill>
            <a:schemeClr val="accent3"/>
          </a:solidFill>
          <a:ln/>
        </p:spPr>
        <p:txBody>
          <a:bodyPr/>
          <a:p/>
        </p:txBody>
      </p:sp>
      <p:sp>
        <p:nvSpPr>
          <p:cNvPr id="96" name="Hospital dot 40"/>
          <p:cNvSpPr/>
          <p:nvPr/>
        </p:nvSpPr>
        <p:spPr>
          <a:xfrm>
            <a:off x="1773936" y="4983480"/>
            <a:ext cx="182880" cy="182880"/>
          </a:xfrm>
          <a:prstGeom prst="ellipse">
            <a:avLst/>
          </a:prstGeom>
          <a:solidFill>
            <a:schemeClr val="accent3"/>
          </a:solidFill>
          <a:ln/>
        </p:spPr>
        <p:txBody>
          <a:bodyPr/>
          <a:p/>
        </p:txBody>
      </p:sp>
      <p:sp>
        <p:nvSpPr>
          <p:cNvPr id="97" name="Hospital dot 41"/>
          <p:cNvSpPr/>
          <p:nvPr/>
        </p:nvSpPr>
        <p:spPr>
          <a:xfrm>
            <a:off x="2011680" y="4983480"/>
            <a:ext cx="182880" cy="182880"/>
          </a:xfrm>
          <a:prstGeom prst="ellipse">
            <a:avLst/>
          </a:prstGeom>
          <a:solidFill>
            <a:schemeClr val="accent3"/>
          </a:solidFill>
          <a:ln/>
        </p:spPr>
        <p:txBody>
          <a:bodyPr/>
          <a:p/>
        </p:txBody>
      </p:sp>
      <p:sp>
        <p:nvSpPr>
          <p:cNvPr id="98" name="Hospital dot 42"/>
          <p:cNvSpPr/>
          <p:nvPr/>
        </p:nvSpPr>
        <p:spPr>
          <a:xfrm>
            <a:off x="2249424" y="4983480"/>
            <a:ext cx="182880" cy="182880"/>
          </a:xfrm>
          <a:prstGeom prst="ellipse">
            <a:avLst/>
          </a:prstGeom>
          <a:solidFill>
            <a:schemeClr val="accent3"/>
          </a:solidFill>
          <a:ln/>
        </p:spPr>
        <p:txBody>
          <a:bodyPr/>
          <a:p/>
        </p:txBody>
      </p:sp>
      <p:sp>
        <p:nvSpPr>
          <p:cNvPr id="99" name="Hospital dot 43"/>
          <p:cNvSpPr/>
          <p:nvPr/>
        </p:nvSpPr>
        <p:spPr>
          <a:xfrm>
            <a:off x="2487168" y="4983480"/>
            <a:ext cx="182880" cy="182880"/>
          </a:xfrm>
          <a:prstGeom prst="ellipse">
            <a:avLst/>
          </a:prstGeom>
          <a:solidFill>
            <a:schemeClr val="accent3"/>
          </a:solidFill>
          <a:ln/>
        </p:spPr>
        <p:txBody>
          <a:bodyPr/>
          <a:p/>
        </p:txBody>
      </p:sp>
      <p:sp>
        <p:nvSpPr>
          <p:cNvPr id="100" name="Hospital dot 44"/>
          <p:cNvSpPr/>
          <p:nvPr/>
        </p:nvSpPr>
        <p:spPr>
          <a:xfrm>
            <a:off x="2724912" y="4983480"/>
            <a:ext cx="182880" cy="182880"/>
          </a:xfrm>
          <a:prstGeom prst="ellipse">
            <a:avLst/>
          </a:prstGeom>
          <a:solidFill>
            <a:schemeClr val="accent3"/>
          </a:solidFill>
          <a:ln/>
        </p:spPr>
        <p:txBody>
          <a:bodyPr/>
          <a:p/>
        </p:txBody>
      </p:sp>
      <p:sp>
        <p:nvSpPr>
          <p:cNvPr id="101" name="Text 99"/>
          <p:cNvSpPr txBox="1"/>
          <p:nvPr/>
        </p:nvSpPr>
        <p:spPr>
          <a:xfrm>
            <a:off x="3200400" y="4005072"/>
            <a:ext cx="1280160" cy="457200"/>
          </a:xfrm>
          <a:prstGeom prst="rect">
            <a:avLst/>
          </a:prstGeom>
          <a:noFill/>
          <a:ln/>
        </p:spPr>
        <p:txBody>
          <a:bodyPr wrap="square" lIns="0" tIns="0" rIns="0" bIns="0" rtlCol="0" anchor="ctr"/>
          <a:lstStyle/>
          <a:p>
            <a:pPr indent="0" marL="0">
              <a:buNone/>
            </a:pPr>
            <a:r>
              <a:rPr lang="en-US" sz="2800" b="1" dirty="0">
                <a:solidFill>
                  <a:schemeClr val="accent3"/>
                </a:solidFill>
              </a:rPr>
              <a:t>0 / 45</a:t>
            </a:r>
            <a:endParaRPr lang="en-US" sz="2800" dirty="0"/>
          </a:p>
        </p:txBody>
      </p:sp>
      <p:sp>
        <p:nvSpPr>
          <p:cNvPr id="102" name="Text 100"/>
          <p:cNvSpPr txBox="1"/>
          <p:nvPr/>
        </p:nvSpPr>
        <p:spPr>
          <a:xfrm>
            <a:off x="3200400" y="4480560"/>
            <a:ext cx="1280160" cy="640080"/>
          </a:xfrm>
          <a:prstGeom prst="rect">
            <a:avLst/>
          </a:prstGeom>
          <a:noFill/>
          <a:ln/>
        </p:spPr>
        <p:txBody>
          <a:bodyPr wrap="square" lIns="0" tIns="0" rIns="0" bIns="0" rtlCol="0" anchor="t"/>
          <a:lstStyle/>
          <a:p>
            <a:pPr indent="0" marL="0">
              <a:buNone/>
            </a:pPr>
            <a:r>
              <a:rPr lang="en-US" sz="1100" dirty="0">
                <a:solidFill>
                  <a:schemeClr val="accent6"/>
                </a:solidFill>
              </a:rPr>
              <a:t>hospitals in more than one split</a:t>
            </a:r>
            <a:endParaRPr lang="en-US" sz="1100" dirty="0"/>
          </a:p>
        </p:txBody>
      </p:sp>
      <p:sp>
        <p:nvSpPr>
          <p:cNvPr id="103" name="Text 101"/>
          <p:cNvSpPr txBox="1"/>
          <p:nvPr/>
        </p:nvSpPr>
        <p:spPr>
          <a:xfrm>
            <a:off x="822960" y="5257800"/>
            <a:ext cx="3657600" cy="731520"/>
          </a:xfrm>
          <a:prstGeom prst="rect">
            <a:avLst/>
          </a:prstGeom>
          <a:noFill/>
          <a:ln/>
        </p:spPr>
        <p:txBody>
          <a:bodyPr wrap="square" lIns="0" tIns="0" rIns="0" bIns="0" rtlCol="0" anchor="b"/>
          <a:lstStyle/>
          <a:p>
            <a:pPr indent="0" marL="0">
              <a:buNone/>
            </a:pPr>
            <a:r>
              <a:rPr lang="en-US" sz="1100" dirty="0">
                <a:solidFill>
                  <a:schemeClr val="accent6"/>
                </a:solidFill>
              </a:rPr>
              <a:t>The dirty key has typos: 45 hospitals looked like 72. The clean key only groups rows and is never shown to the model.</a:t>
            </a:r>
            <a:endParaRPr lang="en-US" sz="1100" dirty="0"/>
          </a:p>
        </p:txBody>
      </p:sp>
      <p:sp>
        <p:nvSpPr>
          <p:cNvPr id="104" name="Checks card"/>
          <p:cNvSpPr/>
          <p:nvPr/>
        </p:nvSpPr>
        <p:spPr>
          <a:xfrm>
            <a:off x="4937760" y="1417320"/>
            <a:ext cx="3154680" cy="4663440"/>
          </a:xfrm>
          <a:prstGeom prst="roundRect">
            <a:avLst>
              <a:gd name="adj" fmla="val 2319"/>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105" name="Text 103"/>
          <p:cNvSpPr txBox="1"/>
          <p:nvPr/>
        </p:nvSpPr>
        <p:spPr>
          <a:xfrm>
            <a:off x="5212080" y="1600200"/>
            <a:ext cx="260604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THE CHECKS, ALL PASS</a:t>
            </a:r>
            <a:endParaRPr lang="en-US" sz="1100" dirty="0"/>
          </a:p>
        </p:txBody>
      </p:sp>
      <p:sp>
        <p:nvSpPr>
          <p:cNvPr id="106" name="Icon badge check mark 1"/>
          <p:cNvSpPr/>
          <p:nvPr/>
        </p:nvSpPr>
        <p:spPr>
          <a:xfrm>
            <a:off x="5212080" y="2189988"/>
            <a:ext cx="365760" cy="365760"/>
          </a:xfrm>
          <a:prstGeom prst="ellipse">
            <a:avLst/>
          </a:prstGeom>
          <a:solidFill>
            <a:schemeClr val="accent1"/>
          </a:solidFill>
          <a:ln/>
        </p:spPr>
        <p:txBody>
          <a:bodyPr/>
          <a:p/>
        </p:txBody>
      </p:sp>
      <p:pic>
        <p:nvPicPr>
          <p:cNvPr id="107" name="Image 0" descr="check mark 1">    </p:cNvPr>
          <p:cNvPicPr>
            <a:picLocks noChangeAspect="1"/>
          </p:cNvPicPr>
          <p:nvPr/>
        </p:nvPicPr>
        <p:blipFill>
          <a:blip r:embed="rId1"/>
          <a:stretch>
            <a:fillRect/>
          </a:stretch>
        </p:blipFill>
        <p:spPr>
          <a:xfrm>
            <a:off x="5310835" y="2288743"/>
            <a:ext cx="168250" cy="168250"/>
          </a:xfrm>
          <a:prstGeom prst="rect">
            <a:avLst/>
          </a:prstGeom>
        </p:spPr>
      </p:pic>
      <p:sp>
        <p:nvSpPr>
          <p:cNvPr id="108" name="Text 105"/>
          <p:cNvSpPr txBox="1"/>
          <p:nvPr/>
        </p:nvSpPr>
        <p:spPr>
          <a:xfrm>
            <a:off x="5742432" y="1965960"/>
            <a:ext cx="2103120" cy="813816"/>
          </a:xfrm>
          <a:prstGeom prst="rect">
            <a:avLst/>
          </a:prstGeom>
          <a:noFill/>
          <a:ln/>
        </p:spPr>
        <p:txBody>
          <a:bodyPr wrap="square" lIns="0" tIns="0" rIns="0" bIns="0" rtlCol="0" anchor="ctr"/>
          <a:lstStyle/>
          <a:p>
            <a:pPr indent="0" marL="0">
              <a:buNone/>
            </a:pPr>
            <a:r>
              <a:rPr lang="en-US" sz="1300" dirty="0">
                <a:solidFill>
                  <a:schemeClr val="tx1"/>
                </a:solidFill>
              </a:rPr>
              <a:t>Row overlap: 0</a:t>
            </a:r>
            <a:endParaRPr lang="en-US" sz="1300" dirty="0"/>
          </a:p>
        </p:txBody>
      </p:sp>
      <p:sp>
        <p:nvSpPr>
          <p:cNvPr id="109" name="Icon badge check mark 2"/>
          <p:cNvSpPr/>
          <p:nvPr/>
        </p:nvSpPr>
        <p:spPr>
          <a:xfrm>
            <a:off x="5212080" y="3003804"/>
            <a:ext cx="365760" cy="365760"/>
          </a:xfrm>
          <a:prstGeom prst="ellipse">
            <a:avLst/>
          </a:prstGeom>
          <a:solidFill>
            <a:schemeClr val="accent1"/>
          </a:solidFill>
          <a:ln/>
        </p:spPr>
        <p:txBody>
          <a:bodyPr/>
          <a:p/>
        </p:txBody>
      </p:sp>
      <p:pic>
        <p:nvPicPr>
          <p:cNvPr id="110" name="Image 1" descr="check mark 2">    </p:cNvPr>
          <p:cNvPicPr>
            <a:picLocks noChangeAspect="1"/>
          </p:cNvPicPr>
          <p:nvPr/>
        </p:nvPicPr>
        <p:blipFill>
          <a:blip r:embed="rId2"/>
          <a:stretch>
            <a:fillRect/>
          </a:stretch>
        </p:blipFill>
        <p:spPr>
          <a:xfrm>
            <a:off x="5310835" y="3102559"/>
            <a:ext cx="168250" cy="168250"/>
          </a:xfrm>
          <a:prstGeom prst="rect">
            <a:avLst/>
          </a:prstGeom>
        </p:spPr>
      </p:pic>
      <p:sp>
        <p:nvSpPr>
          <p:cNvPr id="111" name="Text 107"/>
          <p:cNvSpPr txBox="1"/>
          <p:nvPr/>
        </p:nvSpPr>
        <p:spPr>
          <a:xfrm>
            <a:off x="5742432" y="2779776"/>
            <a:ext cx="2103120" cy="813816"/>
          </a:xfrm>
          <a:prstGeom prst="rect">
            <a:avLst/>
          </a:prstGeom>
          <a:noFill/>
          <a:ln/>
        </p:spPr>
        <p:txBody>
          <a:bodyPr wrap="square" lIns="0" tIns="0" rIns="0" bIns="0" rtlCol="0" anchor="ctr"/>
          <a:lstStyle/>
          <a:p>
            <a:pPr indent="0" marL="0">
              <a:buNone/>
            </a:pPr>
            <a:r>
              <a:rPr lang="en-US" sz="1300" dirty="0">
                <a:solidFill>
                  <a:schemeClr val="tx1"/>
                </a:solidFill>
              </a:rPr>
              <a:t>Entity overlap (hospital, flight, brewery): 0</a:t>
            </a:r>
            <a:endParaRPr lang="en-US" sz="1300" dirty="0"/>
          </a:p>
        </p:txBody>
      </p:sp>
      <p:sp>
        <p:nvSpPr>
          <p:cNvPr id="112" name="Icon badge check mark 3"/>
          <p:cNvSpPr/>
          <p:nvPr/>
        </p:nvSpPr>
        <p:spPr>
          <a:xfrm>
            <a:off x="5212080" y="3817620"/>
            <a:ext cx="365760" cy="365760"/>
          </a:xfrm>
          <a:prstGeom prst="ellipse">
            <a:avLst/>
          </a:prstGeom>
          <a:solidFill>
            <a:schemeClr val="accent1"/>
          </a:solidFill>
          <a:ln/>
        </p:spPr>
        <p:txBody>
          <a:bodyPr/>
          <a:p/>
        </p:txBody>
      </p:sp>
      <p:pic>
        <p:nvPicPr>
          <p:cNvPr id="113" name="Image 2" descr="check mark 3">    </p:cNvPr>
          <p:cNvPicPr>
            <a:picLocks noChangeAspect="1"/>
          </p:cNvPicPr>
          <p:nvPr/>
        </p:nvPicPr>
        <p:blipFill>
          <a:blip r:embed="rId3"/>
          <a:stretch>
            <a:fillRect/>
          </a:stretch>
        </p:blipFill>
        <p:spPr>
          <a:xfrm>
            <a:off x="5310835" y="3916375"/>
            <a:ext cx="168250" cy="168250"/>
          </a:xfrm>
          <a:prstGeom prst="rect">
            <a:avLst/>
          </a:prstGeom>
        </p:spPr>
      </p:pic>
      <p:sp>
        <p:nvSpPr>
          <p:cNvPr id="114" name="Text 109"/>
          <p:cNvSpPr txBox="1"/>
          <p:nvPr/>
        </p:nvSpPr>
        <p:spPr>
          <a:xfrm>
            <a:off x="5742432" y="3593592"/>
            <a:ext cx="2103120" cy="813816"/>
          </a:xfrm>
          <a:prstGeom prst="rect">
            <a:avLst/>
          </a:prstGeom>
          <a:noFill/>
          <a:ln/>
        </p:spPr>
        <p:txBody>
          <a:bodyPr wrap="square" lIns="0" tIns="0" rIns="0" bIns="0" rtlCol="0" anchor="ctr"/>
          <a:lstStyle/>
          <a:p>
            <a:pPr indent="0" marL="0">
              <a:buNone/>
            </a:pPr>
            <a:r>
              <a:rPr lang="en-US" sz="1300" dirty="0">
                <a:solidFill>
                  <a:schemeClr val="tx1"/>
                </a:solidFill>
              </a:rPr>
              <a:t>Duplicate rows and prompts across splits: 0</a:t>
            </a:r>
            <a:endParaRPr lang="en-US" sz="1300" dirty="0"/>
          </a:p>
        </p:txBody>
      </p:sp>
      <p:sp>
        <p:nvSpPr>
          <p:cNvPr id="115" name="Icon badge check mark 4"/>
          <p:cNvSpPr/>
          <p:nvPr/>
        </p:nvSpPr>
        <p:spPr>
          <a:xfrm>
            <a:off x="5212080" y="4631436"/>
            <a:ext cx="365760" cy="365760"/>
          </a:xfrm>
          <a:prstGeom prst="ellipse">
            <a:avLst/>
          </a:prstGeom>
          <a:solidFill>
            <a:schemeClr val="accent1"/>
          </a:solidFill>
          <a:ln/>
        </p:spPr>
        <p:txBody>
          <a:bodyPr/>
          <a:p/>
        </p:txBody>
      </p:sp>
      <p:pic>
        <p:nvPicPr>
          <p:cNvPr id="116" name="Image 3" descr="check mark 4">    </p:cNvPr>
          <p:cNvPicPr>
            <a:picLocks noChangeAspect="1"/>
          </p:cNvPicPr>
          <p:nvPr/>
        </p:nvPicPr>
        <p:blipFill>
          <a:blip r:embed="rId4"/>
          <a:stretch>
            <a:fillRect/>
          </a:stretch>
        </p:blipFill>
        <p:spPr>
          <a:xfrm>
            <a:off x="5310835" y="4730191"/>
            <a:ext cx="168250" cy="168250"/>
          </a:xfrm>
          <a:prstGeom prst="rect">
            <a:avLst/>
          </a:prstGeom>
        </p:spPr>
      </p:pic>
      <p:sp>
        <p:nvSpPr>
          <p:cNvPr id="117" name="Text 111"/>
          <p:cNvSpPr txBox="1"/>
          <p:nvPr/>
        </p:nvSpPr>
        <p:spPr>
          <a:xfrm>
            <a:off x="5742432" y="4407408"/>
            <a:ext cx="2103120" cy="813816"/>
          </a:xfrm>
          <a:prstGeom prst="rect">
            <a:avLst/>
          </a:prstGeom>
          <a:noFill/>
          <a:ln/>
        </p:spPr>
        <p:txBody>
          <a:bodyPr wrap="square" lIns="0" tIns="0" rIns="0" bIns="0" rtlCol="0" anchor="ctr"/>
          <a:lstStyle/>
          <a:p>
            <a:pPr indent="0" marL="0">
              <a:buNone/>
            </a:pPr>
            <a:r>
              <a:rPr lang="en-US" sz="1300" dirty="0">
                <a:solidFill>
                  <a:schemeClr val="tx1"/>
                </a:solidFill>
              </a:rPr>
              <a:t>Unseen tables in any training file: 0</a:t>
            </a:r>
            <a:endParaRPr lang="en-US" sz="1300" dirty="0"/>
          </a:p>
        </p:txBody>
      </p:sp>
      <p:sp>
        <p:nvSpPr>
          <p:cNvPr id="118" name="Icon badge check mark 5"/>
          <p:cNvSpPr/>
          <p:nvPr/>
        </p:nvSpPr>
        <p:spPr>
          <a:xfrm>
            <a:off x="5212080" y="5445252"/>
            <a:ext cx="365760" cy="365760"/>
          </a:xfrm>
          <a:prstGeom prst="ellipse">
            <a:avLst/>
          </a:prstGeom>
          <a:solidFill>
            <a:schemeClr val="accent1"/>
          </a:solidFill>
          <a:ln/>
        </p:spPr>
        <p:txBody>
          <a:bodyPr/>
          <a:p/>
        </p:txBody>
      </p:sp>
      <p:pic>
        <p:nvPicPr>
          <p:cNvPr id="119" name="Image 4" descr="check mark 5">    </p:cNvPr>
          <p:cNvPicPr>
            <a:picLocks noChangeAspect="1"/>
          </p:cNvPicPr>
          <p:nvPr/>
        </p:nvPicPr>
        <p:blipFill>
          <a:blip r:embed="rId5"/>
          <a:stretch>
            <a:fillRect/>
          </a:stretch>
        </p:blipFill>
        <p:spPr>
          <a:xfrm>
            <a:off x="5310835" y="5544007"/>
            <a:ext cx="168250" cy="168250"/>
          </a:xfrm>
          <a:prstGeom prst="rect">
            <a:avLst/>
          </a:prstGeom>
        </p:spPr>
      </p:pic>
      <p:sp>
        <p:nvSpPr>
          <p:cNvPr id="120" name="Text 113"/>
          <p:cNvSpPr txBox="1"/>
          <p:nvPr/>
        </p:nvSpPr>
        <p:spPr>
          <a:xfrm>
            <a:off x="5742432" y="5221224"/>
            <a:ext cx="2103120" cy="813816"/>
          </a:xfrm>
          <a:prstGeom prst="rect">
            <a:avLst/>
          </a:prstGeom>
          <a:noFill/>
          <a:ln/>
        </p:spPr>
        <p:txBody>
          <a:bodyPr wrap="square" lIns="0" tIns="0" rIns="0" bIns="0" rtlCol="0" anchor="ctr"/>
          <a:lstStyle/>
          <a:p>
            <a:pPr indent="0" marL="0">
              <a:buNone/>
            </a:pPr>
            <a:r>
              <a:rPr lang="en-US" sz="1300" dirty="0">
                <a:solidFill>
                  <a:schemeClr val="tx1"/>
                </a:solidFill>
              </a:rPr>
              <a:t>Synthetic examples only in train: 0</a:t>
            </a:r>
            <a:endParaRPr lang="en-US" sz="1300" dirty="0"/>
          </a:p>
        </p:txBody>
      </p:sp>
      <p:sp>
        <p:nvSpPr>
          <p:cNvPr id="121" name="Open points card"/>
          <p:cNvSpPr/>
          <p:nvPr/>
        </p:nvSpPr>
        <p:spPr>
          <a:xfrm>
            <a:off x="8275320" y="1417320"/>
            <a:ext cx="3367735" cy="4663440"/>
          </a:xfrm>
          <a:prstGeom prst="roundRect">
            <a:avLst>
              <a:gd name="adj" fmla="val 2172"/>
            </a:avLst>
          </a:prstGeom>
          <a:solidFill>
            <a:schemeClr val="bg1"/>
          </a:solidFill>
          <a:ln/>
          <a:effectLst>
            <a:outerShdw sx="100000" sy="100000" kx="0" ky="0" algn="bl" rotWithShape="0" blurRad="101600" dist="25400" dir="5400000">
              <a:srgbClr val="0F1A2B">
                <a:alpha val="10000"/>
              </a:srgbClr>
            </a:outerShdw>
          </a:effectLst>
        </p:spPr>
        <p:txBody>
          <a:bodyPr/>
          <a:p/>
        </p:txBody>
      </p:sp>
      <p:sp>
        <p:nvSpPr>
          <p:cNvPr id="122" name="Text 115"/>
          <p:cNvSpPr txBox="1"/>
          <p:nvPr/>
        </p:nvSpPr>
        <p:spPr>
          <a:xfrm>
            <a:off x="8549640" y="1600200"/>
            <a:ext cx="2819095"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DECISIONS</a:t>
            </a:r>
            <a:endParaRPr lang="en-US" sz="1100" dirty="0"/>
          </a:p>
        </p:txBody>
      </p:sp>
      <p:sp>
        <p:nvSpPr>
          <p:cNvPr id="123" name="Text 116"/>
          <p:cNvSpPr txBox="1"/>
          <p:nvPr/>
        </p:nvSpPr>
        <p:spPr>
          <a:xfrm>
            <a:off x="8549640" y="1920240"/>
            <a:ext cx="2819095" cy="24688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Statistics for each split come from that split’s own dirty table, which is what the app will see</a:t>
            </a:r>
            <a:endParaRPr lang="en-US" sz="1200" dirty="0"/>
          </a:p>
          <a:p>
            <a:pPr marL="177800" indent="-177800">
              <a:spcAft>
                <a:spcPts val="800"/>
              </a:spcAft>
              <a:buSzPct val="100000"/>
              <a:buChar char="•"/>
            </a:pPr>
            <a:r>
              <a:rPr lang="en-US" sz="1200" dirty="0">
                <a:solidFill>
                  <a:schemeClr val="tx1"/>
                </a:solidFill>
              </a:rPr>
              <a:t>No outlier errors in the core tables: outliers in training must come from synthetic data</a:t>
            </a:r>
            <a:endParaRPr lang="en-US" sz="1200" dirty="0"/>
          </a:p>
          <a:p>
            <a:pPr marL="177800" indent="-177800">
              <a:spcAft>
                <a:spcPts val="800"/>
              </a:spcAft>
              <a:buSzPct val="100000"/>
              <a:buChar char="•"/>
            </a:pPr>
            <a:r>
              <a:rPr lang="en-US" sz="1200" dirty="0">
                <a:solidFill>
                  <a:schemeClr val="tx1"/>
                </a:solidFill>
              </a:rPr>
              <a:t>Licences reviewed and approved; files shared as a release asset with attribution, plus a one-command rebuild</a:t>
            </a:r>
            <a:endParaRPr lang="en-US" sz="1200" dirty="0"/>
          </a:p>
        </p:txBody>
      </p:sp>
      <p:sp>
        <p:nvSpPr>
          <p:cNvPr id="124" name="Text 117"/>
          <p:cNvSpPr txBox="1"/>
          <p:nvPr/>
        </p:nvSpPr>
        <p:spPr>
          <a:xfrm>
            <a:off x="8549640" y="4572000"/>
            <a:ext cx="2819095" cy="228600"/>
          </a:xfrm>
          <a:prstGeom prst="rect">
            <a:avLst/>
          </a:prstGeom>
          <a:noFill/>
          <a:ln/>
        </p:spPr>
        <p:txBody>
          <a:bodyPr wrap="square" lIns="0" tIns="0" rIns="0" bIns="0" rtlCol="0" anchor="ctr"/>
          <a:lstStyle/>
          <a:p>
            <a:pPr indent="0" marL="0">
              <a:buNone/>
            </a:pPr>
            <a:r>
              <a:rPr lang="en-US" sz="1100" b="1" spc="150" kern="0" dirty="0">
                <a:solidFill>
                  <a:schemeClr val="accent6"/>
                </a:solidFill>
              </a:rPr>
              <a:t>HAND-OVER CHECK</a:t>
            </a:r>
            <a:endParaRPr lang="en-US" sz="1100" dirty="0"/>
          </a:p>
        </p:txBody>
      </p:sp>
      <p:sp>
        <p:nvSpPr>
          <p:cNvPr id="125" name="Text 118"/>
          <p:cNvSpPr txBox="1"/>
          <p:nvPr/>
        </p:nvSpPr>
        <p:spPr>
          <a:xfrm>
            <a:off x="8549640" y="4892040"/>
            <a:ext cx="2819095" cy="10972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Passed on a second machine (Aaradhya, 29 Oct): 18 of 18 tests, 55,091 training records parsed. Gemma token count: longest example 1,009 of 1,500</a:t>
            </a:r>
            <a:endParaRPr lang="en-US" sz="120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548640" y="365760"/>
            <a:ext cx="731520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NEXT STEPS</a:t>
            </a:r>
            <a:endParaRPr lang="en-US" sz="1100" dirty="0"/>
          </a:p>
        </p:txBody>
      </p:sp>
      <p:sp>
        <p:nvSpPr>
          <p:cNvPr id="3" name="Text 2"/>
          <p:cNvSpPr/>
          <p:nvPr>
            <p:ph idx="102" type="title" hasCustomPrompt="1"/>
          </p:nvPr>
        </p:nvSpPr>
        <p:spPr>
          <a:xfrm>
            <a:off x="548640" y="658368"/>
            <a:ext cx="11094415" cy="594360"/>
          </a:xfrm>
          <a:prstGeom prst="rect">
            <a:avLst/>
          </a:prstGeom>
          <a:noFill/>
          <a:ln/>
        </p:spPr>
        <p:txBody>
          <a:bodyPr wrap="square" lIns="0" tIns="0" rIns="0" bIns="0" rtlCol="0" anchor="t"/>
          <a:lstStyle/>
          <a:p>
            <a:pPr algn="l" indent="0" marL="0">
              <a:buNone/>
            </a:pPr>
            <a:r>
              <a:rPr lang="en-US" sz="2600" b="1" dirty="0">
                <a:solidFill>
                  <a:schemeClr val="bg2"/>
                </a:solidFill>
              </a:rPr>
              <a:t>Plan for Milestones 3 to 6</a:t>
            </a:r>
            <a:endParaRPr lang="en-US" sz="2600" dirty="0"/>
          </a:p>
        </p:txBody>
      </p:sp>
      <p:sp>
        <p:nvSpPr>
          <p:cNvPr id="5" name="Timeline line"/>
          <p:cNvSpPr/>
          <p:nvPr/>
        </p:nvSpPr>
        <p:spPr>
          <a:xfrm>
            <a:off x="1866862" y="1737360"/>
            <a:ext cx="8457971" cy="0"/>
          </a:xfrm>
          <a:prstGeom prst="line">
            <a:avLst/>
          </a:prstGeom>
          <a:noFill/>
          <a:ln w="25400">
            <a:solidFill>
              <a:schemeClr val="accent6"/>
            </a:solidFill>
            <a:prstDash val="solid"/>
          </a:ln>
        </p:spPr>
        <p:txBody>
          <a:bodyPr/>
          <a:p/>
        </p:txBody>
      </p:sp>
      <p:sp>
        <p:nvSpPr>
          <p:cNvPr id="6" name="Timeline node M3"/>
          <p:cNvSpPr/>
          <p:nvPr/>
        </p:nvSpPr>
        <p:spPr>
          <a:xfrm>
            <a:off x="1638262" y="1508760"/>
            <a:ext cx="457200" cy="457200"/>
          </a:xfrm>
          <a:prstGeom prst="ellipse">
            <a:avLst/>
          </a:prstGeom>
          <a:solidFill>
            <a:schemeClr val="accent2"/>
          </a:solidFill>
          <a:ln w="38100">
            <a:solidFill>
              <a:schemeClr val="tx1"/>
            </a:solidFill>
            <a:prstDash val="solid"/>
          </a:ln>
        </p:spPr>
        <p:txBody>
          <a:bodyPr/>
          <a:p/>
        </p:txBody>
      </p:sp>
      <p:sp>
        <p:nvSpPr>
          <p:cNvPr id="7" name="Text 5"/>
          <p:cNvSpPr txBox="1"/>
          <p:nvPr/>
        </p:nvSpPr>
        <p:spPr>
          <a:xfrm>
            <a:off x="1638262" y="150876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M3</a:t>
            </a:r>
            <a:endParaRPr lang="en-US" sz="1300" dirty="0"/>
          </a:p>
        </p:txBody>
      </p:sp>
      <p:sp>
        <p:nvSpPr>
          <p:cNvPr id="8" name="Milestone card M3"/>
          <p:cNvSpPr/>
          <p:nvPr/>
        </p:nvSpPr>
        <p:spPr>
          <a:xfrm>
            <a:off x="548640" y="2194560"/>
            <a:ext cx="2636444" cy="2468880"/>
          </a:xfrm>
          <a:prstGeom prst="roundRect">
            <a:avLst>
              <a:gd name="adj" fmla="val 2963"/>
            </a:avLst>
          </a:prstGeom>
          <a:solidFill>
            <a:schemeClr val="tx2"/>
          </a:solidFill>
          <a:ln/>
        </p:spPr>
        <p:txBody>
          <a:bodyPr/>
          <a:p/>
        </p:txBody>
      </p:sp>
      <p:sp>
        <p:nvSpPr>
          <p:cNvPr id="9" name="Due M3"/>
          <p:cNvSpPr/>
          <p:nvPr/>
        </p:nvSpPr>
        <p:spPr>
          <a:xfrm>
            <a:off x="749808" y="2377440"/>
            <a:ext cx="1005840" cy="274320"/>
          </a:xfrm>
          <a:prstGeom prst="roundRect">
            <a:avLst>
              <a:gd name="adj" fmla="val 50000"/>
            </a:avLst>
          </a:prstGeom>
          <a:solidFill>
            <a:schemeClr val="accent1"/>
          </a:solidFill>
          <a:ln/>
        </p:spPr>
        <p:txBody>
          <a:bodyPr/>
          <a:p/>
        </p:txBody>
      </p:sp>
      <p:sp>
        <p:nvSpPr>
          <p:cNvPr id="10" name="Text 8"/>
          <p:cNvSpPr txBox="1"/>
          <p:nvPr/>
        </p:nvSpPr>
        <p:spPr>
          <a:xfrm>
            <a:off x="749808" y="2377440"/>
            <a:ext cx="1005840" cy="274320"/>
          </a:xfrm>
          <a:prstGeom prst="rect">
            <a:avLst/>
          </a:prstGeom>
          <a:noFill/>
          <a:ln/>
        </p:spPr>
        <p:txBody>
          <a:bodyPr wrap="square" lIns="0" tIns="0" rIns="0" bIns="0" rtlCol="0" anchor="ctr"/>
          <a:lstStyle/>
          <a:p>
            <a:pPr algn="ctr" indent="0" marL="0">
              <a:buNone/>
            </a:pPr>
            <a:r>
              <a:rPr lang="en-US" sz="1100" b="1" dirty="0">
                <a:solidFill>
                  <a:schemeClr val="tx1"/>
                </a:solidFill>
              </a:rPr>
              <a:t>Due 5 Nov</a:t>
            </a:r>
            <a:endParaRPr lang="en-US" sz="1100" dirty="0"/>
          </a:p>
        </p:txBody>
      </p:sp>
      <p:sp>
        <p:nvSpPr>
          <p:cNvPr id="11" name="Text 9"/>
          <p:cNvSpPr txBox="1"/>
          <p:nvPr/>
        </p:nvSpPr>
        <p:spPr>
          <a:xfrm>
            <a:off x="749808" y="2761488"/>
            <a:ext cx="2234108" cy="566928"/>
          </a:xfrm>
          <a:prstGeom prst="rect">
            <a:avLst/>
          </a:prstGeom>
          <a:noFill/>
          <a:ln/>
        </p:spPr>
        <p:txBody>
          <a:bodyPr wrap="square" lIns="0" tIns="0" rIns="0" bIns="0" rtlCol="0" anchor="t"/>
          <a:lstStyle/>
          <a:p>
            <a:pPr indent="0" marL="0">
              <a:buNone/>
            </a:pPr>
            <a:r>
              <a:rPr lang="en-US" sz="1500" b="1" dirty="0">
                <a:solidFill>
                  <a:schemeClr val="bg2"/>
                </a:solidFill>
              </a:rPr>
              <a:t>Model architecture</a:t>
            </a:r>
            <a:endParaRPr lang="en-US" sz="1500" dirty="0"/>
          </a:p>
        </p:txBody>
      </p:sp>
      <p:sp>
        <p:nvSpPr>
          <p:cNvPr id="12" name="Text 10"/>
          <p:cNvSpPr txBox="1"/>
          <p:nvPr/>
        </p:nvSpPr>
        <p:spPr>
          <a:xfrm>
            <a:off x="749808" y="3337560"/>
            <a:ext cx="2234108" cy="1234440"/>
          </a:xfrm>
          <a:prstGeom prst="rect">
            <a:avLst/>
          </a:prstGeom>
          <a:noFill/>
          <a:ln/>
        </p:spPr>
        <p:txBody>
          <a:bodyPr wrap="square" lIns="0" tIns="0" rIns="0" bIns="0" rtlCol="0" anchor="t"/>
          <a:lstStyle/>
          <a:p>
            <a:pPr indent="0" marL="0">
              <a:buNone/>
            </a:pPr>
            <a:r>
              <a:rPr lang="en-US" sz="1150" dirty="0">
                <a:solidFill>
                  <a:schemeClr val="bg2"/>
                </a:solidFill>
              </a:rPr>
              <a:t>Cheap detectors D1 to D6 and candidate recall; model input format, loss and metrics; first runs of the baselines B1 to B3 on the prepared files; zero-shot test of prompt blocks (E2)</a:t>
            </a:r>
            <a:endParaRPr lang="en-US" sz="1150" dirty="0"/>
          </a:p>
        </p:txBody>
      </p:sp>
      <p:sp>
        <p:nvSpPr>
          <p:cNvPr id="13" name="Timeline node M4"/>
          <p:cNvSpPr/>
          <p:nvPr/>
        </p:nvSpPr>
        <p:spPr>
          <a:xfrm>
            <a:off x="4457586" y="1508760"/>
            <a:ext cx="457200" cy="457200"/>
          </a:xfrm>
          <a:prstGeom prst="ellipse">
            <a:avLst/>
          </a:prstGeom>
          <a:solidFill>
            <a:schemeClr val="accent2"/>
          </a:solidFill>
          <a:ln w="38100">
            <a:solidFill>
              <a:schemeClr val="tx1"/>
            </a:solidFill>
            <a:prstDash val="solid"/>
          </a:ln>
        </p:spPr>
        <p:txBody>
          <a:bodyPr/>
          <a:p/>
        </p:txBody>
      </p:sp>
      <p:sp>
        <p:nvSpPr>
          <p:cNvPr id="14" name="Text 12"/>
          <p:cNvSpPr txBox="1"/>
          <p:nvPr/>
        </p:nvSpPr>
        <p:spPr>
          <a:xfrm>
            <a:off x="4457586" y="150876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M4</a:t>
            </a:r>
            <a:endParaRPr lang="en-US" sz="1300" dirty="0"/>
          </a:p>
        </p:txBody>
      </p:sp>
      <p:sp>
        <p:nvSpPr>
          <p:cNvPr id="15" name="Milestone card M4"/>
          <p:cNvSpPr/>
          <p:nvPr/>
        </p:nvSpPr>
        <p:spPr>
          <a:xfrm>
            <a:off x="3367964" y="2194560"/>
            <a:ext cx="2636444" cy="2468880"/>
          </a:xfrm>
          <a:prstGeom prst="roundRect">
            <a:avLst>
              <a:gd name="adj" fmla="val 2963"/>
            </a:avLst>
          </a:prstGeom>
          <a:solidFill>
            <a:schemeClr val="tx2"/>
          </a:solidFill>
          <a:ln/>
        </p:spPr>
        <p:txBody>
          <a:bodyPr/>
          <a:p/>
        </p:txBody>
      </p:sp>
      <p:sp>
        <p:nvSpPr>
          <p:cNvPr id="16" name="Due M4"/>
          <p:cNvSpPr/>
          <p:nvPr/>
        </p:nvSpPr>
        <p:spPr>
          <a:xfrm>
            <a:off x="3569132" y="2377440"/>
            <a:ext cx="1005840" cy="274320"/>
          </a:xfrm>
          <a:prstGeom prst="roundRect">
            <a:avLst>
              <a:gd name="adj" fmla="val 50000"/>
            </a:avLst>
          </a:prstGeom>
          <a:solidFill>
            <a:schemeClr val="accent1"/>
          </a:solidFill>
          <a:ln/>
        </p:spPr>
        <p:txBody>
          <a:bodyPr/>
          <a:p/>
        </p:txBody>
      </p:sp>
      <p:sp>
        <p:nvSpPr>
          <p:cNvPr id="17" name="Text 15"/>
          <p:cNvSpPr txBox="1"/>
          <p:nvPr/>
        </p:nvSpPr>
        <p:spPr>
          <a:xfrm>
            <a:off x="3569132" y="2377440"/>
            <a:ext cx="1005840" cy="274320"/>
          </a:xfrm>
          <a:prstGeom prst="rect">
            <a:avLst/>
          </a:prstGeom>
          <a:noFill/>
          <a:ln/>
        </p:spPr>
        <p:txBody>
          <a:bodyPr wrap="square" lIns="0" tIns="0" rIns="0" bIns="0" rtlCol="0" anchor="ctr"/>
          <a:lstStyle/>
          <a:p>
            <a:pPr algn="ctr" indent="0" marL="0">
              <a:buNone/>
            </a:pPr>
            <a:r>
              <a:rPr lang="en-US" sz="1100" b="1" dirty="0">
                <a:solidFill>
                  <a:schemeClr val="tx1"/>
                </a:solidFill>
              </a:rPr>
              <a:t>Due 19 Nov</a:t>
            </a:r>
            <a:endParaRPr lang="en-US" sz="1100" dirty="0"/>
          </a:p>
        </p:txBody>
      </p:sp>
      <p:sp>
        <p:nvSpPr>
          <p:cNvPr id="18" name="Text 16"/>
          <p:cNvSpPr txBox="1"/>
          <p:nvPr/>
        </p:nvSpPr>
        <p:spPr>
          <a:xfrm>
            <a:off x="3569132" y="2761488"/>
            <a:ext cx="2234108" cy="566928"/>
          </a:xfrm>
          <a:prstGeom prst="rect">
            <a:avLst/>
          </a:prstGeom>
          <a:noFill/>
          <a:ln/>
        </p:spPr>
        <p:txBody>
          <a:bodyPr wrap="square" lIns="0" tIns="0" rIns="0" bIns="0" rtlCol="0" anchor="t"/>
          <a:lstStyle/>
          <a:p>
            <a:pPr indent="0" marL="0">
              <a:buNone/>
            </a:pPr>
            <a:r>
              <a:rPr lang="en-US" sz="1500" b="1" dirty="0">
                <a:solidFill>
                  <a:schemeClr val="bg2"/>
                </a:solidFill>
              </a:rPr>
              <a:t>Model training</a:t>
            </a:r>
            <a:endParaRPr lang="en-US" sz="1500" dirty="0"/>
          </a:p>
        </p:txBody>
      </p:sp>
      <p:sp>
        <p:nvSpPr>
          <p:cNvPr id="19" name="Text 17"/>
          <p:cNvSpPr txBox="1"/>
          <p:nvPr/>
        </p:nvSpPr>
        <p:spPr>
          <a:xfrm>
            <a:off x="3569132" y="3337560"/>
            <a:ext cx="2234108" cy="1234440"/>
          </a:xfrm>
          <a:prstGeom prst="rect">
            <a:avLst/>
          </a:prstGeom>
          <a:noFill/>
          <a:ln/>
        </p:spPr>
        <p:txBody>
          <a:bodyPr wrap="square" lIns="0" tIns="0" rIns="0" bIns="0" rtlCol="0" anchor="t"/>
          <a:lstStyle/>
          <a:p>
            <a:pPr indent="0" marL="0">
              <a:buNone/>
            </a:pPr>
            <a:r>
              <a:rPr lang="en-US" sz="1150" dirty="0">
                <a:solidFill>
                  <a:schemeClr val="bg2"/>
                </a:solidFill>
              </a:rPr>
              <a:t>LoRA fine-tuning runs, component experiments E1 to E3, several seeds</a:t>
            </a:r>
            <a:endParaRPr lang="en-US" sz="1150" dirty="0"/>
          </a:p>
        </p:txBody>
      </p:sp>
      <p:sp>
        <p:nvSpPr>
          <p:cNvPr id="20" name="Timeline node M5"/>
          <p:cNvSpPr/>
          <p:nvPr/>
        </p:nvSpPr>
        <p:spPr>
          <a:xfrm>
            <a:off x="7276909" y="1508760"/>
            <a:ext cx="457200" cy="457200"/>
          </a:xfrm>
          <a:prstGeom prst="ellipse">
            <a:avLst/>
          </a:prstGeom>
          <a:solidFill>
            <a:schemeClr val="accent2"/>
          </a:solidFill>
          <a:ln w="38100">
            <a:solidFill>
              <a:schemeClr val="tx1"/>
            </a:solidFill>
            <a:prstDash val="solid"/>
          </a:ln>
        </p:spPr>
        <p:txBody>
          <a:bodyPr/>
          <a:p/>
        </p:txBody>
      </p:sp>
      <p:sp>
        <p:nvSpPr>
          <p:cNvPr id="21" name="Text 19"/>
          <p:cNvSpPr txBox="1"/>
          <p:nvPr/>
        </p:nvSpPr>
        <p:spPr>
          <a:xfrm>
            <a:off x="7276909" y="150876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M5</a:t>
            </a:r>
            <a:endParaRPr lang="en-US" sz="1300" dirty="0"/>
          </a:p>
        </p:txBody>
      </p:sp>
      <p:sp>
        <p:nvSpPr>
          <p:cNvPr id="22" name="Milestone card M5"/>
          <p:cNvSpPr/>
          <p:nvPr/>
        </p:nvSpPr>
        <p:spPr>
          <a:xfrm>
            <a:off x="6187288" y="2194560"/>
            <a:ext cx="2636444" cy="2468880"/>
          </a:xfrm>
          <a:prstGeom prst="roundRect">
            <a:avLst>
              <a:gd name="adj" fmla="val 2963"/>
            </a:avLst>
          </a:prstGeom>
          <a:solidFill>
            <a:schemeClr val="tx2"/>
          </a:solidFill>
          <a:ln/>
        </p:spPr>
        <p:txBody>
          <a:bodyPr/>
          <a:p/>
        </p:txBody>
      </p:sp>
      <p:sp>
        <p:nvSpPr>
          <p:cNvPr id="23" name="Due M5"/>
          <p:cNvSpPr/>
          <p:nvPr/>
        </p:nvSpPr>
        <p:spPr>
          <a:xfrm>
            <a:off x="6388456" y="2377440"/>
            <a:ext cx="1005840" cy="274320"/>
          </a:xfrm>
          <a:prstGeom prst="roundRect">
            <a:avLst>
              <a:gd name="adj" fmla="val 50000"/>
            </a:avLst>
          </a:prstGeom>
          <a:solidFill>
            <a:schemeClr val="accent1"/>
          </a:solidFill>
          <a:ln/>
        </p:spPr>
        <p:txBody>
          <a:bodyPr/>
          <a:p/>
        </p:txBody>
      </p:sp>
      <p:sp>
        <p:nvSpPr>
          <p:cNvPr id="24" name="Text 22"/>
          <p:cNvSpPr txBox="1"/>
          <p:nvPr/>
        </p:nvSpPr>
        <p:spPr>
          <a:xfrm>
            <a:off x="6388456" y="2377440"/>
            <a:ext cx="1005840" cy="274320"/>
          </a:xfrm>
          <a:prstGeom prst="rect">
            <a:avLst/>
          </a:prstGeom>
          <a:noFill/>
          <a:ln/>
        </p:spPr>
        <p:txBody>
          <a:bodyPr wrap="square" lIns="0" tIns="0" rIns="0" bIns="0" rtlCol="0" anchor="ctr"/>
          <a:lstStyle/>
          <a:p>
            <a:pPr algn="ctr" indent="0" marL="0">
              <a:buNone/>
            </a:pPr>
            <a:r>
              <a:rPr lang="en-US" sz="1100" b="1" dirty="0">
                <a:solidFill>
                  <a:schemeClr val="tx1"/>
                </a:solidFill>
              </a:rPr>
              <a:t>Due 26 Nov</a:t>
            </a:r>
            <a:endParaRPr lang="en-US" sz="1100" dirty="0"/>
          </a:p>
        </p:txBody>
      </p:sp>
      <p:sp>
        <p:nvSpPr>
          <p:cNvPr id="25" name="Text 23"/>
          <p:cNvSpPr txBox="1"/>
          <p:nvPr/>
        </p:nvSpPr>
        <p:spPr>
          <a:xfrm>
            <a:off x="6388456" y="2761488"/>
            <a:ext cx="2234108" cy="566928"/>
          </a:xfrm>
          <a:prstGeom prst="rect">
            <a:avLst/>
          </a:prstGeom>
          <a:noFill/>
          <a:ln/>
        </p:spPr>
        <p:txBody>
          <a:bodyPr wrap="square" lIns="0" tIns="0" rIns="0" bIns="0" rtlCol="0" anchor="t"/>
          <a:lstStyle/>
          <a:p>
            <a:pPr indent="0" marL="0">
              <a:buNone/>
            </a:pPr>
            <a:r>
              <a:rPr lang="en-US" sz="1500" b="1" dirty="0">
                <a:solidFill>
                  <a:schemeClr val="bg2"/>
                </a:solidFill>
              </a:rPr>
              <a:t>Evaluation and analysis</a:t>
            </a:r>
            <a:endParaRPr lang="en-US" sz="1500" dirty="0"/>
          </a:p>
        </p:txBody>
      </p:sp>
      <p:sp>
        <p:nvSpPr>
          <p:cNvPr id="26" name="Text 24"/>
          <p:cNvSpPr txBox="1"/>
          <p:nvPr/>
        </p:nvSpPr>
        <p:spPr>
          <a:xfrm>
            <a:off x="6388456" y="3337560"/>
            <a:ext cx="2234108" cy="1234440"/>
          </a:xfrm>
          <a:prstGeom prst="rect">
            <a:avLst/>
          </a:prstGeom>
          <a:noFill/>
          <a:ln/>
        </p:spPr>
        <p:txBody>
          <a:bodyPr wrap="square" lIns="0" tIns="0" rIns="0" bIns="0" rtlCol="0" anchor="t"/>
          <a:lstStyle/>
          <a:p>
            <a:pPr indent="0" marL="0">
              <a:buNone/>
            </a:pPr>
            <a:r>
              <a:rPr lang="en-US" sz="1150" dirty="0">
                <a:solidFill>
                  <a:schemeClr val="bg2"/>
                </a:solidFill>
              </a:rPr>
              <a:t>Baseline comparison, precision–coverage curve, unseen tables, downstream experiment, error analysis</a:t>
            </a:r>
            <a:endParaRPr lang="en-US" sz="1150" dirty="0"/>
          </a:p>
        </p:txBody>
      </p:sp>
      <p:sp>
        <p:nvSpPr>
          <p:cNvPr id="27" name="Timeline node M6"/>
          <p:cNvSpPr/>
          <p:nvPr/>
        </p:nvSpPr>
        <p:spPr>
          <a:xfrm>
            <a:off x="10096233" y="1508760"/>
            <a:ext cx="457200" cy="457200"/>
          </a:xfrm>
          <a:prstGeom prst="ellipse">
            <a:avLst/>
          </a:prstGeom>
          <a:solidFill>
            <a:schemeClr val="accent2"/>
          </a:solidFill>
          <a:ln w="38100">
            <a:solidFill>
              <a:schemeClr val="tx1"/>
            </a:solidFill>
            <a:prstDash val="solid"/>
          </a:ln>
        </p:spPr>
        <p:txBody>
          <a:bodyPr/>
          <a:p/>
        </p:txBody>
      </p:sp>
      <p:sp>
        <p:nvSpPr>
          <p:cNvPr id="28" name="Text 26"/>
          <p:cNvSpPr txBox="1"/>
          <p:nvPr/>
        </p:nvSpPr>
        <p:spPr>
          <a:xfrm>
            <a:off x="10096233" y="1508760"/>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M6</a:t>
            </a:r>
            <a:endParaRPr lang="en-US" sz="1300" dirty="0"/>
          </a:p>
        </p:txBody>
      </p:sp>
      <p:sp>
        <p:nvSpPr>
          <p:cNvPr id="29" name="Milestone card M6"/>
          <p:cNvSpPr/>
          <p:nvPr/>
        </p:nvSpPr>
        <p:spPr>
          <a:xfrm>
            <a:off x="9006611" y="2194560"/>
            <a:ext cx="2636444" cy="2468880"/>
          </a:xfrm>
          <a:prstGeom prst="roundRect">
            <a:avLst>
              <a:gd name="adj" fmla="val 2963"/>
            </a:avLst>
          </a:prstGeom>
          <a:solidFill>
            <a:schemeClr val="tx2"/>
          </a:solidFill>
          <a:ln/>
        </p:spPr>
        <p:txBody>
          <a:bodyPr/>
          <a:p/>
        </p:txBody>
      </p:sp>
      <p:sp>
        <p:nvSpPr>
          <p:cNvPr id="30" name="Due M6"/>
          <p:cNvSpPr/>
          <p:nvPr/>
        </p:nvSpPr>
        <p:spPr>
          <a:xfrm>
            <a:off x="9207779" y="2377440"/>
            <a:ext cx="1005840" cy="274320"/>
          </a:xfrm>
          <a:prstGeom prst="roundRect">
            <a:avLst>
              <a:gd name="adj" fmla="val 50000"/>
            </a:avLst>
          </a:prstGeom>
          <a:solidFill>
            <a:schemeClr val="accent1"/>
          </a:solidFill>
          <a:ln/>
        </p:spPr>
        <p:txBody>
          <a:bodyPr/>
          <a:p/>
        </p:txBody>
      </p:sp>
      <p:sp>
        <p:nvSpPr>
          <p:cNvPr id="31" name="Text 29"/>
          <p:cNvSpPr txBox="1"/>
          <p:nvPr/>
        </p:nvSpPr>
        <p:spPr>
          <a:xfrm>
            <a:off x="9207779" y="2377440"/>
            <a:ext cx="1005840" cy="274320"/>
          </a:xfrm>
          <a:prstGeom prst="rect">
            <a:avLst/>
          </a:prstGeom>
          <a:noFill/>
          <a:ln/>
        </p:spPr>
        <p:txBody>
          <a:bodyPr wrap="square" lIns="0" tIns="0" rIns="0" bIns="0" rtlCol="0" anchor="ctr"/>
          <a:lstStyle/>
          <a:p>
            <a:pPr algn="ctr" indent="0" marL="0">
              <a:buNone/>
            </a:pPr>
            <a:r>
              <a:rPr lang="en-US" sz="1100" b="1" dirty="0">
                <a:solidFill>
                  <a:schemeClr val="tx1"/>
                </a:solidFill>
              </a:rPr>
              <a:t>Due 10 Dec</a:t>
            </a:r>
            <a:endParaRPr lang="en-US" sz="1100" dirty="0"/>
          </a:p>
        </p:txBody>
      </p:sp>
      <p:sp>
        <p:nvSpPr>
          <p:cNvPr id="32" name="Text 30"/>
          <p:cNvSpPr txBox="1"/>
          <p:nvPr/>
        </p:nvSpPr>
        <p:spPr>
          <a:xfrm>
            <a:off x="9207779" y="2761488"/>
            <a:ext cx="2234108" cy="566928"/>
          </a:xfrm>
          <a:prstGeom prst="rect">
            <a:avLst/>
          </a:prstGeom>
          <a:noFill/>
          <a:ln/>
        </p:spPr>
        <p:txBody>
          <a:bodyPr wrap="square" lIns="0" tIns="0" rIns="0" bIns="0" rtlCol="0" anchor="t"/>
          <a:lstStyle/>
          <a:p>
            <a:pPr indent="0" marL="0">
              <a:buNone/>
            </a:pPr>
            <a:r>
              <a:rPr lang="en-US" sz="1500" b="1" dirty="0">
                <a:solidFill>
                  <a:schemeClr val="bg2"/>
                </a:solidFill>
              </a:rPr>
              <a:t>Deployment and documentation</a:t>
            </a:r>
            <a:endParaRPr lang="en-US" sz="1500" dirty="0"/>
          </a:p>
        </p:txBody>
      </p:sp>
      <p:sp>
        <p:nvSpPr>
          <p:cNvPr id="33" name="Text 31"/>
          <p:cNvSpPr txBox="1"/>
          <p:nvPr/>
        </p:nvSpPr>
        <p:spPr>
          <a:xfrm>
            <a:off x="9207779" y="3337560"/>
            <a:ext cx="2234108" cy="1234440"/>
          </a:xfrm>
          <a:prstGeom prst="rect">
            <a:avLst/>
          </a:prstGeom>
          <a:noFill/>
          <a:ln/>
        </p:spPr>
        <p:txBody>
          <a:bodyPr wrap="square" lIns="0" tIns="0" rIns="0" bIns="0" rtlCol="0" anchor="t"/>
          <a:lstStyle/>
          <a:p>
            <a:pPr indent="0" marL="0">
              <a:buNone/>
            </a:pPr>
            <a:r>
              <a:rPr lang="en-US" sz="1150" dirty="0">
                <a:solidFill>
                  <a:schemeClr val="bg2"/>
                </a:solidFill>
              </a:rPr>
              <a:t>Gradio demo and API, model and data cards, final report</a:t>
            </a:r>
            <a:endParaRPr lang="en-US" sz="1150" dirty="0"/>
          </a:p>
        </p:txBody>
      </p:sp>
      <p:sp>
        <p:nvSpPr>
          <p:cNvPr id="34" name="Risks card"/>
          <p:cNvSpPr/>
          <p:nvPr/>
        </p:nvSpPr>
        <p:spPr>
          <a:xfrm>
            <a:off x="548640" y="4846320"/>
            <a:ext cx="11094415" cy="1234440"/>
          </a:xfrm>
          <a:prstGeom prst="roundRect">
            <a:avLst>
              <a:gd name="adj" fmla="val 5926"/>
            </a:avLst>
          </a:prstGeom>
          <a:solidFill>
            <a:schemeClr val="tx2"/>
          </a:solidFill>
          <a:ln/>
        </p:spPr>
        <p:txBody>
          <a:bodyPr/>
          <a:p/>
        </p:txBody>
      </p:sp>
      <p:sp>
        <p:nvSpPr>
          <p:cNvPr id="35" name="Text 33"/>
          <p:cNvSpPr txBox="1"/>
          <p:nvPr/>
        </p:nvSpPr>
        <p:spPr>
          <a:xfrm>
            <a:off x="822960" y="4956048"/>
            <a:ext cx="3657600" cy="228600"/>
          </a:xfrm>
          <a:prstGeom prst="rect">
            <a:avLst/>
          </a:prstGeom>
          <a:noFill/>
          <a:ln/>
        </p:spPr>
        <p:txBody>
          <a:bodyPr wrap="square" lIns="0" tIns="0" rIns="0" bIns="0" rtlCol="0" anchor="ctr"/>
          <a:lstStyle/>
          <a:p>
            <a:pPr indent="0" marL="0">
              <a:buNone/>
            </a:pPr>
            <a:r>
              <a:rPr lang="en-US" sz="1100" b="1" spc="150" kern="0" dirty="0">
                <a:solidFill>
                  <a:schemeClr val="accent2"/>
                </a:solidFill>
              </a:rPr>
              <a:t>READY FOR HAND-OVER</a:t>
            </a:r>
            <a:endParaRPr lang="en-US" sz="1100" dirty="0"/>
          </a:p>
        </p:txBody>
      </p:sp>
      <p:sp>
        <p:nvSpPr>
          <p:cNvPr id="36" name="Icon badge warning 1"/>
          <p:cNvSpPr/>
          <p:nvPr/>
        </p:nvSpPr>
        <p:spPr>
          <a:xfrm>
            <a:off x="822960" y="5413248"/>
            <a:ext cx="347472" cy="347472"/>
          </a:xfrm>
          <a:prstGeom prst="ellipse">
            <a:avLst/>
          </a:prstGeom>
          <a:solidFill>
            <a:schemeClr val="accent1"/>
          </a:solidFill>
          <a:ln/>
        </p:spPr>
        <p:txBody>
          <a:bodyPr/>
          <a:p/>
        </p:txBody>
      </p:sp>
      <p:pic>
        <p:nvPicPr>
          <p:cNvPr id="37" name="Image 0" descr="warning 1">    </p:cNvPr>
          <p:cNvPicPr>
            <a:picLocks noChangeAspect="1"/>
          </p:cNvPicPr>
          <p:nvPr/>
        </p:nvPicPr>
        <p:blipFill>
          <a:blip r:embed="rId7"/>
          <a:stretch>
            <a:fillRect/>
          </a:stretch>
        </p:blipFill>
        <p:spPr>
          <a:xfrm>
            <a:off x="916777" y="5507065"/>
            <a:ext cx="159837" cy="159837"/>
          </a:xfrm>
          <a:prstGeom prst="rect">
            <a:avLst/>
          </a:prstGeom>
        </p:spPr>
      </p:pic>
      <p:sp>
        <p:nvSpPr>
          <p:cNvPr id="38" name="Text 35"/>
          <p:cNvSpPr txBox="1"/>
          <p:nvPr/>
        </p:nvSpPr>
        <p:spPr>
          <a:xfrm>
            <a:off x="1298448" y="5257800"/>
            <a:ext cx="1996364" cy="685800"/>
          </a:xfrm>
          <a:prstGeom prst="rect">
            <a:avLst/>
          </a:prstGeom>
          <a:noFill/>
          <a:ln/>
        </p:spPr>
        <p:txBody>
          <a:bodyPr wrap="square" lIns="0" tIns="0" rIns="0" bIns="0" rtlCol="0" anchor="ctr"/>
          <a:lstStyle/>
          <a:p>
            <a:pPr indent="0" marL="0">
              <a:buNone/>
            </a:pPr>
            <a:r>
              <a:rPr lang="en-US" sz="1150" dirty="0">
                <a:solidFill>
                  <a:schemeClr val="bg2"/>
                </a:solidFill>
              </a:rPr>
              <a:t>Hand-over check passed on a second machine (Aaradhya, 29 Oct)</a:t>
            </a:r>
            <a:endParaRPr lang="en-US" sz="1150" dirty="0"/>
          </a:p>
        </p:txBody>
      </p:sp>
      <p:sp>
        <p:nvSpPr>
          <p:cNvPr id="39" name="Icon badge warning 2"/>
          <p:cNvSpPr/>
          <p:nvPr/>
        </p:nvSpPr>
        <p:spPr>
          <a:xfrm>
            <a:off x="3459404" y="5413248"/>
            <a:ext cx="347472" cy="347472"/>
          </a:xfrm>
          <a:prstGeom prst="ellipse">
            <a:avLst/>
          </a:prstGeom>
          <a:solidFill>
            <a:schemeClr val="accent1"/>
          </a:solidFill>
          <a:ln/>
        </p:spPr>
        <p:txBody>
          <a:bodyPr/>
          <a:p/>
        </p:txBody>
      </p:sp>
      <p:pic>
        <p:nvPicPr>
          <p:cNvPr id="40" name="Image 1" descr="warning 2">    </p:cNvPr>
          <p:cNvPicPr>
            <a:picLocks noChangeAspect="1"/>
          </p:cNvPicPr>
          <p:nvPr/>
        </p:nvPicPr>
        <p:blipFill>
          <a:blip r:embed="rId7"/>
          <a:stretch>
            <a:fillRect/>
          </a:stretch>
        </p:blipFill>
        <p:spPr>
          <a:xfrm>
            <a:off x="3553221" y="5507065"/>
            <a:ext cx="159837" cy="159837"/>
          </a:xfrm>
          <a:prstGeom prst="rect">
            <a:avLst/>
          </a:prstGeom>
        </p:spPr>
      </p:pic>
      <p:sp>
        <p:nvSpPr>
          <p:cNvPr id="41" name="Text 37"/>
          <p:cNvSpPr txBox="1"/>
          <p:nvPr/>
        </p:nvSpPr>
        <p:spPr>
          <a:xfrm>
            <a:off x="3934892" y="5257800"/>
            <a:ext cx="1996364" cy="685800"/>
          </a:xfrm>
          <a:prstGeom prst="rect">
            <a:avLst/>
          </a:prstGeom>
          <a:noFill/>
          <a:ln/>
        </p:spPr>
        <p:txBody>
          <a:bodyPr wrap="square" lIns="0" tIns="0" rIns="0" bIns="0" rtlCol="0" anchor="ctr"/>
          <a:lstStyle/>
          <a:p>
            <a:pPr indent="0" marL="0">
              <a:buNone/>
            </a:pPr>
            <a:r>
              <a:rPr lang="en-US" sz="1150" dirty="0">
                <a:solidFill>
                  <a:schemeClr val="bg2"/>
                </a:solidFill>
              </a:rPr>
              <a:t>18 of 18 tests and 29 of 29 leakage checks pass</a:t>
            </a:r>
            <a:endParaRPr lang="en-US" sz="1150" dirty="0"/>
          </a:p>
        </p:txBody>
      </p:sp>
      <p:sp>
        <p:nvSpPr>
          <p:cNvPr id="42" name="Icon badge warning 3"/>
          <p:cNvSpPr/>
          <p:nvPr/>
        </p:nvSpPr>
        <p:spPr>
          <a:xfrm>
            <a:off x="6095848" y="5413248"/>
            <a:ext cx="347472" cy="347472"/>
          </a:xfrm>
          <a:prstGeom prst="ellipse">
            <a:avLst/>
          </a:prstGeom>
          <a:solidFill>
            <a:schemeClr val="accent1"/>
          </a:solidFill>
          <a:ln/>
        </p:spPr>
        <p:txBody>
          <a:bodyPr/>
          <a:p/>
        </p:txBody>
      </p:sp>
      <p:pic>
        <p:nvPicPr>
          <p:cNvPr id="43" name="Image 2" descr="warning 3">    </p:cNvPr>
          <p:cNvPicPr>
            <a:picLocks noChangeAspect="1"/>
          </p:cNvPicPr>
          <p:nvPr/>
        </p:nvPicPr>
        <p:blipFill>
          <a:blip r:embed="rId7"/>
          <a:stretch>
            <a:fillRect/>
          </a:stretch>
        </p:blipFill>
        <p:spPr>
          <a:xfrm>
            <a:off x="6189665" y="5507065"/>
            <a:ext cx="159837" cy="159837"/>
          </a:xfrm>
          <a:prstGeom prst="rect">
            <a:avLst/>
          </a:prstGeom>
        </p:spPr>
      </p:pic>
      <p:sp>
        <p:nvSpPr>
          <p:cNvPr id="44" name="Text 39"/>
          <p:cNvSpPr txBox="1"/>
          <p:nvPr/>
        </p:nvSpPr>
        <p:spPr>
          <a:xfrm>
            <a:off x="6571336" y="5257800"/>
            <a:ext cx="1996364" cy="685800"/>
          </a:xfrm>
          <a:prstGeom prst="rect">
            <a:avLst/>
          </a:prstGeom>
          <a:noFill/>
          <a:ln/>
        </p:spPr>
        <p:txBody>
          <a:bodyPr wrap="square" lIns="0" tIns="0" rIns="0" bIns="0" rtlCol="0" anchor="ctr"/>
          <a:lstStyle/>
          <a:p>
            <a:pPr indent="0" marL="0">
              <a:buNone/>
            </a:pPr>
            <a:r>
              <a:rPr lang="en-US" sz="1150" dirty="0">
                <a:solidFill>
                  <a:schemeClr val="bg2"/>
                </a:solidFill>
              </a:rPr>
              <a:t>Longest example 1,009 Gemma tokens, limit 1,500</a:t>
            </a:r>
            <a:endParaRPr lang="en-US" sz="1150" dirty="0"/>
          </a:p>
        </p:txBody>
      </p:sp>
      <p:sp>
        <p:nvSpPr>
          <p:cNvPr id="45" name="Icon badge warning 4"/>
          <p:cNvSpPr/>
          <p:nvPr/>
        </p:nvSpPr>
        <p:spPr>
          <a:xfrm>
            <a:off x="8732291" y="5413248"/>
            <a:ext cx="347472" cy="347472"/>
          </a:xfrm>
          <a:prstGeom prst="ellipse">
            <a:avLst/>
          </a:prstGeom>
          <a:solidFill>
            <a:schemeClr val="accent1"/>
          </a:solidFill>
          <a:ln/>
        </p:spPr>
        <p:txBody>
          <a:bodyPr/>
          <a:p/>
        </p:txBody>
      </p:sp>
      <p:pic>
        <p:nvPicPr>
          <p:cNvPr id="46" name="Image 3" descr="warning 4">    </p:cNvPr>
          <p:cNvPicPr>
            <a:picLocks noChangeAspect="1"/>
          </p:cNvPicPr>
          <p:nvPr/>
        </p:nvPicPr>
        <p:blipFill>
          <a:blip r:embed="rId7"/>
          <a:stretch>
            <a:fillRect/>
          </a:stretch>
        </p:blipFill>
        <p:spPr>
          <a:xfrm>
            <a:off x="8826109" y="5507065"/>
            <a:ext cx="159837" cy="159837"/>
          </a:xfrm>
          <a:prstGeom prst="rect">
            <a:avLst/>
          </a:prstGeom>
        </p:spPr>
      </p:pic>
      <p:sp>
        <p:nvSpPr>
          <p:cNvPr id="47" name="Text 41"/>
          <p:cNvSpPr txBox="1"/>
          <p:nvPr/>
        </p:nvSpPr>
        <p:spPr>
          <a:xfrm>
            <a:off x="9207779" y="5257800"/>
            <a:ext cx="1996364" cy="685800"/>
          </a:xfrm>
          <a:prstGeom prst="rect">
            <a:avLst/>
          </a:prstGeom>
          <a:noFill/>
          <a:ln/>
        </p:spPr>
        <p:txBody>
          <a:bodyPr wrap="square" lIns="0" tIns="0" rIns="0" bIns="0" rtlCol="0" anchor="ctr"/>
          <a:lstStyle/>
          <a:p>
            <a:pPr indent="0" marL="0">
              <a:buNone/>
            </a:pPr>
            <a:r>
              <a:rPr lang="en-US" sz="1150" dirty="0">
                <a:solidFill>
                  <a:schemeClr val="bg2"/>
                </a:solidFill>
              </a:rPr>
              <a:t>A second build gives byte-identical files</a:t>
            </a:r>
            <a:endParaRPr lang="en-US" sz="1150" dirty="0"/>
          </a:p>
        </p:txBody>
      </p:sp>
      <p:sp>
        <p:nvSpPr>
          <p:cNvPr id="25" name="Slide Number Placeholder 0"/>
          <p:cNvSpPr>
            <a:spLocks noGrp="1"/>
          </p:cNvSpPr>
          <p:nvPr>
            <p:ph type="sldNum" sz="quarter" idx="4294967295"/>
          </p:nvPr>
        </p:nvSpPr>
        <p:spPr>
          <a:xfrm>
            <a:off x="10728655" y="6382512"/>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ontextGuard">
  <a:themeElements>
    <a:clrScheme name="ContextGuard">
      <a:dk1>
        <a:srgbClr val="0F1A2B"/>
      </a:dk1>
      <a:lt1>
        <a:srgbClr val="FFFFFF"/>
      </a:lt1>
      <a:dk2>
        <a:srgbClr val="1B2A41"/>
      </a:dk2>
      <a:lt2>
        <a:srgbClr val="F5F2EB"/>
      </a:lt2>
      <a:accent1>
        <a:srgbClr val="5ED4BF"/>
      </a:accent1>
      <a:accent2>
        <a:srgbClr val="F2B14E"/>
      </a:accent2>
      <a:accent3>
        <a:srgbClr val="14695A"/>
      </a:accent3>
      <a:accent4>
        <a:srgbClr val="DCEEEA"/>
      </a:accent4>
      <a:accent5>
        <a:srgbClr val="FBEBD0"/>
      </a:accent5>
      <a:accent6>
        <a:srgbClr val="5F6F85"/>
      </a:accent6>
      <a:hlink>
        <a:srgbClr val="14695A"/>
      </a:hlink>
      <a:folHlink>
        <a:srgbClr val="5F6F85"/>
      </a:folHlink>
    </a:clrScheme>
    <a:fontScheme name="Context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ContextGuard, Milestone 2: dataset preparation</dc:title>
  <dc:subject>PptxGenJS Presentation</dc:subject>
  <dc:creator>Group 1 · DSAI Lab Project, IIT Madras BS</dc:creator>
  <cp:lastModifiedBy>Group 1 · DSAI Lab Project, IIT Madras BS</cp:lastModifiedBy>
  <cp:revision>1</cp:revision>
  <dcterms:created xsi:type="dcterms:W3CDTF">2026-10-29T05:39:49Z</dcterms:created>
  <dcterms:modified xsi:type="dcterms:W3CDTF">2026-10-29T05:39:49Z</dcterms:modified>
</cp:coreProperties>
</file>